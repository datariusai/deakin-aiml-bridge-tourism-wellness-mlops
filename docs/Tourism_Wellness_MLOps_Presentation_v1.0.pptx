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9" r:id="rId5"/>
    <p:sldMasterId id="214748367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y="5143500" cx="9144000"/>
  <p:notesSz cx="6858000" cy="9144000"/>
  <p:embeddedFontLst>
    <p:embeddedFont>
      <p:font typeface="Nunito SemiBold"/>
      <p:regular r:id="rId22"/>
      <p:bold r:id="rId23"/>
      <p:italic r:id="rId24"/>
      <p:boldItalic r:id="rId25"/>
    </p:embeddedFont>
    <p:embeddedFont>
      <p:font typeface="Nunito"/>
      <p:regular r:id="rId26"/>
      <p:bold r:id="rId27"/>
      <p:italic r:id="rId28"/>
      <p:boldItalic r:id="rId29"/>
    </p:embeddedFont>
    <p:embeddedFont>
      <p:font typeface="Nunito ExtraBold"/>
      <p:bold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12A1AB1-4AC2-400F-8BF0-3C675798917D}">
  <a:tblStyle styleId="{312A1AB1-4AC2-400F-8BF0-3C675798917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rgbClr val="5B9BD5">
              <a:alpha val="20000"/>
            </a:srgbClr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5B9BD5">
              <a:alpha val="20000"/>
            </a:srgb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font" Target="fonts/NunitoSemiBold-regular.fntdata"/><Relationship Id="rId23" Type="http://schemas.openxmlformats.org/officeDocument/2006/relationships/font" Target="fonts/NunitoSemiBold-bold.fntdata"/><Relationship Id="rId24" Type="http://schemas.openxmlformats.org/officeDocument/2006/relationships/font" Target="fonts/NunitoSemiBold-italic.fntdata"/><Relationship Id="rId25" Type="http://schemas.openxmlformats.org/officeDocument/2006/relationships/font" Target="fonts/NunitoSemiBold-boldItalic.fntdata"/><Relationship Id="rId26" Type="http://schemas.openxmlformats.org/officeDocument/2006/relationships/font" Target="fonts/Nunito-regular.fntdata"/><Relationship Id="rId27" Type="http://schemas.openxmlformats.org/officeDocument/2006/relationships/font" Target="fonts/Nunito-bold.fntdata"/><Relationship Id="rId28" Type="http://schemas.openxmlformats.org/officeDocument/2006/relationships/font" Target="fonts/Nunito-italic.fntdata"/><Relationship Id="rId29" Type="http://schemas.openxmlformats.org/officeDocument/2006/relationships/font" Target="fonts/Nunito-boldItalic.fntdata"/><Relationship Id="rId30" Type="http://schemas.openxmlformats.org/officeDocument/2006/relationships/font" Target="fonts/NunitoExtraBold-bold.fntdata"/><Relationship Id="rId31" Type="http://schemas.openxmlformats.org/officeDocument/2006/relationships/font" Target="fonts/NunitoExtraBold-boldItalic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latin typeface="Nunito"/>
              </a:rPr>
              <a:t>Purchase rate by segment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0B3FBF"/>
            </a:solidFill>
          </c:spPr>
          <c:dPt>
            <c:idx val="1"/>
            <c:spPr>
              <a:solidFill>
                <a:srgbClr val="1A7F37"/>
              </a:solidFill>
            </c:spPr>
          </c:dPt>
          <c:dPt>
            <c:idx val="3"/>
            <c:spPr>
              <a:solidFill>
                <a:srgbClr val="1A7F37"/>
              </a:solidFill>
            </c:spPr>
          </c:dPt>
          <c:dPt>
            <c:idx val="5"/>
            <c:spPr>
              <a:solidFill>
                <a:srgbClr val="1A7F37"/>
              </a:solidFill>
            </c:spPr>
          </c:dPt>
          <c:dPt>
            <c:idx val="7"/>
            <c:spPr>
              <a:solidFill>
                <a:srgbClr val="1A7F37"/>
              </a:solidFill>
            </c:spPr>
          </c:dPt>
          <c:cat>
            <c:strRef>
              <c:f>Sheet1!$A$2:$A$10</c:f>
              <c:strCache>
                <c:ptCount val="9"/>
                <c:pt idx="0">
                  <c:v>All customers</c:v>
                </c:pt>
                <c:pt idx="1">
                  <c:v>Passport: yes</c:v>
                </c:pt>
                <c:pt idx="2">
                  <c:v>Passport: no</c:v>
                </c:pt>
                <c:pt idx="3">
                  <c:v>Single</c:v>
                </c:pt>
                <c:pt idx="4">
                  <c:v>Married</c:v>
                </c:pt>
                <c:pt idx="5">
                  <c:v>Age ≤25</c:v>
                </c:pt>
                <c:pt idx="6">
                  <c:v>Age 36–45</c:v>
                </c:pt>
                <c:pt idx="7">
                  <c:v>Executive</c:v>
                </c:pt>
                <c:pt idx="8">
                  <c:v>AVP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0.193</c:v>
                </c:pt>
                <c:pt idx="1">
                  <c:v>0.358</c:v>
                </c:pt>
                <c:pt idx="2">
                  <c:v>0.124</c:v>
                </c:pt>
                <c:pt idx="3">
                  <c:v>0.364</c:v>
                </c:pt>
                <c:pt idx="4">
                  <c:v>0.142</c:v>
                </c:pt>
                <c:pt idx="5">
                  <c:v>0.433</c:v>
                </c:pt>
                <c:pt idx="6">
                  <c:v>0.129</c:v>
                </c:pt>
                <c:pt idx="7">
                  <c:v>0.3</c:v>
                </c:pt>
                <c:pt idx="8">
                  <c:v>0.076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900">
                  <a:latin typeface="Nunit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900">
                <a:latin typeface="Nunit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5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latin typeface="Nunito"/>
              </a:rPr>
              <a:t>Top 8 of 24 runs: mean CV F1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0B3FBF"/>
            </a:solidFill>
          </c:spPr>
          <c:dPt>
            <c:idx val="0"/>
            <c:spPr>
              <a:solidFill>
                <a:srgbClr val="1A7F37"/>
              </a:solidFill>
            </c:spPr>
          </c:dPt>
          <c:cat>
            <c:strRef>
              <c:f>Sheet1!$A$2:$A$9</c:f>
              <c:strCache>
                <c:ptCount val="8"/>
                <c:pt idx="0">
                  <c:v>d7 n200 lr0.1 cs0.7</c:v>
                </c:pt>
                <c:pt idx="1">
                  <c:v>d7 n100 lr0.1 cs0.7</c:v>
                </c:pt>
                <c:pt idx="2">
                  <c:v>d7 n200 lr0.05 cs0.7</c:v>
                </c:pt>
                <c:pt idx="3">
                  <c:v>d7 n200 lr0.05 cs1.0</c:v>
                </c:pt>
                <c:pt idx="4">
                  <c:v>d7 n200 lr0.1 cs1.0</c:v>
                </c:pt>
                <c:pt idx="5">
                  <c:v>d7 n100 lr0.1 cs1.0</c:v>
                </c:pt>
                <c:pt idx="6">
                  <c:v>d5 n200 lr0.1 cs0.7</c:v>
                </c:pt>
                <c:pt idx="7">
                  <c:v>d7 n100 lr0.05 cs0.7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0.7809</c:v>
                </c:pt>
                <c:pt idx="1">
                  <c:v>0.7704</c:v>
                </c:pt>
                <c:pt idx="2">
                  <c:v>0.7695</c:v>
                </c:pt>
                <c:pt idx="3">
                  <c:v>0.7631</c:v>
                </c:pt>
                <c:pt idx="4">
                  <c:v>0.7627</c:v>
                </c:pt>
                <c:pt idx="5">
                  <c:v>0.753</c:v>
                </c:pt>
                <c:pt idx="6">
                  <c:v>0.7515</c:v>
                </c:pt>
                <c:pt idx="7">
                  <c:v>0.7425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900">
                  <a:latin typeface="Nunit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900">
                <a:latin typeface="Nunit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9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4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Proprietary content. ©Great Learning. All Rights Reserved. Unauthorized use or distribution prohibited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b="1"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  Description automatically generated" id="19" name="Google Shape;19;p3"/>
          <p:cNvPicPr preferRelativeResize="0"/>
          <p:nvPr/>
        </p:nvPicPr>
        <p:blipFill rotWithShape="1">
          <a:blip r:embed="rId2">
            <a:alphaModFix/>
          </a:blip>
          <a:srcRect b="19152" l="42816" r="37297" t="18359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3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874" y="683275"/>
            <a:ext cx="3757725" cy="82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32" name="Google Shape;32;p6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{312A1AB1-4AC2-400F-8BF0-3C675798917D}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8" name="Google Shape;48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" name="Google Shape;49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1" name="Google Shape;71;p1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8" name="Google Shape;78;p1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2" name="Google Shape;8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2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6" name="Google Shape;86;p2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7" name="Google Shape;87;p2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1" name="Google Shape;9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4" name="Google Shape;94;p2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5" name="Google Shape;9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1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" name="Google Shape;10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6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p1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12" name="Google Shape;12;p1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 txBox="1"/>
          <p:nvPr/>
        </p:nvSpPr>
        <p:spPr>
          <a:xfrm>
            <a:off x="1158150" y="1412050"/>
            <a:ext cx="7589520" cy="58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i="0" lang="en" sz="3000" u="none" cap="none" strike="noStrike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Predicting Wellness Package Buyers</a:t>
            </a:r>
            <a:endParaRPr b="1" i="0" sz="3600" u="none" cap="none" strike="noStrike">
              <a:solidFill>
                <a:srgbClr val="0E39A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3" name="Google Shape;103;p24"/>
          <p:cNvSpPr txBox="1"/>
          <p:nvPr/>
        </p:nvSpPr>
        <p:spPr>
          <a:xfrm>
            <a:off x="1153000" y="2097850"/>
            <a:ext cx="7589520" cy="4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1600" u="none" cap="none" strike="noStrike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MLOps pipeline on GitHub Actions · Advanced Machine Learning and MLOps</a:t>
            </a:r>
            <a:endParaRPr b="0" i="0" sz="3000" u="none" cap="none" strike="noStrike">
              <a:solidFill>
                <a:srgbClr val="0E39A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4" name="Google Shape;104;p24"/>
          <p:cNvSpPr txBox="1"/>
          <p:nvPr/>
        </p:nvSpPr>
        <p:spPr>
          <a:xfrm>
            <a:off x="1153000" y="2555050"/>
            <a:ext cx="7589520" cy="4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300" u="none" cap="none" strike="noStrike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Deakin Applied AI Master Bridge Program · Mohammad Alrashed · 22 October 2026 · v1.0</a:t>
            </a:r>
            <a:endParaRPr b="0" i="0" sz="1600" u="none" cap="none" strike="noStrike">
              <a:solidFill>
                <a:srgbClr val="0E39A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5"/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Contents / Agenda</a:t>
            </a:r>
            <a:endParaRPr b="1" i="0" sz="22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0" name="Google Shape;110;p25"/>
          <p:cNvSpPr txBox="1"/>
          <p:nvPr/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Executive Summary</a:t>
            </a:r>
            <a:endParaRPr b="0" i="0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Data Registration</a:t>
            </a:r>
            <a:endParaRPr b="0" i="0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Data Preparation</a:t>
            </a:r>
            <a:endParaRPr b="0" i="0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Model Building with Experimentation Tracking</a:t>
            </a:r>
            <a:endParaRPr b="0" i="0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Model Deployment</a:t>
            </a:r>
            <a:endParaRPr b="0" i="0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Automated GitHub Actions Workflow</a:t>
            </a:r>
            <a:endParaRPr b="0" i="0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Output Evaluation</a:t>
            </a:r>
            <a:endParaRPr b="0" i="0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600"/>
              <a:buFont typeface="Nunito"/>
              <a:buChar char="●"/>
            </a:pP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Appendix</a:t>
            </a:r>
            <a:endParaRPr b="0" i="0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6"/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Executive Summary </a:t>
            </a:r>
            <a:endParaRPr b="1" i="0" sz="22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6" name="Google Shape;116;p26"/>
          <p:cNvSpPr txBox="1"/>
          <p:nvPr/>
        </p:nvSpPr>
        <p:spPr>
          <a:xfrm>
            <a:off x="202550" y="861975"/>
            <a:ext cx="544068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1200"/>
              <a:buFont typeface="Nunito"/>
              <a:buChar char="●"/>
            </a:pPr>
            <a:r>
              <a:rPr b="1" i="0" lang="en" sz="12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Problem</a:t>
            </a:r>
            <a:r>
              <a:rPr b="0" i="0" lang="en" sz="12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“Visit with Us” picks customers to call by hand. Only 19% of contacted customers bought a package.</a:t>
            </a:r>
            <a:endParaRPr b="0" i="0" sz="12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1200"/>
              <a:buFont typeface="Nunito"/>
              <a:buChar char="●"/>
            </a:pPr>
            <a:r>
              <a:rPr b="1" i="0" lang="en" sz="12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Solution</a:t>
            </a:r>
            <a:r>
              <a:rPr b="0" i="0" lang="en" sz="12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an XGBoost model scores each customer’s chance to buy. GitHub Actions retrains it on every push and commits the new model. A Streamlit app serves it.</a:t>
            </a:r>
            <a:endParaRPr b="0" i="0" sz="12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1200"/>
              <a:buFont typeface="Nunito"/>
              <a:buChar char="●"/>
            </a:pPr>
            <a:r>
              <a:rPr b="1" i="0" lang="en" sz="12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Result</a:t>
            </a:r>
            <a:r>
              <a:rPr b="0" i="0" lang="en" sz="12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on unseen customers the model finds 82% of buyers, and 86% of its “will buy” calls are right (F1 0.84, ROC-AUC 0.96).</a:t>
            </a:r>
            <a:endParaRPr b="0" i="0" sz="12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1200"/>
              <a:buFont typeface="Nunito"/>
              <a:buChar char="●"/>
            </a:pPr>
            <a:r>
              <a:rPr b="1" i="0" lang="en" sz="12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Recommendations</a:t>
            </a:r>
            <a:r>
              <a:rPr b="0" i="0" lang="en" sz="12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</a:t>
            </a:r>
            <a:endParaRPr b="0" i="0" sz="12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1" marL="800100" marR="0" rtl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1200"/>
              <a:buFont typeface="Nunito"/>
              <a:buChar char="–"/>
            </a:pPr>
            <a:r>
              <a:rPr b="0" i="0" lang="en" sz="11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Call the top-scored 20% of leads first. That list holds 86% of all buyers.</a:t>
            </a:r>
            <a:endParaRPr b="0" i="0" sz="12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1" marL="800100" marR="0" rtl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1200"/>
              <a:buFont typeface="Nunito"/>
              <a:buChar char="–"/>
            </a:pPr>
            <a:r>
              <a:rPr b="0" i="0" lang="en" sz="11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Target passport holders, single and younger (≤25) customers, and Executives. They buy 2–3× more than average.</a:t>
            </a:r>
            <a:endParaRPr b="0" i="0" sz="12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1" marL="800100" marR="0" rtl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1200"/>
              <a:buFont typeface="Nunito"/>
              <a:buChar char="–"/>
            </a:pPr>
            <a:r>
              <a:rPr b="0" i="0" lang="en" sz="11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Use the Basic package as the entry offer. Higher tiers convert at 8–16%.</a:t>
            </a:r>
            <a:endParaRPr b="0" i="0" sz="12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1" marL="800100" marR="0" rtl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1200"/>
              <a:buFont typeface="Nunito"/>
              <a:buChar char="–"/>
            </a:pPr>
            <a:r>
              <a:rPr b="0" i="0" lang="en" sz="11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Plan 5–6 follow-ups for warm leads. Buy rate rises from 17% at 3 calls to 40% at 6.</a:t>
            </a:r>
            <a:endParaRPr b="0" i="0" sz="12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7" name="Rounded Rectangle 116"/>
          <p:cNvSpPr/>
          <p:nvPr/>
        </p:nvSpPr>
        <p:spPr>
          <a:xfrm>
            <a:off x="5989320" y="914400"/>
            <a:ext cx="2834640" cy="960120"/>
          </a:xfrm>
          <a:prstGeom prst="roundRect">
            <a:avLst>
              <a:gd name="adj" fmla="val 8000"/>
            </a:avLst>
          </a:prstGeom>
          <a:solidFill>
            <a:srgbClr val="E8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099048" y="987552"/>
            <a:ext cx="2615184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0B3FBF"/>
                </a:solidFill>
                <a:latin typeface="Nunito"/>
              </a:rPr>
              <a:t>0.84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099048" y="1444752"/>
            <a:ext cx="261518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Nunito"/>
              </a:rPr>
              <a:t>Test F1 (buyers)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5989320" y="2011680"/>
            <a:ext cx="2834640" cy="960120"/>
          </a:xfrm>
          <a:prstGeom prst="roundRect">
            <a:avLst>
              <a:gd name="adj" fmla="val 8000"/>
            </a:avLst>
          </a:prstGeom>
          <a:solidFill>
            <a:srgbClr val="E8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099048" y="2084832"/>
            <a:ext cx="2615184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0B3FBF"/>
                </a:solidFill>
                <a:latin typeface="Nunito"/>
              </a:rPr>
              <a:t>0.96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099048" y="2542032"/>
            <a:ext cx="261518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Nunito"/>
              </a:rPr>
              <a:t>Test ROC-AUC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5989320" y="3108960"/>
            <a:ext cx="2834640" cy="960120"/>
          </a:xfrm>
          <a:prstGeom prst="roundRect">
            <a:avLst>
              <a:gd name="adj" fmla="val 8000"/>
            </a:avLst>
          </a:prstGeom>
          <a:solidFill>
            <a:srgbClr val="E8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099048" y="3182112"/>
            <a:ext cx="2615184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0B3FBF"/>
                </a:solidFill>
                <a:latin typeface="Nunito"/>
              </a:rPr>
              <a:t>86%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099048" y="3639312"/>
            <a:ext cx="2615184" cy="38404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Nunito"/>
              </a:rPr>
              <a:t>of buyers in top-20% scored leads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7"/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Data Registration</a:t>
            </a:r>
            <a:endParaRPr b="1" i="0" sz="22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2" name="Google Shape;122;p27"/>
          <p:cNvSpPr txBox="1"/>
          <p:nvPr/>
        </p:nvSpPr>
        <p:spPr>
          <a:xfrm>
            <a:off x="202550" y="861975"/>
            <a:ext cx="484632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1200"/>
              <a:buFont typeface="Nunito"/>
              <a:buChar char="●"/>
            </a:pPr>
            <a:r>
              <a:rPr b="1" i="0" lang="en" sz="12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Master folder</a:t>
            </a:r>
            <a:r>
              <a:rPr b="0" i="0" lang="en" sz="12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tourism_project/ holds everything the pipeline needs.</a:t>
            </a:r>
            <a:endParaRPr b="0" i="0" sz="12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1" marL="800100" marR="0" rtl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1200"/>
              <a:buFont typeface="Nunito"/>
              <a:buChar char="–"/>
            </a:pPr>
            <a:r>
              <a:rPr b="0" i="0" lang="en" sz="11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data/ keeps tourism.csv under version control.</a:t>
            </a:r>
            <a:endParaRPr b="0" i="0" sz="12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1" marL="800100" marR="0" rtl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1200"/>
              <a:buFont typeface="Nunito"/>
              <a:buChar char="–"/>
            </a:pPr>
            <a:r>
              <a:rPr b="0" i="0" lang="en" sz="11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model_building/ holds data_register.py, prep.py and train.py.</a:t>
            </a:r>
            <a:endParaRPr b="0" i="0" sz="12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1" marL="800100" marR="0" rtl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1200"/>
              <a:buFont typeface="Nunito"/>
              <a:buChar char="–"/>
            </a:pPr>
            <a:r>
              <a:rPr b="0" i="0" lang="en" sz="11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deployment/ holds app.py, its requirements and the model the pipeline commits.</a:t>
            </a:r>
            <a:endParaRPr b="0" i="0" sz="12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1200"/>
              <a:buFont typeface="Nunito"/>
              <a:buChar char="●"/>
            </a:pPr>
            <a:r>
              <a:rPr b="1" i="0" lang="en" sz="12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Registration</a:t>
            </a:r>
            <a:r>
              <a:rPr b="0" i="0" lang="en" sz="12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the dataset lives inside the private GitHub repo. No external data store is needed.</a:t>
            </a:r>
            <a:endParaRPr b="0" i="0" sz="12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1200"/>
              <a:buFont typeface="Nunito"/>
              <a:buChar char="●"/>
            </a:pPr>
            <a:r>
              <a:rPr b="1" i="0" lang="en" sz="12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data_register.py</a:t>
            </a:r>
            <a:r>
              <a:rPr b="0" i="0" lang="en" sz="12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checks the file exists, checks all 20 expected columns and a binary target, then logs a SHA-256 hash, the shape and the class counts.</a:t>
            </a:r>
            <a:endParaRPr b="0" i="0" sz="12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1200"/>
              <a:buFont typeface="Nunito"/>
              <a:buChar char="●"/>
            </a:pPr>
            <a:r>
              <a:rPr b="1" i="0" lang="en" sz="12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In GitHub Actions</a:t>
            </a:r>
            <a:r>
              <a:rPr b="0" i="0" lang="en" sz="12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the register-dataset job runs the script and uploads tourism.csv as the registered-data artifact.</a:t>
            </a:r>
            <a:endParaRPr b="0" i="0" sz="12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3" name="Rounded Rectangle 122"/>
          <p:cNvSpPr/>
          <p:nvPr/>
        </p:nvSpPr>
        <p:spPr>
          <a:xfrm>
            <a:off x="5257800" y="914400"/>
            <a:ext cx="3611880" cy="32461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5349240" y="960120"/>
            <a:ext cx="3474720" cy="3154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Courier New"/>
              </a:rPr>
              <a:t>Deakin-AIML-Bridge-Tourism-</a:t>
            </a:r>
          </a:p>
          <a:p>
            <a:pPr algn="l"/>
            <a:r>
              <a:rPr sz="900" b="0">
                <a:solidFill>
                  <a:srgbClr val="000000"/>
                </a:solidFill>
                <a:latin typeface="Courier New"/>
              </a:rPr>
              <a:t>  Wellness-MLOps/ (private)</a:t>
            </a:r>
          </a:p>
          <a:p>
            <a:pPr algn="l"/>
            <a:r>
              <a:rPr sz="900" b="0">
                <a:solidFill>
                  <a:srgbClr val="000000"/>
                </a:solidFill>
                <a:latin typeface="Courier New"/>
              </a:rPr>
              <a:t>├─ .github/workflows/</a:t>
            </a:r>
          </a:p>
          <a:p>
            <a:pPr algn="l"/>
            <a:r>
              <a:rPr sz="900" b="0">
                <a:solidFill>
                  <a:srgbClr val="000000"/>
                </a:solidFill>
                <a:latin typeface="Courier New"/>
              </a:rPr>
              <a:t>│   └─ pipeline.yml</a:t>
            </a:r>
          </a:p>
          <a:p>
            <a:pPr algn="l"/>
            <a:r>
              <a:rPr sz="900" b="0">
                <a:solidFill>
                  <a:srgbClr val="000000"/>
                </a:solidFill>
                <a:latin typeface="Courier New"/>
              </a:rPr>
              <a:t>└─ tourism_project/</a:t>
            </a:r>
          </a:p>
          <a:p>
            <a:pPr algn="l"/>
            <a:r>
              <a:rPr sz="900" b="0">
                <a:solidFill>
                  <a:srgbClr val="000000"/>
                </a:solidFill>
                <a:latin typeface="Courier New"/>
              </a:rPr>
              <a:t>   ├─ requirements.txt</a:t>
            </a:r>
          </a:p>
          <a:p>
            <a:pPr algn="l"/>
            <a:r>
              <a:rPr sz="900" b="0">
                <a:solidFill>
                  <a:srgbClr val="000000"/>
                </a:solidFill>
                <a:latin typeface="Courier New"/>
              </a:rPr>
              <a:t>   ├─ data/</a:t>
            </a:r>
          </a:p>
          <a:p>
            <a:pPr algn="l"/>
            <a:r>
              <a:rPr sz="900" b="0">
                <a:solidFill>
                  <a:srgbClr val="000000"/>
                </a:solidFill>
                <a:latin typeface="Courier New"/>
              </a:rPr>
              <a:t>   │   └─ tourism.csv</a:t>
            </a:r>
          </a:p>
          <a:p>
            <a:pPr algn="l"/>
            <a:r>
              <a:rPr sz="900" b="0">
                <a:solidFill>
                  <a:srgbClr val="000000"/>
                </a:solidFill>
                <a:latin typeface="Courier New"/>
              </a:rPr>
              <a:t>   ├─ model_building/</a:t>
            </a:r>
          </a:p>
          <a:p>
            <a:pPr algn="l"/>
            <a:r>
              <a:rPr sz="900" b="0">
                <a:solidFill>
                  <a:srgbClr val="000000"/>
                </a:solidFill>
                <a:latin typeface="Courier New"/>
              </a:rPr>
              <a:t>   │   ├─ data_register.py</a:t>
            </a:r>
          </a:p>
          <a:p>
            <a:pPr algn="l"/>
            <a:r>
              <a:rPr sz="900" b="0">
                <a:solidFill>
                  <a:srgbClr val="000000"/>
                </a:solidFill>
                <a:latin typeface="Courier New"/>
              </a:rPr>
              <a:t>   │   ├─ prep.py</a:t>
            </a:r>
          </a:p>
          <a:p>
            <a:pPr algn="l"/>
            <a:r>
              <a:rPr sz="900" b="0">
                <a:solidFill>
                  <a:srgbClr val="000000"/>
                </a:solidFill>
                <a:latin typeface="Courier New"/>
              </a:rPr>
              <a:t>   │   └─ train.py</a:t>
            </a:r>
          </a:p>
          <a:p>
            <a:pPr algn="l"/>
            <a:r>
              <a:rPr sz="900" b="0">
                <a:solidFill>
                  <a:srgbClr val="000000"/>
                </a:solidFill>
                <a:latin typeface="Courier New"/>
              </a:rPr>
              <a:t>   └─ deployment/</a:t>
            </a:r>
          </a:p>
          <a:p>
            <a:pPr algn="l"/>
            <a:r>
              <a:rPr sz="900" b="0">
                <a:solidFill>
                  <a:srgbClr val="000000"/>
                </a:solidFill>
                <a:latin typeface="Courier New"/>
              </a:rPr>
              <a:t>       ├─ app.py</a:t>
            </a:r>
          </a:p>
          <a:p>
            <a:pPr algn="l"/>
            <a:r>
              <a:rPr sz="900" b="0">
                <a:solidFill>
                  <a:srgbClr val="000000"/>
                </a:solidFill>
                <a:latin typeface="Courier New"/>
              </a:rPr>
              <a:t>       ├─ requirements.txt</a:t>
            </a:r>
          </a:p>
          <a:p>
            <a:pPr algn="l"/>
            <a:r>
              <a:rPr sz="900" b="0">
                <a:solidFill>
                  <a:srgbClr val="000000"/>
                </a:solidFill>
                <a:latin typeface="Courier New"/>
              </a:rPr>
              <a:t>       └─ best_tourism_model_v1.joblib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8"/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Data Preparation</a:t>
            </a:r>
            <a:endParaRPr b="1" i="0" sz="22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8" name="Google Shape;128;p28"/>
          <p:cNvSpPr txBox="1"/>
          <p:nvPr/>
        </p:nvSpPr>
        <p:spPr>
          <a:xfrm>
            <a:off x="202550" y="861975"/>
            <a:ext cx="493776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1200"/>
              <a:buFont typeface="Nunito"/>
              <a:buChar char="●"/>
            </a:pPr>
            <a:r>
              <a:rPr b="1" i="0" lang="en" sz="12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Load</a:t>
            </a:r>
            <a:r>
              <a:rPr b="0" i="0" lang="en" sz="12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prep.py reads tourism_project/data/tourism.csv from the checked-out repo.</a:t>
            </a:r>
            <a:endParaRPr b="0" i="0" sz="12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1200"/>
              <a:buFont typeface="Nunito"/>
              <a:buChar char="●"/>
            </a:pPr>
            <a:r>
              <a:rPr b="1" i="0" lang="en" sz="12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Remove columns</a:t>
            </a:r>
            <a:r>
              <a:rPr b="0" i="0" lang="en" sz="12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“Unnamed: 0” (a saved index) and CustomerID (a unique key) carry no signal.</a:t>
            </a:r>
            <a:endParaRPr b="0" i="0" sz="12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1200"/>
              <a:buFont typeface="Nunito"/>
              <a:buChar char="●"/>
            </a:pPr>
            <a:r>
              <a:rPr b="1" i="0" lang="en" sz="12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Clean</a:t>
            </a:r>
            <a:r>
              <a:rPr b="0" i="0" lang="en" sz="12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merge the Gender typo “Fe Male” into Female. Drop 117 exact duplicate rows so no record sits in both train and test. Impute missing values (none in this release).</a:t>
            </a:r>
            <a:endParaRPr b="0" i="0" sz="12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1200"/>
              <a:buFont typeface="Nunito"/>
              <a:buChar char="●"/>
            </a:pPr>
            <a:r>
              <a:rPr b="1" i="0" lang="en" sz="12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Split</a:t>
            </a:r>
            <a:r>
              <a:rPr b="0" i="0" lang="en" sz="12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80/20, stratified on ProdTaken, random_state = 42. Both sets keep the 19.3% buyer rate.</a:t>
            </a:r>
            <a:endParaRPr b="0" i="0" sz="12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Pts val="1200"/>
              <a:buFont typeface="Nunito"/>
              <a:buChar char="●"/>
            </a:pPr>
            <a:r>
              <a:rPr b="1" i="0" lang="en" sz="12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Hand-off</a:t>
            </a:r>
            <a:r>
              <a:rPr b="0" i="0" lang="en" sz="12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Xtrain, Xtest, ytrain and ytest CSVs are uploaded as the data-splits artifact for the training job. This replaces the Hugging Face upload in the original brief.</a:t>
            </a:r>
            <a:endParaRPr b="0" i="0" sz="12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9" name="Google Shape;129;p28"/>
          <p:cNvSpPr txBox="1"/>
          <p:nvPr/>
        </p:nvSpPr>
        <p:spPr>
          <a:xfrm>
            <a:off x="4077350" y="4568775"/>
            <a:ext cx="501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" sz="1200" u="sng" cap="none" strike="noStrike">
                <a:solidFill>
                  <a:srgbClr val="0097A7"/>
                </a:solidFill>
                <a:latin typeface="Nunito"/>
                <a:ea typeface="Nunito"/>
                <a:cs typeface="Nunito"/>
                <a:sym typeface="Nunito"/>
              </a:rPr>
              <a:t>Link to Appendix slide on data background check</a:t>
            </a:r>
            <a:endParaRPr b="0" i="1" sz="1200" u="none" cap="none" strike="noStrike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aphicFrame>
        <p:nvGraphicFramePr>
          <p:cNvPr id="130" name="Table 129"/>
          <p:cNvGraphicFramePr>
            <a:graphicFrameLocks noGrp="1"/>
          </p:cNvGraphicFramePr>
          <p:nvPr/>
        </p:nvGraphicFramePr>
        <p:xfrm>
          <a:off x="5394960" y="1005840"/>
          <a:ext cx="3474720" cy="17556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54480"/>
                <a:gridCol w="731520"/>
                <a:gridCol w="1188720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Nunito"/>
                        </a:rPr>
                        <a:t>Stage</a:t>
                      </a:r>
                    </a:p>
                  </a:txBody>
                  <a:tcPr marL="54864" marR="54864" marT="18288" marB="18288" anchor="ctr">
                    <a:solidFill>
                      <a:srgbClr val="0B3FB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Nunito"/>
                        </a:rPr>
                        <a:t>Rows</a:t>
                      </a:r>
                    </a:p>
                  </a:txBody>
                  <a:tcPr marL="54864" marR="54864" marT="18288" marB="18288" anchor="ctr">
                    <a:solidFill>
                      <a:srgbClr val="0B3FB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Nunito"/>
                        </a:rPr>
                        <a:t>Columns</a:t>
                      </a:r>
                    </a:p>
                  </a:txBody>
                  <a:tcPr marL="54864" marR="54864" marT="18288" marB="18288" anchor="ctr">
                    <a:solidFill>
                      <a:srgbClr val="0B3FB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Nunito"/>
                        </a:rPr>
                        <a:t>Raw dataset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Nunito"/>
                        </a:rPr>
                        <a:t>4,128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Nunito"/>
                        </a:rPr>
                        <a:t>21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Nunito"/>
                        </a:rPr>
                        <a:t>After column drop</a:t>
                      </a:r>
                    </a:p>
                  </a:txBody>
                  <a:tcPr marL="54864" marR="54864" marT="18288" marB="18288" anchor="ctr">
                    <a:solidFill>
                      <a:srgbClr val="E8EE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Nunito"/>
                        </a:rPr>
                        <a:t>4,128</a:t>
                      </a:r>
                    </a:p>
                  </a:txBody>
                  <a:tcPr marL="54864" marR="54864" marT="18288" marB="18288" anchor="ctr">
                    <a:solidFill>
                      <a:srgbClr val="E8EE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Nunito"/>
                        </a:rPr>
                        <a:t>19</a:t>
                      </a:r>
                    </a:p>
                  </a:txBody>
                  <a:tcPr marL="54864" marR="54864" marT="18288" marB="18288" anchor="ctr">
                    <a:solidFill>
                      <a:srgbClr val="E8EE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Nunito"/>
                        </a:rPr>
                        <a:t>After de-duplication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Nunito"/>
                        </a:rPr>
                        <a:t>4,011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Nunito"/>
                        </a:rPr>
                        <a:t>19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Nunito"/>
                        </a:rPr>
                        <a:t>Train (80%)</a:t>
                      </a:r>
                    </a:p>
                  </a:txBody>
                  <a:tcPr marL="54864" marR="54864" marT="18288" marB="18288" anchor="ctr">
                    <a:solidFill>
                      <a:srgbClr val="E8EE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Nunito"/>
                        </a:rPr>
                        <a:t>3,208</a:t>
                      </a:r>
                    </a:p>
                  </a:txBody>
                  <a:tcPr marL="54864" marR="54864" marT="18288" marB="18288" anchor="ctr">
                    <a:solidFill>
                      <a:srgbClr val="E8EE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Nunito"/>
                        </a:rPr>
                        <a:t>18 + target</a:t>
                      </a:r>
                    </a:p>
                  </a:txBody>
                  <a:tcPr marL="54864" marR="54864" marT="18288" marB="18288" anchor="ctr">
                    <a:solidFill>
                      <a:srgbClr val="E8EEFB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Nunito"/>
                        </a:rPr>
                        <a:t>Test (20%)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Nunito"/>
                        </a:rPr>
                        <a:t>803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Nunito"/>
                        </a:rPr>
                        <a:t>18 + target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1" name="TextBox 130"/>
          <p:cNvSpPr txBox="1"/>
          <p:nvPr/>
        </p:nvSpPr>
        <p:spPr>
          <a:xfrm>
            <a:off x="5394960" y="2880360"/>
            <a:ext cx="347472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Nunito"/>
              </a:rPr>
              <a:t>Buyer rate: 19.3% in both train and test.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Nunito"/>
              </a:rPr>
              <a:t>Features: 12 numeric, 6 categorical.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9"/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Model Building with Experimentation Tracking</a:t>
            </a:r>
            <a:endParaRPr b="1" i="0" sz="22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5" name="Google Shape;135;p29"/>
          <p:cNvSpPr txBox="1"/>
          <p:nvPr/>
        </p:nvSpPr>
        <p:spPr>
          <a:xfrm>
            <a:off x="202550" y="861975"/>
            <a:ext cx="484632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Nunito"/>
              <a:buChar char="●"/>
            </a:pPr>
            <a:r>
              <a:rPr lang="en" sz="1100" b="1">
                <a:solidFill>
                  <a:schemeClr val="dk1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Inputs</a:t>
            </a:r>
            <a:r>
              <a:rPr lang="en" sz="1100">
                <a:solidFill>
                  <a:schemeClr val="dk1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: the data-splits artifact from the data-prep job.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Nunito"/>
              <a:buChar char="●"/>
            </a:pPr>
            <a:r>
              <a:rPr lang="en" sz="1100" b="1">
                <a:solidFill>
                  <a:schemeClr val="dk1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Pipeline</a:t>
            </a:r>
            <a:r>
              <a:rPr lang="en" sz="1100">
                <a:solidFill>
                  <a:schemeClr val="dk1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: StandardScaler on numeric and OneHotEncoder on categorical columns, then XGBClassifier with scale_pos_weight ≈ 4.18 for the 19% buyer class.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Nunito"/>
              <a:buChar char="●"/>
            </a:pPr>
            <a:r>
              <a:rPr lang="en" sz="1100" b="1">
                <a:solidFill>
                  <a:schemeClr val="dk1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Tuning</a:t>
            </a:r>
            <a:r>
              <a:rPr lang="en" sz="1100">
                <a:solidFill>
                  <a:schemeClr val="dk1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: GridSearchCV over 24 combinations (n_estimators, max_depth, learning_rate, colsample_bytree), stratified 5-fold CV, F1 scoring.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Nunito"/>
              <a:buChar char="●"/>
            </a:pPr>
            <a:r>
              <a:rPr lang="en" sz="1100" b="1">
                <a:solidFill>
                  <a:schemeClr val="dk1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Tracking</a:t>
            </a:r>
            <a:r>
              <a:rPr lang="en" sz="1100">
                <a:solidFill>
                  <a:schemeClr val="dk1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: every combination is logged to MLflow as a nested run (params, mean and std CV F1). The parent run logs best params and test metrics.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Nunito"/>
              <a:buChar char="●"/>
            </a:pPr>
            <a:r>
              <a:rPr lang="en" sz="1100" b="1">
                <a:solidFill>
                  <a:schemeClr val="dk1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Best</a:t>
            </a:r>
            <a:r>
              <a:rPr lang="en" sz="1100">
                <a:solidFill>
                  <a:schemeClr val="dk1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: max_depth 7, 200 trees, learning_rate 0.1, colsample 0.7. CV F1 0.781.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Nunito"/>
              <a:buChar char="●"/>
            </a:pPr>
            <a:r>
              <a:rPr lang="en" sz="1100" b="1">
                <a:solidFill>
                  <a:schemeClr val="dk1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Commit</a:t>
            </a:r>
            <a:r>
              <a:rPr lang="en" sz="1100">
                <a:solidFill>
                  <a:schemeClr val="dk1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: best_tourism_model_v1.joblib, model_metadata.json and tuning_results.csv are pushed back to deployment/.</a:t>
            </a:r>
            <a:endParaRPr sz="1100">
              <a:solidFill>
                <a:schemeClr val="dk1"/>
              </a:solidFill>
              <a:highlight>
                <a:schemeClr val="lt1"/>
              </a:highlight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6" name="Google Shape;136;p29"/>
          <p:cNvSpPr txBox="1"/>
          <p:nvPr/>
        </p:nvSpPr>
        <p:spPr>
          <a:xfrm>
            <a:off x="4077350" y="4568775"/>
            <a:ext cx="501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" sz="1200" u="sng" cap="none" strike="noStrike">
                <a:solidFill>
                  <a:srgbClr val="0097A7"/>
                </a:solidFill>
                <a:latin typeface="Nunito"/>
                <a:ea typeface="Nunito"/>
                <a:cs typeface="Nunito"/>
                <a:sym typeface="Nunito"/>
              </a:rPr>
              <a:t>Link to Appendix slide on data background check</a:t>
            </a:r>
            <a:endParaRPr b="0" i="1" sz="1200" u="none" cap="none" strike="noStrike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5257800" y="914400"/>
          <a:ext cx="3611880" cy="14813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7320"/>
                <a:gridCol w="1097280"/>
                <a:gridCol w="1097280"/>
              </a:tblGrid>
              <a:tr h="24688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Nunito"/>
                        </a:rPr>
                        <a:t>Metric</a:t>
                      </a:r>
                    </a:p>
                  </a:txBody>
                  <a:tcPr marL="54864" marR="54864" marT="18288" marB="18288" anchor="ctr">
                    <a:solidFill>
                      <a:srgbClr val="0B3FB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Nunito"/>
                        </a:rPr>
                        <a:t>Train</a:t>
                      </a:r>
                    </a:p>
                  </a:txBody>
                  <a:tcPr marL="54864" marR="54864" marT="18288" marB="18288" anchor="ctr">
                    <a:solidFill>
                      <a:srgbClr val="0B3FB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Nunito"/>
                        </a:rPr>
                        <a:t>Test</a:t>
                      </a:r>
                    </a:p>
                  </a:txBody>
                  <a:tcPr marL="54864" marR="54864" marT="18288" marB="18288" anchor="ctr">
                    <a:solidFill>
                      <a:srgbClr val="0B3FB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Nunito"/>
                        </a:rPr>
                        <a:t>Accuracy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Nunito"/>
                        </a:rPr>
                        <a:t>1.000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Nunito"/>
                        </a:rPr>
                        <a:t>0.940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Nunito"/>
                        </a:rPr>
                        <a:t>Precision</a:t>
                      </a:r>
                    </a:p>
                  </a:txBody>
                  <a:tcPr marL="54864" marR="54864" marT="18288" marB="18288" anchor="ctr">
                    <a:solidFill>
                      <a:srgbClr val="E8EE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Nunito"/>
                        </a:rPr>
                        <a:t>1.000</a:t>
                      </a:r>
                    </a:p>
                  </a:txBody>
                  <a:tcPr marL="54864" marR="54864" marT="18288" marB="18288" anchor="ctr">
                    <a:solidFill>
                      <a:srgbClr val="E8EE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Nunito"/>
                        </a:rPr>
                        <a:t>0.864</a:t>
                      </a:r>
                    </a:p>
                  </a:txBody>
                  <a:tcPr marL="54864" marR="54864" marT="18288" marB="18288" anchor="ctr">
                    <a:solidFill>
                      <a:srgbClr val="E8EEFB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Nunito"/>
                        </a:rPr>
                        <a:t>Recall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Nunito"/>
                        </a:rPr>
                        <a:t>1.000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Nunito"/>
                        </a:rPr>
                        <a:t>0.819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Nunito"/>
                        </a:rPr>
                        <a:t>F1</a:t>
                      </a:r>
                    </a:p>
                  </a:txBody>
                  <a:tcPr marL="54864" marR="54864" marT="18288" marB="18288" anchor="ctr">
                    <a:solidFill>
                      <a:srgbClr val="E8EE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Nunito"/>
                        </a:rPr>
                        <a:t>1.000</a:t>
                      </a:r>
                    </a:p>
                  </a:txBody>
                  <a:tcPr marL="54864" marR="54864" marT="18288" marB="18288" anchor="ctr">
                    <a:solidFill>
                      <a:srgbClr val="E8EE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Nunito"/>
                        </a:rPr>
                        <a:t>0.841</a:t>
                      </a:r>
                    </a:p>
                  </a:txBody>
                  <a:tcPr marL="54864" marR="54864" marT="18288" marB="18288" anchor="ctr">
                    <a:solidFill>
                      <a:srgbClr val="E8EEFB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Nunito"/>
                        </a:rPr>
                        <a:t>ROC-AUC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Nunito"/>
                        </a:rPr>
                        <a:t>1.000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Nunito"/>
                        </a:rPr>
                        <a:t>0.961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5257800" y="2514600"/>
            <a:ext cx="361188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Nunito"/>
              </a:rPr>
              <a:t>Test confusion matrix (803 customers)</a:t>
            </a:r>
          </a:p>
        </p:txBody>
      </p:sp>
      <p:graphicFrame>
        <p:nvGraphicFramePr>
          <p:cNvPr id="139" name="Table 138"/>
          <p:cNvGraphicFramePr>
            <a:graphicFrameLocks noGrp="1"/>
          </p:cNvGraphicFramePr>
          <p:nvPr/>
        </p:nvGraphicFramePr>
        <p:xfrm>
          <a:off x="5257800" y="2788920"/>
          <a:ext cx="3611880" cy="7406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7320"/>
                <a:gridCol w="1097280"/>
                <a:gridCol w="1097280"/>
              </a:tblGrid>
              <a:tr h="24688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Nunito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0B3FB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Nunito"/>
                        </a:rPr>
                        <a:t>Pred. no</a:t>
                      </a:r>
                    </a:p>
                  </a:txBody>
                  <a:tcPr marL="54864" marR="54864" marT="18288" marB="18288" anchor="ctr">
                    <a:solidFill>
                      <a:srgbClr val="0B3FB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Nunito"/>
                        </a:rPr>
                        <a:t>Pred. buy</a:t>
                      </a:r>
                    </a:p>
                  </a:txBody>
                  <a:tcPr marL="54864" marR="54864" marT="18288" marB="18288" anchor="ctr">
                    <a:solidFill>
                      <a:srgbClr val="0B3FB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Nunito"/>
                        </a:rPr>
                        <a:t>Actual no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Nunito"/>
                        </a:rPr>
                        <a:t>628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Nunito"/>
                        </a:rPr>
                        <a:t>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Nunito"/>
                        </a:rPr>
                        <a:t>Actual buy</a:t>
                      </a:r>
                    </a:p>
                  </a:txBody>
                  <a:tcPr marL="54864" marR="54864" marT="18288" marB="18288" anchor="ctr">
                    <a:solidFill>
                      <a:srgbClr val="E8EE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Nunito"/>
                        </a:rPr>
                        <a:t>28</a:t>
                      </a:r>
                    </a:p>
                  </a:txBody>
                  <a:tcPr marL="54864" marR="54864" marT="18288" marB="18288" anchor="ctr">
                    <a:solidFill>
                      <a:srgbClr val="E8EE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  <a:latin typeface="Nunito"/>
                        </a:rPr>
                        <a:t>127</a:t>
                      </a:r>
                    </a:p>
                  </a:txBody>
                  <a:tcPr marL="54864" marR="54864" marT="18288" marB="18288" anchor="ctr">
                    <a:solidFill>
                      <a:srgbClr val="E8EEFB"/>
                    </a:solidFill>
                  </a:tcPr>
                </a:tc>
              </a:tr>
            </a:tbl>
          </a:graphicData>
        </a:graphic>
      </p:graphicFrame>
      <p:sp>
        <p:nvSpPr>
          <p:cNvPr id="140" name="TextBox 139"/>
          <p:cNvSpPr txBox="1"/>
          <p:nvPr/>
        </p:nvSpPr>
        <p:spPr>
          <a:xfrm>
            <a:off x="5257800" y="3611880"/>
            <a:ext cx="361188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Nunito"/>
              </a:rPr>
              <a:t>Train scores of 1.0 show overfitting. Test scores stay strong, so v1 ships, with regularisation queued for v2.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0"/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Model Deployment</a:t>
            </a:r>
            <a:endParaRPr b="1" i="0" sz="2200" u="none" cap="none" strike="noStrike">
              <a:solidFill>
                <a:schemeClr val="dk1"/>
              </a:solidFill>
              <a:highlight>
                <a:schemeClr val="lt1"/>
              </a:highlight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2" name="Google Shape;142;p30"/>
          <p:cNvSpPr txBox="1"/>
          <p:nvPr/>
        </p:nvSpPr>
        <p:spPr>
          <a:xfrm>
            <a:off x="202550" y="861975"/>
            <a:ext cx="534924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Nunito"/>
              <a:buChar char="●"/>
            </a:pPr>
            <a:r>
              <a:rPr lang="en" sz="11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app.py</a:t>
            </a:r>
            <a: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loads best_tourism_model_v1.joblib and model_metadata.json from its own folder, so the path works on Streamlit Cloud.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Nunito"/>
              <a:buChar char="●"/>
            </a:pPr>
            <a:r>
              <a:rPr lang="en" sz="11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Inputs</a:t>
            </a:r>
            <a: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18 form fields are collected into a one-row DataFrame with the training column names. The pipeline does its own scaling and encoding.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Nunito"/>
              <a:buChar char="●"/>
            </a:pPr>
            <a:r>
              <a:rPr lang="en" sz="11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Output</a:t>
            </a:r>
            <a: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purchase probability, a buy / don’t-buy flag at threshold 0.5, and a model card in the sidebar (version, date, test metrics).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Nunito"/>
              <a:buChar char="●"/>
            </a:pPr>
            <a:r>
              <a:rPr lang="en" sz="11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Dependencies</a:t>
            </a:r>
            <a: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deployment/requirements.txt pins streamlit 1.44.1, scikit-learn 1.6.1, xgboost 2.1.4, pandas 2.2.3 so the model loads with the versions it was trained on.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Nunito"/>
              <a:buChar char="●"/>
            </a:pPr>
            <a:r>
              <a:rPr lang="en" sz="11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Hosting</a:t>
            </a:r>
            <a: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Streamlit Community Cloud → repo DatariusAI/Deakin-AIML-Bridge-Tourism-Wellness-MLOps, branch main, file tourism_project/deployment/app.py, Python 3.11.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43" name="Picture 142" descr="streamlit_app_prediction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868680"/>
            <a:ext cx="2468551" cy="3611880"/>
          </a:xfrm>
          <a:prstGeom prst="rect">
            <a:avLst/>
          </a:prstGeom>
          <a:ln>
            <a:solidFill>
              <a:srgbClr val="BFBFBF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1"/>
          <p:cNvSpPr txBox="1"/>
          <p:nvPr/>
        </p:nvSpPr>
        <p:spPr>
          <a:xfrm>
            <a:off x="311700" y="298554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Automated GitHub Actions </a:t>
            </a:r>
            <a:r>
              <a:rPr b="1" i="0" lang="en" sz="22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Workflow</a:t>
            </a:r>
            <a:endParaRPr b="1" i="0" sz="22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8" name="Google Shape;148;p31"/>
          <p:cNvSpPr txBox="1"/>
          <p:nvPr/>
        </p:nvSpPr>
        <p:spPr>
          <a:xfrm>
            <a:off x="300350" y="822960"/>
            <a:ext cx="86298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200"/>
              <a:buFont typeface="Nunito"/>
              <a:buChar char="●"/>
            </a:pPr>
            <a:r>
              <a:rPr b="1" i="0" lang="en" sz="12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pipeline.yml</a:t>
            </a:r>
            <a:r>
              <a:rPr b="0" i="0" lang="en" sz="12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lives in .github/workflows/. It runs on every push to main and on manual “Run workflow”.</a:t>
            </a:r>
            <a:endParaRPr b="0" i="0" sz="12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200"/>
              <a:buFont typeface="Nunito"/>
              <a:buChar char="●"/>
            </a:pPr>
            <a:r>
              <a:rPr b="1" i="0" lang="en" sz="12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Three chained jobs</a:t>
            </a:r>
            <a:r>
              <a:rPr b="0" i="0" lang="en" sz="12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each uses Python 3.11 and installs tourism_project/requirements.txt. Data moves between jobs as artifacts.</a:t>
            </a:r>
            <a:endParaRPr b="0" i="0" sz="12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200"/>
              <a:buFont typeface="Nunito"/>
              <a:buChar char="●"/>
            </a:pPr>
            <a:r>
              <a:rPr b="1" i="0" lang="en" sz="12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Auto-update</a:t>
            </a:r>
            <a:r>
              <a:rPr b="0" i="0" lang="en" sz="12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the last step commits the new model to main with “[skip ci]”, so the commit does not retrigger the pipeline. permissions: contents: write lets the bot push.</a:t>
            </a:r>
            <a:endParaRPr b="0" i="0" sz="12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9" name="Rounded Rectangle 148"/>
          <p:cNvSpPr/>
          <p:nvPr/>
        </p:nvSpPr>
        <p:spPr>
          <a:xfrm>
            <a:off x="457200" y="2788920"/>
            <a:ext cx="2377440" cy="1143000"/>
          </a:xfrm>
          <a:prstGeom prst="roundRect">
            <a:avLst>
              <a:gd name="adj" fmla="val 8000"/>
            </a:avLst>
          </a:prstGeom>
          <a:solidFill>
            <a:srgbClr val="E8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48640" y="2880360"/>
            <a:ext cx="21945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0B3FBF"/>
                </a:solidFill>
                <a:latin typeface="Nunito"/>
              </a:rPr>
              <a:t>1  register-dataset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48640" y="3227832"/>
            <a:ext cx="21945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Nunito"/>
              </a:rPr>
              <a:t>Validate schema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Nunito"/>
              </a:rPr>
              <a:t>Upload registered-data</a:t>
            </a:r>
          </a:p>
        </p:txBody>
      </p:sp>
      <p:cxnSp>
        <p:nvCxnSpPr>
          <p:cNvPr id="152" name="Connector 151"/>
          <p:cNvCxnSpPr/>
          <p:nvPr/>
        </p:nvCxnSpPr>
        <p:spPr>
          <a:xfrm>
            <a:off x="2880360" y="3360420.0"/>
            <a:ext cx="411480" cy="0.0"/>
          </a:xfrm>
          <a:prstGeom prst="line">
            <a:avLst/>
          </a:prstGeom>
          <a:ln w="19050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Rounded Rectangle 152"/>
          <p:cNvSpPr/>
          <p:nvPr/>
        </p:nvSpPr>
        <p:spPr>
          <a:xfrm>
            <a:off x="3337560" y="2788920"/>
            <a:ext cx="2377440" cy="1143000"/>
          </a:xfrm>
          <a:prstGeom prst="roundRect">
            <a:avLst>
              <a:gd name="adj" fmla="val 8000"/>
            </a:avLst>
          </a:prstGeom>
          <a:solidFill>
            <a:srgbClr val="E8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3429000" y="2880360"/>
            <a:ext cx="21945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0B3FBF"/>
                </a:solidFill>
                <a:latin typeface="Nunito"/>
              </a:rPr>
              <a:t>2  data-prep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3429000" y="3227832"/>
            <a:ext cx="21945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Nunito"/>
              </a:rPr>
              <a:t>Clean + split 80/20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Nunito"/>
              </a:rPr>
              <a:t>Upload data-splits</a:t>
            </a:r>
          </a:p>
        </p:txBody>
      </p:sp>
      <p:cxnSp>
        <p:nvCxnSpPr>
          <p:cNvPr id="156" name="Connector 155"/>
          <p:cNvCxnSpPr/>
          <p:nvPr/>
        </p:nvCxnSpPr>
        <p:spPr>
          <a:xfrm>
            <a:off x="5760720" y="3360420.0"/>
            <a:ext cx="411480" cy="0.0"/>
          </a:xfrm>
          <a:prstGeom prst="line">
            <a:avLst/>
          </a:prstGeom>
          <a:ln w="19050">
            <a:solidFill>
              <a:srgbClr val="59595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Rounded Rectangle 156"/>
          <p:cNvSpPr/>
          <p:nvPr/>
        </p:nvSpPr>
        <p:spPr>
          <a:xfrm>
            <a:off x="6217920" y="2788920"/>
            <a:ext cx="2377440" cy="1143000"/>
          </a:xfrm>
          <a:prstGeom prst="roundRect">
            <a:avLst>
              <a:gd name="adj" fmla="val 8000"/>
            </a:avLst>
          </a:prstGeom>
          <a:solidFill>
            <a:srgbClr val="E8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6309360" y="2880360"/>
            <a:ext cx="21945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1">
                <a:solidFill>
                  <a:srgbClr val="0B3FBF"/>
                </a:solidFill>
                <a:latin typeface="Nunito"/>
              </a:rPr>
              <a:t>3  model-traning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6309360" y="3227832"/>
            <a:ext cx="21945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Nunito"/>
              </a:rPr>
              <a:t>MLflow server + GridSearch</a:t>
            </a:r>
          </a:p>
          <a:p>
            <a:pPr algn="l"/>
            <a:r>
              <a:rPr sz="1000" b="0">
                <a:solidFill>
                  <a:srgbClr val="000000"/>
                </a:solidFill>
                <a:latin typeface="Nunito"/>
              </a:rPr>
              <a:t>Commit model to main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Nunito"/>
              </a:rPr>
              <a:t>Job name “model-traning” is kept as given in the course template.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2"/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Output Evaluation</a:t>
            </a:r>
            <a:endParaRPr b="1" i="0" sz="22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4" name="Google Shape;154;p32"/>
          <p:cNvSpPr txBox="1"/>
          <p:nvPr/>
        </p:nvSpPr>
        <p:spPr>
          <a:xfrm>
            <a:off x="202550" y="861975"/>
            <a:ext cx="8629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b="1" sz="1100"/>
              <a:t>GitHub (private)</a:t>
            </a:r>
            <a:r>
              <a:rPr lang="en" sz="1100"/>
              <a:t>: https://github.com/DatariusAI/Deakin-AIML-Bridge-Tourism-Wellness-MLOps</a:t>
            </a:r>
            <a:endParaRPr b="0" i="0" sz="11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b="1" sz="1100"/>
              <a:t>Workflow runs</a:t>
            </a:r>
            <a:r>
              <a:rPr lang="en" sz="1100"/>
              <a:t>: https://github.com/DatariusAI/Deakin-AIML-Bridge-Tourism-Wellness-MLOps/actions</a:t>
            </a:r>
            <a:endParaRPr b="0" i="0" sz="11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b="1" sz="1100"/>
              <a:t>Streamlit Community Cloud</a:t>
            </a:r>
            <a:r>
              <a:rPr lang="en" sz="1100"/>
              <a:t>: deploy from the repo (see slide 7) and paste the …streamlit.app URL here.</a:t>
            </a:r>
            <a:endParaRPr b="0" i="0" sz="11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55" name="Picture 154" descr="actions_ru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783080"/>
            <a:ext cx="4480560" cy="1308324"/>
          </a:xfrm>
          <a:prstGeom prst="rect">
            <a:avLst/>
          </a:prstGeom>
          <a:ln>
            <a:solidFill>
              <a:srgbClr val="BFBFBF"/>
            </a:solidFill>
          </a:ln>
        </p:spPr>
      </p:pic>
      <p:pic>
        <p:nvPicPr>
          <p:cNvPr id="156" name="Picture 155" descr="repo_tr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200400"/>
            <a:ext cx="2346960" cy="1280160"/>
          </a:xfrm>
          <a:prstGeom prst="rect">
            <a:avLst/>
          </a:prstGeom>
          <a:ln>
            <a:solidFill>
              <a:srgbClr val="BFBFBF"/>
            </a:solidFill>
          </a:ln>
        </p:spPr>
      </p:pic>
      <p:sp>
        <p:nvSpPr>
          <p:cNvPr id="157" name="TextBox 156"/>
          <p:cNvSpPr txBox="1"/>
          <p:nvPr/>
        </p:nvSpPr>
        <p:spPr>
          <a:xfrm>
            <a:off x="2743200" y="3246120"/>
            <a:ext cx="210312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595959"/>
                </a:solidFill>
                <a:latin typeface="Nunito"/>
              </a:rPr>
              <a:t>Run #1 on push: all 3 jobs green in 3m 44s.</a:t>
            </a:r>
          </a:p>
          <a:p>
            <a:pPr algn="l"/>
            <a:r>
              <a:rPr sz="900" b="0">
                <a:solidFill>
                  <a:srgbClr val="595959"/>
                </a:solidFill>
                <a:latin typeface="Nunito"/>
              </a:rPr>
              <a:t>github-actions[bot] committed best_tourism_model_v1.joblib to deployment/.</a:t>
            </a:r>
          </a:p>
        </p:txBody>
      </p:sp>
      <p:pic>
        <p:nvPicPr>
          <p:cNvPr id="158" name="Picture 157" descr="streamlit_app_prediction_c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1783080"/>
            <a:ext cx="1843601" cy="2697480"/>
          </a:xfrm>
          <a:prstGeom prst="rect">
            <a:avLst/>
          </a:prstGeom>
          <a:ln>
            <a:solidFill>
              <a:srgbClr val="BFBFBF"/>
            </a:solidFill>
          </a:ln>
        </p:spPr>
      </p:pic>
      <p:sp>
        <p:nvSpPr>
          <p:cNvPr id="159" name="TextBox 158"/>
          <p:cNvSpPr txBox="1"/>
          <p:nvPr/>
        </p:nvSpPr>
        <p:spPr>
          <a:xfrm>
            <a:off x="7086600" y="1828800"/>
            <a:ext cx="182880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Nunito"/>
              </a:rPr>
              <a:t>Streamlit app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Nunito"/>
              </a:rPr>
              <a:t>A single, Executive, passport-holding 26-year-old pitched Basic scores 99.8%: “Likely to buy”.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692825"/>
            <a:ext cx="8893198" cy="85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4"/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Dataset Overview and Registration</a:t>
            </a:r>
            <a:endParaRPr b="1" i="0" sz="22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5" name="Google Shape;165;p34"/>
          <p:cNvSpPr txBox="1"/>
          <p:nvPr/>
        </p:nvSpPr>
        <p:spPr>
          <a:xfrm>
            <a:off x="202550" y="861975"/>
            <a:ext cx="45720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Nunito"/>
              <a:buChar char="●"/>
            </a:pPr>
            <a:r>
              <a:rPr lang="en" sz="11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Source</a:t>
            </a:r>
            <a: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“Visit with Us” customer and sales-interaction records (tourism.csv, course-provided).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Nunito"/>
              <a:buChar char="●"/>
            </a:pPr>
            <a:r>
              <a:rPr lang="en" sz="11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Size</a:t>
            </a:r>
            <a: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4,128 customers × 20 fields, no missing values. 117 exact duplicates were removed.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Nunito"/>
              <a:buChar char="●"/>
            </a:pPr>
            <a:r>
              <a:rPr lang="en" sz="11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Target</a:t>
            </a:r>
            <a: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ProdTaken (1 = bought). 797 buyers (19.3%), so the classes are imbalanced.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Nunito"/>
              <a:buChar char="●"/>
            </a:pPr>
            <a:r>
              <a:rPr lang="en" sz="11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Features</a:t>
            </a:r>
            <a: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customer profile (Age, CityTier, Occupation, Gender, MaritalStatus, Passport, OwnCar, Designation, MonthlyIncome, trips, party size) and pitch data (TypeofContact, ProductPitched, DurationOfPitch, NumberOfFollowups, PitchSatisfactionScore).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Nunito"/>
              <a:buChar char="●"/>
            </a:pPr>
            <a:r>
              <a:rPr lang="en" sz="11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Registration</a:t>
            </a:r>
            <a: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committed at tourism_project/data/tourism.csv and validated by data_register.py on each run.</a:t>
            </a:r>
            <a:endParaRPr sz="11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aphicFrame>
        <p:nvGraphicFramePr>
          <p:cNvPr id="166" name="Chart 165"/>
          <p:cNvGraphicFramePr>
            <a:graphicFrameLocks noGrp="1"/>
          </p:cNvGraphicFramePr>
          <p:nvPr/>
        </p:nvGraphicFramePr>
        <p:xfrm>
          <a:off x="4983480" y="868680"/>
          <a:ext cx="3931920" cy="3429000"/>
        </p:xfrm>
        <a:graphic>
          <a:graphicData uri="http://schemas.openxmlformats.org/drawingml/2006/chart">
            <c:chart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5"/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Experimentation Tracking Details</a:t>
            </a:r>
            <a:endParaRPr b="1" i="0" sz="22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1" name="Google Shape;171;p35"/>
          <p:cNvSpPr txBox="1"/>
          <p:nvPr/>
        </p:nvSpPr>
        <p:spPr>
          <a:xfrm>
            <a:off x="202550" y="861975"/>
            <a:ext cx="393192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Nunito"/>
              <a:buChar char="●"/>
            </a:pPr>
            <a:r>
              <a:rPr b="1" i="0" lang="en" sz="11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Model</a:t>
            </a:r>
            <a:r>
              <a:rPr b="0" i="0" lang="en" sz="11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XGBoost in one sklearn pipeline. 24 combinations × 5 folds = 120 fits.</a:t>
            </a:r>
            <a:endParaRPr b="0" i="0" sz="11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Nunito"/>
              <a:buChar char="●"/>
            </a:pPr>
            <a:r>
              <a:rPr b="1" i="0" lang="en" sz="11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Grid</a:t>
            </a:r>
            <a:r>
              <a:rPr b="0" i="0" lang="en" sz="11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n_estimators {100, 200}, max_depth {3, 5, 7}, learning_rate {0.05, 0.1}, colsample_bytree {0.7, 1.0}.</a:t>
            </a:r>
            <a:endParaRPr b="0" i="0" sz="11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Nunito"/>
              <a:buChar char="●"/>
            </a:pPr>
            <a:r>
              <a:rPr b="1" i="0" lang="en" sz="11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Logged per run</a:t>
            </a:r>
            <a:r>
              <a:rPr b="0" i="0" lang="en" sz="11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params, mean_cv_f1, std_cv_f1 (nested). Parent run: best params, scale_pos_weight, threshold, train/test metrics and the model artifact.</a:t>
            </a:r>
            <a:endParaRPr b="0" i="0" sz="11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Nunito"/>
              <a:buChar char="●"/>
            </a:pPr>
            <a:r>
              <a:rPr b="1" i="0" lang="en" sz="11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Finding</a:t>
            </a:r>
            <a:r>
              <a:rPr b="0" i="0" lang="en" sz="11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depth matters most. Every depth-7 run beats every depth-3 run (0.73–0.78 vs 0.60–0.64 CV F1).</a:t>
            </a:r>
            <a:endParaRPr b="0" i="0" sz="11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aphicFrame>
        <p:nvGraphicFramePr>
          <p:cNvPr id="172" name="Chart 171"/>
          <p:cNvGraphicFramePr>
            <a:graphicFrameLocks noGrp="1"/>
          </p:cNvGraphicFramePr>
          <p:nvPr/>
        </p:nvGraphicFramePr>
        <p:xfrm>
          <a:off x="4251960" y="868680"/>
          <a:ext cx="4663440" cy="2331720"/>
        </p:xfrm>
        <a:graphic>
          <a:graphicData uri="http://schemas.openxmlformats.org/drawingml/2006/chart">
            <c:chart r:id="rId3"/>
          </a:graphicData>
        </a:graphic>
      </p:graphicFrame>
      <p:graphicFrame>
        <p:nvGraphicFramePr>
          <p:cNvPr id="173" name="Table 172"/>
          <p:cNvGraphicFramePr>
            <a:graphicFrameLocks noGrp="1"/>
          </p:cNvGraphicFramePr>
          <p:nvPr/>
        </p:nvGraphicFramePr>
        <p:xfrm>
          <a:off x="4343400" y="3246120"/>
          <a:ext cx="4526280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14600"/>
                <a:gridCol w="1097280"/>
                <a:gridCol w="914400"/>
              </a:tblGrid>
              <a:tr h="22860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unito"/>
                        </a:rPr>
                        <a:t>Worst runs</a:t>
                      </a:r>
                    </a:p>
                  </a:txBody>
                  <a:tcPr marL="54864" marR="54864" marT="18288" marB="18288" anchor="ctr">
                    <a:solidFill>
                      <a:srgbClr val="0B3FB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unito"/>
                        </a:rPr>
                        <a:t>mean CV F1</a:t>
                      </a:r>
                    </a:p>
                  </a:txBody>
                  <a:tcPr marL="54864" marR="54864" marT="18288" marB="18288" anchor="ctr">
                    <a:solidFill>
                      <a:srgbClr val="0B3FB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unito"/>
                        </a:rPr>
                        <a:t>std</a:t>
                      </a:r>
                    </a:p>
                  </a:txBody>
                  <a:tcPr marL="54864" marR="54864" marT="18288" marB="18288" anchor="ctr">
                    <a:solidFill>
                      <a:srgbClr val="0B3FB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000000"/>
                          </a:solidFill>
                          <a:latin typeface="Nunito"/>
                        </a:rPr>
                        <a:t>d3 n100 lr0.1 cs0.7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000000"/>
                          </a:solidFill>
                          <a:latin typeface="Nunito"/>
                        </a:rPr>
                        <a:t>0.611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000000"/>
                          </a:solidFill>
                          <a:latin typeface="Nunito"/>
                        </a:rPr>
                        <a:t>0.017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000000"/>
                          </a:solidFill>
                          <a:latin typeface="Nunito"/>
                        </a:rPr>
                        <a:t>d3 n100 lr0.05 cs0.7</a:t>
                      </a:r>
                    </a:p>
                  </a:txBody>
                  <a:tcPr marL="54864" marR="54864" marT="18288" marB="18288" anchor="ctr">
                    <a:solidFill>
                      <a:srgbClr val="E8EE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000000"/>
                          </a:solidFill>
                          <a:latin typeface="Nunito"/>
                        </a:rPr>
                        <a:t>0.605</a:t>
                      </a:r>
                    </a:p>
                  </a:txBody>
                  <a:tcPr marL="54864" marR="54864" marT="18288" marB="18288" anchor="ctr">
                    <a:solidFill>
                      <a:srgbClr val="E8EE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000000"/>
                          </a:solidFill>
                          <a:latin typeface="Nunito"/>
                        </a:rPr>
                        <a:t>0.027</a:t>
                      </a:r>
                    </a:p>
                  </a:txBody>
                  <a:tcPr marL="54864" marR="54864" marT="18288" marB="18288" anchor="ctr">
                    <a:solidFill>
                      <a:srgbClr val="E8EEFB"/>
                    </a:solidFill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000000"/>
                          </a:solidFill>
                          <a:latin typeface="Nunito"/>
                        </a:rPr>
                        <a:t>d3 n100 lr0.05 cs1.0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000000"/>
                          </a:solidFill>
                          <a:latin typeface="Nunito"/>
                        </a:rPr>
                        <a:t>0.596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>
                          <a:solidFill>
                            <a:srgbClr val="000000"/>
                          </a:solidFill>
                          <a:latin typeface="Nunito"/>
                        </a:rPr>
                        <a:t>0.027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6"/>
          <p:cNvSpPr txBox="1"/>
          <p:nvPr/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GitHub Actions Workflow Details</a:t>
            </a:r>
            <a:endParaRPr b="1" i="0" sz="22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7" name="Google Shape;177;p36"/>
          <p:cNvSpPr txBox="1"/>
          <p:nvPr/>
        </p:nvSpPr>
        <p:spPr>
          <a:xfrm>
            <a:off x="202550" y="861975"/>
            <a:ext cx="475488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Nunito"/>
              <a:buChar char="●"/>
            </a:pPr>
            <a:r>
              <a:rPr b="1" i="0" lang="en" sz="11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Trigger</a:t>
            </a:r>
            <a:r>
              <a:rPr b="0" i="0" lang="en" sz="11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on.push.branches = [main] plus workflow_dispatch.</a:t>
            </a:r>
            <a:endParaRPr b="0" i="0" sz="11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Nunito"/>
              <a:buChar char="●"/>
            </a:pPr>
            <a:r>
              <a:rPr b="1" i="0" lang="en" sz="11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Each job</a:t>
            </a:r>
            <a:r>
              <a:rPr b="0" i="0" lang="en" sz="11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checkout@v4 → setup-python@v5 (3.11) → pip install -r tourism_project/requirements.txt.</a:t>
            </a:r>
            <a:endParaRPr b="0" i="0" sz="11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Nunito"/>
              <a:buChar char="●"/>
            </a:pPr>
            <a:r>
              <a:rPr b="1" i="0" lang="en" sz="11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register-dataset</a:t>
            </a:r>
            <a:r>
              <a:rPr b="0" i="0" lang="en" sz="11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python data_register.py → upload-artifact registered-data.</a:t>
            </a:r>
            <a:endParaRPr b="0" i="0" sz="11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Nunito"/>
              <a:buChar char="●"/>
            </a:pPr>
            <a:r>
              <a:rPr b="1" i="0" lang="en" sz="11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data-prep</a:t>
            </a:r>
            <a:r>
              <a:rPr b="0" i="0" lang="en" sz="11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python prep.py → upload-artifact data-splits (4 CSVs).</a:t>
            </a:r>
            <a:endParaRPr b="0" i="0" sz="11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Nunito"/>
              <a:buChar char="●"/>
            </a:pPr>
            <a:r>
              <a:rPr b="1" i="0" lang="en" sz="11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model-traning</a:t>
            </a:r>
            <a:r>
              <a:rPr b="0" i="0" lang="en" sz="11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download data-splits → nohup mlflow ui --port 5000 → python train.py → git add / commit “[skip ci]” / push.</a:t>
            </a:r>
            <a:endParaRPr b="0" i="0" sz="11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Nunito"/>
              <a:buChar char="●"/>
            </a:pPr>
            <a:r>
              <a:rPr b="1" i="0" lang="en" sz="11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Code updates</a:t>
            </a:r>
            <a:r>
              <a:rPr b="0" i="0" lang="en" sz="1100" u="none" cap="none" strike="noStrik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the notebook push cell writes files to main through the GitHub API. Each push to main starts a new run, so code and model stay in step.</a:t>
            </a:r>
            <a:endParaRPr b="0" i="0" sz="11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aphicFrame>
        <p:nvGraphicFramePr>
          <p:cNvPr id="178" name="Table 177"/>
          <p:cNvGraphicFramePr>
            <a:graphicFrameLocks noGrp="1"/>
          </p:cNvGraphicFramePr>
          <p:nvPr/>
        </p:nvGraphicFramePr>
        <p:xfrm>
          <a:off x="5120640" y="868680"/>
          <a:ext cx="3794760" cy="32232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71800"/>
                <a:gridCol w="822960"/>
              </a:tblGrid>
              <a:tr h="214884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Nunito"/>
                        </a:rPr>
                        <a:t>Job · step</a:t>
                      </a:r>
                    </a:p>
                  </a:txBody>
                  <a:tcPr marL="54864" marR="54864" marT="18288" marB="18288" anchor="ctr">
                    <a:solidFill>
                      <a:srgbClr val="0B3FB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latin typeface="Nunito"/>
                        </a:rPr>
                        <a:t>Result</a:t>
                      </a:r>
                    </a:p>
                  </a:txBody>
                  <a:tcPr marL="54864" marR="54864" marT="18288" marB="18288" anchor="ctr">
                    <a:solidFill>
                      <a:srgbClr val="0B3FB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Nunito"/>
                        </a:rPr>
                        <a:t>register-dataset (1m 5s)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Nunito"/>
                        </a:rPr>
                        <a:t>✔ success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Nunito"/>
                        </a:rPr>
                        <a:t>   Install Dependencies</a:t>
                      </a:r>
                    </a:p>
                  </a:txBody>
                  <a:tcPr marL="54864" marR="54864" marT="18288" marB="18288" anchor="ctr">
                    <a:solidFill>
                      <a:srgbClr val="E8EE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Nunito"/>
                        </a:rPr>
                        <a:t>✔</a:t>
                      </a:r>
                    </a:p>
                  </a:txBody>
                  <a:tcPr marL="54864" marR="54864" marT="18288" marB="18288" anchor="ctr">
                    <a:solidFill>
                      <a:srgbClr val="E8EEFB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Nunito"/>
                        </a:rPr>
                        <a:t>   Register Dataset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Nunito"/>
                        </a:rPr>
                        <a:t>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Nunito"/>
                        </a:rPr>
                        <a:t>   Upload Registered Dataset</a:t>
                      </a:r>
                    </a:p>
                  </a:txBody>
                  <a:tcPr marL="54864" marR="54864" marT="18288" marB="18288" anchor="ctr">
                    <a:solidFill>
                      <a:srgbClr val="E8EE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Nunito"/>
                        </a:rPr>
                        <a:t>✔</a:t>
                      </a:r>
                    </a:p>
                  </a:txBody>
                  <a:tcPr marL="54864" marR="54864" marT="18288" marB="18288" anchor="ctr">
                    <a:solidFill>
                      <a:srgbClr val="E8EEFB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Nunito"/>
                        </a:rPr>
                        <a:t>data-prep (1m 4s)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Nunito"/>
                        </a:rPr>
                        <a:t>✔ success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Nunito"/>
                        </a:rPr>
                        <a:t>   Install Dependencies</a:t>
                      </a:r>
                    </a:p>
                  </a:txBody>
                  <a:tcPr marL="54864" marR="54864" marT="18288" marB="18288" anchor="ctr">
                    <a:solidFill>
                      <a:srgbClr val="E8EE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Nunito"/>
                        </a:rPr>
                        <a:t>✔</a:t>
                      </a:r>
                    </a:p>
                  </a:txBody>
                  <a:tcPr marL="54864" marR="54864" marT="18288" marB="18288" anchor="ctr">
                    <a:solidFill>
                      <a:srgbClr val="E8EEFB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Nunito"/>
                        </a:rPr>
                        <a:t>   Run Data Preparation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Nunito"/>
                        </a:rPr>
                        <a:t>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Nunito"/>
                        </a:rPr>
                        <a:t>   Upload Train Test Splits</a:t>
                      </a:r>
                    </a:p>
                  </a:txBody>
                  <a:tcPr marL="54864" marR="54864" marT="18288" marB="18288" anchor="ctr">
                    <a:solidFill>
                      <a:srgbClr val="E8EE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Nunito"/>
                        </a:rPr>
                        <a:t>✔</a:t>
                      </a:r>
                    </a:p>
                  </a:txBody>
                  <a:tcPr marL="54864" marR="54864" marT="18288" marB="18288" anchor="ctr">
                    <a:solidFill>
                      <a:srgbClr val="E8EEFB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Nunito"/>
                        </a:rPr>
                        <a:t>model-traning (1m 24s)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Nunito"/>
                        </a:rPr>
                        <a:t>✔ success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Nunito"/>
                        </a:rPr>
                        <a:t>   Install Dependencies</a:t>
                      </a:r>
                    </a:p>
                  </a:txBody>
                  <a:tcPr marL="54864" marR="54864" marT="18288" marB="18288" anchor="ctr">
                    <a:solidFill>
                      <a:srgbClr val="E8EE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Nunito"/>
                        </a:rPr>
                        <a:t>✔</a:t>
                      </a:r>
                    </a:p>
                  </a:txBody>
                  <a:tcPr marL="54864" marR="54864" marT="18288" marB="18288" anchor="ctr">
                    <a:solidFill>
                      <a:srgbClr val="E8EEFB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Nunito"/>
                        </a:rPr>
                        <a:t>   Download Train Test Splits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Nunito"/>
                        </a:rPr>
                        <a:t>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Nunito"/>
                        </a:rPr>
                        <a:t>   Start MLflow Server</a:t>
                      </a:r>
                    </a:p>
                  </a:txBody>
                  <a:tcPr marL="54864" marR="54864" marT="18288" marB="18288" anchor="ctr">
                    <a:solidFill>
                      <a:srgbClr val="E8EE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Nunito"/>
                        </a:rPr>
                        <a:t>✔</a:t>
                      </a:r>
                    </a:p>
                  </a:txBody>
                  <a:tcPr marL="54864" marR="54864" marT="18288" marB="18288" anchor="ctr">
                    <a:solidFill>
                      <a:srgbClr val="E8EEFB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Nunito"/>
                        </a:rPr>
                        <a:t>   Model Building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Nunito"/>
                        </a:rPr>
                        <a:t>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Nunito"/>
                        </a:rPr>
                        <a:t>   Commit Trained Model</a:t>
                      </a:r>
                    </a:p>
                  </a:txBody>
                  <a:tcPr marL="54864" marR="54864" marT="18288" marB="18288" anchor="ctr">
                    <a:solidFill>
                      <a:srgbClr val="E8EE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>
                          <a:solidFill>
                            <a:srgbClr val="000000"/>
                          </a:solidFill>
                          <a:latin typeface="Nunito"/>
                        </a:rPr>
                        <a:t>✔</a:t>
                      </a:r>
                    </a:p>
                  </a:txBody>
                  <a:tcPr marL="54864" marR="54864" marT="18288" marB="18288" anchor="ctr">
                    <a:solidFill>
                      <a:srgbClr val="E8EE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7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185" name="Google Shape;185;p37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