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9" r:id="rId5"/>
    <p:sldMasterId id="214748367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y="5143500" cx="9144000"/>
  <p:notesSz cx="6858000" cy="9144000"/>
  <p:embeddedFontLst>
    <p:embeddedFont>
      <p:font typeface="Nunito SemiBold"/>
      <p:regular r:id="rId22"/>
      <p:bold r:id="rId23"/>
      <p:italic r:id="rId24"/>
      <p:boldItalic r:id="rId25"/>
    </p:embeddedFont>
    <p:embeddedFont>
      <p:font typeface="Nunito"/>
      <p:regular r:id="rId26"/>
      <p:bold r:id="rId27"/>
      <p:italic r:id="rId28"/>
      <p:boldItalic r:id="rId29"/>
    </p:embeddedFont>
    <p:embeddedFont>
      <p:font typeface="Nunito ExtraBold"/>
      <p:bold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12A1AB1-4AC2-400F-8BF0-3C675798917D}">
  <a:tblStyle styleId="{312A1AB1-4AC2-400F-8BF0-3C675798917D}" styleName="Table_0">
    <a:wholeTbl>
      <a:tcTxStyle b="off" i="off">
        <a:font>
          <a:latin typeface="Arial"/>
          <a:ea typeface="Arial"/>
          <a:cs typeface="Arial"/>
        </a:font>
        <a:srgbClr val="000000"/>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12700">
              <a:solidFill>
                <a:srgbClr val="5B9BD5"/>
              </a:solidFill>
              <a:prstDash val="solid"/>
              <a:round/>
              <a:headEnd len="sm" w="sm" type="none"/>
              <a:tailEnd len="sm" w="sm" type="none"/>
            </a:ln>
          </a:top>
          <a:bottom>
            <a:ln cap="flat" cmpd="sng" w="12700">
              <a:solidFill>
                <a:srgbClr val="5B9BD5"/>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tcStyle>
        <a:fill>
          <a:solidFill>
            <a:srgbClr val="5B9BD5">
              <a:alpha val="20000"/>
            </a:srgbClr>
          </a:solidFill>
        </a:fill>
      </a:tcStyle>
    </a:band1H>
    <a:band2H>
      <a:tcTxStyle b="off" i="off"/>
    </a:band2H>
    <a:band1V>
      <a:tcTxStyle b="off" i="off"/>
      <a:tcStyle>
        <a:fill>
          <a:solidFill>
            <a:srgbClr val="5B9BD5">
              <a:alpha val="20000"/>
            </a:srgbClr>
          </a:solidFill>
        </a:fill>
      </a:tcStyle>
    </a:band1V>
    <a:band2V>
      <a:tcTxStyle b="off" i="off"/>
    </a:band2V>
    <a:lastCol>
      <a:tcTxStyle b="on" i="off"/>
    </a:lastCol>
    <a:firstCol>
      <a:tcTxStyle b="on" i="off"/>
    </a:firstCol>
    <a:lastRow>
      <a:tcTxStyle b="on" i="off"/>
      <a:tcStyle>
        <a:tcBdr>
          <a:top>
            <a:ln cap="flat" cmpd="sng" w="12700">
              <a:solidFill>
                <a:srgbClr val="5B9BD5"/>
              </a:solidFill>
              <a:prstDash val="solid"/>
              <a:round/>
              <a:headEnd len="sm" w="sm" type="none"/>
              <a:tailEnd len="sm" w="sm" type="none"/>
            </a:ln>
          </a:top>
        </a:tcBdr>
        <a:fill>
          <a:solidFill>
            <a:srgbClr val="FFFFFF">
              <a:alpha val="0"/>
            </a:srgbClr>
          </a:solidFill>
        </a:fill>
      </a:tcStyle>
    </a:lastRow>
    <a:seCell>
      <a:tcTxStyle b="off" i="off"/>
    </a:seCell>
    <a:swCell>
      <a:tcTxStyle b="off" i="off"/>
    </a:swCell>
    <a:firstRow>
      <a:tcTxStyle b="on" i="off"/>
      <a:tcStyle>
        <a:tcBdr>
          <a:bottom>
            <a:ln cap="flat" cmpd="sng" w="12700">
              <a:solidFill>
                <a:srgbClr val="5B9BD5"/>
              </a:solidFill>
              <a:prstDash val="solid"/>
              <a:round/>
              <a:headEnd len="sm" w="sm" type="none"/>
              <a:tailEnd len="sm" w="sm" type="none"/>
            </a:ln>
          </a:bottom>
        </a:tcBdr>
        <a:fill>
          <a:solidFill>
            <a:srgbClr val="FFFFFF">
              <a:alpha val="0"/>
            </a:srgbClr>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font" Target="fonts/NunitoSemiBold-regular.fntdata"/><Relationship Id="rId23" Type="http://schemas.openxmlformats.org/officeDocument/2006/relationships/font" Target="fonts/NunitoSemiBold-bold.fntdata"/><Relationship Id="rId24" Type="http://schemas.openxmlformats.org/officeDocument/2006/relationships/font" Target="fonts/NunitoSemiBold-italic.fntdata"/><Relationship Id="rId25" Type="http://schemas.openxmlformats.org/officeDocument/2006/relationships/font" Target="fonts/NunitoSemiBold-boldItalic.fntdata"/><Relationship Id="rId26" Type="http://schemas.openxmlformats.org/officeDocument/2006/relationships/font" Target="fonts/Nunito-regular.fntdata"/><Relationship Id="rId27" Type="http://schemas.openxmlformats.org/officeDocument/2006/relationships/font" Target="fonts/Nunito-bold.fntdata"/><Relationship Id="rId28" Type="http://schemas.openxmlformats.org/officeDocument/2006/relationships/font" Target="fonts/Nunito-italic.fntdata"/><Relationship Id="rId29" Type="http://schemas.openxmlformats.org/officeDocument/2006/relationships/font" Target="fonts/Nunito-boldItalic.fntdata"/><Relationship Id="rId30" Type="http://schemas.openxmlformats.org/officeDocument/2006/relationships/font" Target="fonts/NunitoExtraBold-bold.fntdata"/><Relationship Id="rId31" Type="http://schemas.openxmlformats.org/officeDocument/2006/relationships/font" Target="fonts/NunitoExtraBold-boldItalic.fnt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latin typeface="Nunito"/>
              </a:rPr>
              <a:t>Purchase rate by segment</a:t>
            </a:r>
          </a:p>
        </c:rich>
      </c:tx>
      <c:layout/>
      <c:overlay val="0"/>
    </c:title>
    <c:autoTitleDeleted val="0"/>
    <c:plotArea>
      <c:barChart>
        <c:barDir val="bar"/>
        <c:grouping val="clustered"/>
        <c:ser>
          <c:idx val="0"/>
          <c:order val="0"/>
          <c:tx>
            <c:strRef>
              <c:f>Sheet1!$B$1</c:f>
              <c:strCache>
                <c:ptCount val="1"/>
                <c:pt idx="0">
                  <c:v>s</c:v>
                </c:pt>
              </c:strCache>
            </c:strRef>
          </c:tx>
          <c:spPr>
            <a:solidFill>
              <a:srgbClr val="0B3FBF"/>
            </a:solidFill>
          </c:spPr>
          <c:dPt>
            <c:idx val="1"/>
            <c:spPr>
              <a:solidFill>
                <a:srgbClr val="1A7F37"/>
              </a:solidFill>
            </c:spPr>
          </c:dPt>
          <c:dPt>
            <c:idx val="3"/>
            <c:spPr>
              <a:solidFill>
                <a:srgbClr val="1A7F37"/>
              </a:solidFill>
            </c:spPr>
          </c:dPt>
          <c:dPt>
            <c:idx val="5"/>
            <c:spPr>
              <a:solidFill>
                <a:srgbClr val="1A7F37"/>
              </a:solidFill>
            </c:spPr>
          </c:dPt>
          <c:dPt>
            <c:idx val="7"/>
            <c:spPr>
              <a:solidFill>
                <a:srgbClr val="1A7F37"/>
              </a:solidFill>
            </c:spPr>
          </c:dPt>
          <c:cat>
            <c:strRef>
              <c:f>Sheet1!$A$2:$A$10</c:f>
              <c:strCache>
                <c:ptCount val="9"/>
                <c:pt idx="0">
                  <c:v>All customers</c:v>
                </c:pt>
                <c:pt idx="1">
                  <c:v>Passport: yes</c:v>
                </c:pt>
                <c:pt idx="2">
                  <c:v>Passport: no</c:v>
                </c:pt>
                <c:pt idx="3">
                  <c:v>Single</c:v>
                </c:pt>
                <c:pt idx="4">
                  <c:v>Married</c:v>
                </c:pt>
                <c:pt idx="5">
                  <c:v>Age ≤25</c:v>
                </c:pt>
                <c:pt idx="6">
                  <c:v>Age 36–45</c:v>
                </c:pt>
                <c:pt idx="7">
                  <c:v>Executive</c:v>
                </c:pt>
                <c:pt idx="8">
                  <c:v>AVP</c:v>
                </c:pt>
              </c:strCache>
            </c:strRef>
          </c:cat>
          <c:val>
            <c:numRef>
              <c:f>Sheet1!$B$2:$B$10</c:f>
              <c:numCache>
                <c:formatCode>General</c:formatCode>
                <c:ptCount val="9"/>
                <c:pt idx="0">
                  <c:v>0.193</c:v>
                </c:pt>
                <c:pt idx="1">
                  <c:v>0.358</c:v>
                </c:pt>
                <c:pt idx="2">
                  <c:v>0.124</c:v>
                </c:pt>
                <c:pt idx="3">
                  <c:v>0.364</c:v>
                </c:pt>
                <c:pt idx="4">
                  <c:v>0.142</c:v>
                </c:pt>
                <c:pt idx="5">
                  <c:v>0.433</c:v>
                </c:pt>
                <c:pt idx="6">
                  <c:v>0.129</c:v>
                </c:pt>
                <c:pt idx="7">
                  <c:v>0.3</c:v>
                </c:pt>
                <c:pt idx="8">
                  <c:v>0.076</c:v>
                </c:pt>
              </c:numCache>
            </c:numRef>
          </c:val>
        </c:ser>
        <c:dLbls>
          <c:numFmt formatCode="0%" sourceLinked="0"/>
          <c:txPr>
            <a:bodyPr/>
            <a:lstStyle/>
            <a:p>
              <a:pPr>
                <a:defRPr sz="900">
                  <a:latin typeface="Nunito"/>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BFBFBF"/>
            </a:solidFill>
          </a:ln>
        </c:spPr>
        <c:txPr>
          <a:bodyPr/>
          <a:lstStyle/>
          <a:p>
            <a:pPr>
              <a:defRPr sz="900">
                <a:latin typeface="Nunito"/>
              </a:defRPr>
            </a:pPr>
          </a:p>
        </c:txPr>
        <c:crossAx val="-2113994440"/>
        <c:crosses val="autoZero"/>
        <c:auto val="1"/>
        <c:lblAlgn val="ctr"/>
        <c:lblOffset val="100"/>
        <c:noMultiLvlLbl val="0"/>
      </c:catAx>
      <c:valAx>
        <c:axId val="-2113994440"/>
        <c:scaling>
          <c:max val="0.55"/>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latin typeface="Nunito"/>
              </a:rPr>
              <a:t>Top 8 of 24 runs: mean CV F1</a:t>
            </a:r>
          </a:p>
        </c:rich>
      </c:tx>
      <c:layout/>
      <c:overlay val="0"/>
    </c:title>
    <c:autoTitleDeleted val="0"/>
    <c:plotArea>
      <c:barChart>
        <c:barDir val="bar"/>
        <c:grouping val="clustered"/>
        <c:ser>
          <c:idx val="0"/>
          <c:order val="0"/>
          <c:tx>
            <c:strRef>
              <c:f>Sheet1!$B$1</c:f>
              <c:strCache>
                <c:ptCount val="1"/>
                <c:pt idx="0">
                  <c:v>s</c:v>
                </c:pt>
              </c:strCache>
            </c:strRef>
          </c:tx>
          <c:spPr>
            <a:solidFill>
              <a:srgbClr val="0B3FBF"/>
            </a:solidFill>
          </c:spPr>
          <c:dPt>
            <c:idx val="0"/>
            <c:spPr>
              <a:solidFill>
                <a:srgbClr val="1A7F37"/>
              </a:solidFill>
            </c:spPr>
          </c:dPt>
          <c:cat>
            <c:strRef>
              <c:f>Sheet1!$A$2:$A$9</c:f>
              <c:strCache>
                <c:ptCount val="8"/>
                <c:pt idx="0">
                  <c:v>d7 n200 lr0.1 cs0.7</c:v>
                </c:pt>
                <c:pt idx="1">
                  <c:v>d7 n100 lr0.1 cs0.7</c:v>
                </c:pt>
                <c:pt idx="2">
                  <c:v>d7 n200 lr0.05 cs0.7</c:v>
                </c:pt>
                <c:pt idx="3">
                  <c:v>d7 n200 lr0.05 cs1.0</c:v>
                </c:pt>
                <c:pt idx="4">
                  <c:v>d7 n200 lr0.1 cs1.0</c:v>
                </c:pt>
                <c:pt idx="5">
                  <c:v>d7 n100 lr0.1 cs1.0</c:v>
                </c:pt>
                <c:pt idx="6">
                  <c:v>d5 n200 lr0.1 cs0.7</c:v>
                </c:pt>
                <c:pt idx="7">
                  <c:v>d7 n100 lr0.05 cs0.7</c:v>
                </c:pt>
              </c:strCache>
            </c:strRef>
          </c:cat>
          <c:val>
            <c:numRef>
              <c:f>Sheet1!$B$2:$B$9</c:f>
              <c:numCache>
                <c:formatCode>General</c:formatCode>
                <c:ptCount val="8"/>
                <c:pt idx="0">
                  <c:v>0.7809</c:v>
                </c:pt>
                <c:pt idx="1">
                  <c:v>0.7704</c:v>
                </c:pt>
                <c:pt idx="2">
                  <c:v>0.7695</c:v>
                </c:pt>
                <c:pt idx="3">
                  <c:v>0.7631</c:v>
                </c:pt>
                <c:pt idx="4">
                  <c:v>0.7627</c:v>
                </c:pt>
                <c:pt idx="5">
                  <c:v>0.753</c:v>
                </c:pt>
                <c:pt idx="6">
                  <c:v>0.7515</c:v>
                </c:pt>
                <c:pt idx="7">
                  <c:v>0.7425</c:v>
                </c:pt>
              </c:numCache>
            </c:numRef>
          </c:val>
        </c:ser>
        <c:dLbls>
          <c:numFmt formatCode="0.000" sourceLinked="0"/>
          <c:txPr>
            <a:bodyPr/>
            <a:lstStyle/>
            <a:p>
              <a:pPr>
                <a:defRPr sz="900">
                  <a:latin typeface="Nunito"/>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BFBFBF"/>
            </a:solidFill>
          </a:ln>
        </c:spPr>
        <c:txPr>
          <a:bodyPr/>
          <a:lstStyle/>
          <a:p>
            <a:pPr>
              <a:defRPr sz="900">
                <a:latin typeface="Nunito"/>
              </a:defRPr>
            </a:pPr>
          </a:p>
        </c:txPr>
        <c:crossAx val="-2113994440"/>
        <c:crosses val="autoZero"/>
        <c:auto val="1"/>
        <c:lblAlgn val="ctr"/>
        <c:lblOffset val="100"/>
        <c:noMultiLvlLbl val="0"/>
      </c:catAx>
      <c:valAx>
        <c:axId val="-2113994440"/>
        <c:scaling>
          <c:max val="0.9"/>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0" name="Google Shape;18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p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
        <p:nvSpPr>
          <p:cNvPr id="182" name="Google Shape;182;p14:notes"/>
          <p:cNvSpPr txBox="1"/>
          <p:nvPr>
            <p:ph idx="11" type="ftr"/>
          </p:nvPr>
        </p:nvSpPr>
        <p:spPr>
          <a:xfrm>
            <a:off x="0"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Proprietary content. ©Great Learning. All Rights Reserved. Unauthorized use or distribution prohibited</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2"/>
          <p:cNvSpPr txBox="1"/>
          <p:nvPr>
            <p:ph type="ctrTitle"/>
          </p:nvPr>
        </p:nvSpPr>
        <p:spPr>
          <a:xfrm>
            <a:off x="2210208" y="744575"/>
            <a:ext cx="6622200" cy="2052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p:txBody>
      </p:sp>
      <p:sp>
        <p:nvSpPr>
          <p:cNvPr id="16" name="Google Shape;16;p2"/>
          <p:cNvSpPr txBox="1"/>
          <p:nvPr>
            <p:ph idx="1" type="subTitle"/>
          </p:nvPr>
        </p:nvSpPr>
        <p:spPr>
          <a:xfrm>
            <a:off x="2210202" y="2834125"/>
            <a:ext cx="6622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spTree>
      <p:nvGrpSpPr>
        <p:cNvPr id="17" name="Shape 17"/>
        <p:cNvGrpSpPr/>
        <p:nvPr/>
      </p:nvGrpSpPr>
      <p:grpSpPr>
        <a:xfrm>
          <a:off x="0" y="0"/>
          <a:ext cx="0" cy="0"/>
          <a:chOff x="0" y="0"/>
          <a:chExt cx="0" cy="0"/>
        </a:xfrm>
      </p:grpSpPr>
      <p:sp>
        <p:nvSpPr>
          <p:cNvPr id="18" name="Google Shape;18;p3"/>
          <p:cNvSpPr/>
          <p:nvPr/>
        </p:nvSpPr>
        <p:spPr>
          <a:xfrm>
            <a:off x="1" y="-335"/>
            <a:ext cx="9144600" cy="5143800"/>
          </a:xfrm>
          <a:prstGeom prst="rect">
            <a:avLst/>
          </a:prstGeom>
          <a:solidFill>
            <a:srgbClr val="0E39A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A close up of a logo  Description automatically generated" id="19" name="Google Shape;19;p3"/>
          <p:cNvPicPr preferRelativeResize="0"/>
          <p:nvPr/>
        </p:nvPicPr>
        <p:blipFill rotWithShape="1">
          <a:blip r:embed="rId2">
            <a:alphaModFix/>
          </a:blip>
          <a:srcRect b="19152" l="42816" r="37297" t="18359"/>
          <a:stretch/>
        </p:blipFill>
        <p:spPr>
          <a:xfrm>
            <a:off x="6052536" y="514443"/>
            <a:ext cx="2095112" cy="3703320"/>
          </a:xfrm>
          <a:prstGeom prst="rect">
            <a:avLst/>
          </a:prstGeom>
          <a:noFill/>
          <a:ln>
            <a:noFill/>
          </a:ln>
        </p:spPr>
      </p:pic>
      <p:sp>
        <p:nvSpPr>
          <p:cNvPr id="20" name="Google Shape;20;p3"/>
          <p:cNvSpPr txBox="1"/>
          <p:nvPr>
            <p:ph type="title"/>
          </p:nvPr>
        </p:nvSpPr>
        <p:spPr>
          <a:xfrm>
            <a:off x="70129" y="6703219"/>
            <a:ext cx="15008700" cy="697800"/>
          </a:xfrm>
          <a:prstGeom prst="rect">
            <a:avLst/>
          </a:prstGeom>
          <a:noFill/>
          <a:ln>
            <a:noFill/>
          </a:ln>
        </p:spPr>
        <p:txBody>
          <a:bodyPr anchorCtr="0" anchor="t" bIns="0" lIns="0" spcFirstLastPara="1" rIns="0" wrap="square" tIns="12850">
            <a:noAutofit/>
          </a:bodyPr>
          <a:lstStyle>
            <a:lvl1pPr lvl="0" marR="0" algn="l">
              <a:lnSpc>
                <a:spcPct val="100000"/>
              </a:lnSpc>
              <a:spcBef>
                <a:spcPts val="0"/>
              </a:spcBef>
              <a:spcAft>
                <a:spcPts val="0"/>
              </a:spcAft>
              <a:buSzPts val="2200"/>
              <a:buNone/>
              <a:defRPr b="0" i="0" sz="2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9pPr>
          </a:lstStyle>
          <a:p/>
        </p:txBody>
      </p:sp>
      <p:sp>
        <p:nvSpPr>
          <p:cNvPr id="21" name="Google Shape;21;p3"/>
          <p:cNvSpPr txBox="1"/>
          <p:nvPr/>
        </p:nvSpPr>
        <p:spPr>
          <a:xfrm>
            <a:off x="334565" y="1676232"/>
            <a:ext cx="4372800" cy="17907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chemeClr val="dk1"/>
              </a:buClr>
              <a:buSzPts val="4500"/>
              <a:buFont typeface="Calibri"/>
              <a:buNone/>
            </a:pPr>
            <a:r>
              <a:rPr b="0" i="0" lang="en" sz="3300" u="none" cap="none" strike="noStrike">
                <a:solidFill>
                  <a:schemeClr val="lt1"/>
                </a:solidFill>
                <a:latin typeface="Nunito ExtraBold"/>
                <a:ea typeface="Nunito ExtraBold"/>
                <a:cs typeface="Nunito ExtraBold"/>
                <a:sym typeface="Nunito ExtraBold"/>
              </a:rPr>
              <a:t>Happy Learning !</a:t>
            </a:r>
            <a:endParaRPr b="0" i="0" sz="3300" u="none" cap="none" strike="noStrike">
              <a:solidFill>
                <a:schemeClr val="lt1"/>
              </a:solidFill>
              <a:latin typeface="Nunito ExtraBold"/>
              <a:ea typeface="Nunito ExtraBold"/>
              <a:cs typeface="Nunito ExtraBold"/>
              <a:sym typeface="Nunito ExtraBold"/>
            </a:endParaRPr>
          </a:p>
        </p:txBody>
      </p:sp>
      <p:pic>
        <p:nvPicPr>
          <p:cNvPr id="22" name="Google Shape;22;p3"/>
          <p:cNvPicPr preferRelativeResize="0"/>
          <p:nvPr/>
        </p:nvPicPr>
        <p:blipFill rotWithShape="1">
          <a:blip r:embed="rId3">
            <a:alphaModFix/>
          </a:blip>
          <a:srcRect b="0" l="0" r="0" t="0"/>
          <a:stretch/>
        </p:blipFill>
        <p:spPr>
          <a:xfrm>
            <a:off x="295874" y="683275"/>
            <a:ext cx="3757725" cy="82587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p:txBody>
      </p:sp>
      <p:sp>
        <p:nvSpPr>
          <p:cNvPr id="25" name="Google Shape;25;p4"/>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 name="Shape 26"/>
        <p:cNvGrpSpPr/>
        <p:nvPr/>
      </p:nvGrpSpPr>
      <p:grpSpPr>
        <a:xfrm>
          <a:off x="0" y="0"/>
          <a:ext cx="0" cy="0"/>
          <a:chOff x="0" y="0"/>
          <a:chExt cx="0" cy="0"/>
        </a:xfrm>
      </p:grpSpPr>
      <p:sp>
        <p:nvSpPr>
          <p:cNvPr id="27" name="Google Shape;27;p5"/>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28" name="Google Shape;28;p5"/>
          <p:cNvSpPr txBox="1"/>
          <p:nvPr>
            <p:ph idx="1" type="body"/>
          </p:nvPr>
        </p:nvSpPr>
        <p:spPr>
          <a:xfrm>
            <a:off x="202550" y="861975"/>
            <a:ext cx="8629800" cy="3706800"/>
          </a:xfrm>
          <a:prstGeom prst="rect">
            <a:avLst/>
          </a:prstGeom>
          <a:noFill/>
          <a:ln>
            <a:noFill/>
          </a:ln>
        </p:spPr>
        <p:txBody>
          <a:bodyPr anchorCtr="0" anchor="t" bIns="91425" lIns="91425" spcFirstLastPara="1" rIns="91425" wrap="square" tIns="91425">
            <a:noAutofit/>
          </a:bodyPr>
          <a:lstStyle>
            <a:lvl1pPr indent="-323850" lvl="0" marL="457200" algn="l">
              <a:lnSpc>
                <a:spcPct val="115000"/>
              </a:lnSpc>
              <a:spcBef>
                <a:spcPts val="0"/>
              </a:spcBef>
              <a:spcAft>
                <a:spcPts val="0"/>
              </a:spcAft>
              <a:buSzPts val="1500"/>
              <a:buFont typeface="Nunito"/>
              <a:buChar char="●"/>
              <a:defRPr>
                <a:latin typeface="Nunito"/>
                <a:ea typeface="Nunito"/>
                <a:cs typeface="Nunito"/>
                <a:sym typeface="Nunito"/>
              </a:defRPr>
            </a:lvl1pPr>
            <a:lvl2pPr indent="-311150" lvl="1" marL="914400" algn="l">
              <a:lnSpc>
                <a:spcPct val="115000"/>
              </a:lnSpc>
              <a:spcBef>
                <a:spcPts val="1600"/>
              </a:spcBef>
              <a:spcAft>
                <a:spcPts val="0"/>
              </a:spcAft>
              <a:buSzPts val="1300"/>
              <a:buFont typeface="Nunito"/>
              <a:buChar char="○"/>
              <a:defRPr>
                <a:latin typeface="Nunito"/>
                <a:ea typeface="Nunito"/>
                <a:cs typeface="Nunito"/>
                <a:sym typeface="Nunito"/>
              </a:defRPr>
            </a:lvl2pPr>
            <a:lvl3pPr indent="-304800" lvl="2" marL="1371600" algn="l">
              <a:lnSpc>
                <a:spcPct val="115000"/>
              </a:lnSpc>
              <a:spcBef>
                <a:spcPts val="1600"/>
              </a:spcBef>
              <a:spcAft>
                <a:spcPts val="0"/>
              </a:spcAft>
              <a:buSzPts val="1200"/>
              <a:buFont typeface="Nunito"/>
              <a:buChar char="■"/>
              <a:defRPr>
                <a:latin typeface="Nunito"/>
                <a:ea typeface="Nunito"/>
                <a:cs typeface="Nunito"/>
                <a:sym typeface="Nunito"/>
              </a:defRPr>
            </a:lvl3pPr>
            <a:lvl4pPr indent="-298450" lvl="3" marL="1828800" algn="l">
              <a:lnSpc>
                <a:spcPct val="115000"/>
              </a:lnSpc>
              <a:spcBef>
                <a:spcPts val="1600"/>
              </a:spcBef>
              <a:spcAft>
                <a:spcPts val="0"/>
              </a:spcAft>
              <a:buSzPts val="1100"/>
              <a:buFont typeface="Nunito"/>
              <a:buChar char="●"/>
              <a:defRPr>
                <a:latin typeface="Nunito"/>
                <a:ea typeface="Nunito"/>
                <a:cs typeface="Nunito"/>
                <a:sym typeface="Nunito"/>
              </a:defRPr>
            </a:lvl4pPr>
            <a:lvl5pPr indent="-292100" lvl="4" marL="2286000" algn="l">
              <a:lnSpc>
                <a:spcPct val="115000"/>
              </a:lnSpc>
              <a:spcBef>
                <a:spcPts val="1600"/>
              </a:spcBef>
              <a:spcAft>
                <a:spcPts val="0"/>
              </a:spcAft>
              <a:buSzPts val="1000"/>
              <a:buFont typeface="Nunito"/>
              <a:buChar char="○"/>
              <a:defRPr>
                <a:latin typeface="Nunito"/>
                <a:ea typeface="Nunito"/>
                <a:cs typeface="Nunito"/>
                <a:sym typeface="Nunito"/>
              </a:defRPr>
            </a:lvl5pPr>
            <a:lvl6pPr indent="-285750" lvl="5" marL="2743200" algn="l">
              <a:lnSpc>
                <a:spcPct val="115000"/>
              </a:lnSpc>
              <a:spcBef>
                <a:spcPts val="1600"/>
              </a:spcBef>
              <a:spcAft>
                <a:spcPts val="0"/>
              </a:spcAft>
              <a:buSzPts val="900"/>
              <a:buFont typeface="Nunito"/>
              <a:buChar char="■"/>
              <a:defRPr>
                <a:latin typeface="Nunito"/>
                <a:ea typeface="Nunito"/>
                <a:cs typeface="Nunito"/>
                <a:sym typeface="Nunito"/>
              </a:defRPr>
            </a:lvl6pPr>
            <a:lvl7pPr indent="-279400" lvl="6" marL="3200400" algn="l">
              <a:lnSpc>
                <a:spcPct val="115000"/>
              </a:lnSpc>
              <a:spcBef>
                <a:spcPts val="1600"/>
              </a:spcBef>
              <a:spcAft>
                <a:spcPts val="0"/>
              </a:spcAft>
              <a:buSzPts val="800"/>
              <a:buFont typeface="Nunito"/>
              <a:buChar char="●"/>
              <a:defRPr>
                <a:latin typeface="Nunito"/>
                <a:ea typeface="Nunito"/>
                <a:cs typeface="Nunito"/>
                <a:sym typeface="Nunito"/>
              </a:defRPr>
            </a:lvl7pPr>
            <a:lvl8pPr indent="-273050" lvl="7" marL="3657600" algn="l">
              <a:lnSpc>
                <a:spcPct val="115000"/>
              </a:lnSpc>
              <a:spcBef>
                <a:spcPts val="1600"/>
              </a:spcBef>
              <a:spcAft>
                <a:spcPts val="0"/>
              </a:spcAft>
              <a:buSzPts val="700"/>
              <a:buFont typeface="Nunito"/>
              <a:buChar char="○"/>
              <a:defRPr>
                <a:latin typeface="Nunito"/>
                <a:ea typeface="Nunito"/>
                <a:cs typeface="Nunito"/>
                <a:sym typeface="Nunito"/>
              </a:defRPr>
            </a:lvl8pPr>
            <a:lvl9pPr indent="-266700" lvl="8" marL="4114800" algn="l">
              <a:lnSpc>
                <a:spcPct val="115000"/>
              </a:lnSpc>
              <a:spcBef>
                <a:spcPts val="1600"/>
              </a:spcBef>
              <a:spcAft>
                <a:spcPts val="1600"/>
              </a:spcAft>
              <a:buSzPts val="600"/>
              <a:buFont typeface="Nunito"/>
              <a:buChar char="■"/>
              <a:defRPr>
                <a:latin typeface="Nunito"/>
                <a:ea typeface="Nunito"/>
                <a:cs typeface="Nunito"/>
                <a:sym typeface="Nunito"/>
              </a:defRPr>
            </a:lvl9pPr>
          </a:lstStyle>
          <a:p/>
        </p:txBody>
      </p:sp>
      <p:sp>
        <p:nvSpPr>
          <p:cNvPr id="29" name="Google Shape;29;p5"/>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p:cSld name="CUSTOM">
    <p:spTree>
      <p:nvGrpSpPr>
        <p:cNvPr id="30" name="Shape 30"/>
        <p:cNvGrpSpPr/>
        <p:nvPr/>
      </p:nvGrpSpPr>
      <p:grpSpPr>
        <a:xfrm>
          <a:off x="0" y="0"/>
          <a:ext cx="0" cy="0"/>
          <a:chOff x="0" y="0"/>
          <a:chExt cx="0" cy="0"/>
        </a:xfrm>
      </p:grpSpPr>
      <p:sp>
        <p:nvSpPr>
          <p:cNvPr id="31" name="Google Shape;31;p6"/>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graphicFrame>
        <p:nvGraphicFramePr>
          <p:cNvPr id="32" name="Google Shape;32;p6"/>
          <p:cNvGraphicFramePr/>
          <p:nvPr/>
        </p:nvGraphicFramePr>
        <p:xfrm>
          <a:off x="201942" y="833662"/>
          <a:ext cx="3000000" cy="3000000"/>
        </p:xfrm>
        <a:graphic>
          <a:graphicData uri="http://schemas.openxmlformats.org/drawingml/2006/table">
            <a:tbl>
              <a:tblPr bandRow="1" firstRow="1">
                <a:noFill/>
                <a:tableStyleId>{312A1AB1-4AC2-400F-8BF0-3C675798917D}</a:tableStyleId>
              </a:tblPr>
              <a:tblGrid>
                <a:gridCol w="883125"/>
                <a:gridCol w="3886050"/>
                <a:gridCol w="3886050"/>
              </a:tblGrid>
              <a:tr h="67357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Cluster</a:t>
                      </a:r>
                      <a:endParaRPr sz="14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Cluster Profile </a:t>
                      </a:r>
                      <a:endParaRPr sz="14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Business Insights for Marketing Team</a:t>
                      </a:r>
                      <a:endParaRPr sz="14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7533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1</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High value customers who have many credit cards and prefer to engage online</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Engage Online – Set up priority calling in lines – Upsell and Cross sell premium products</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2</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baseline="30000"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3</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bl>
          </a:graphicData>
        </a:graphic>
      </p:graphicFrame>
      <p:sp>
        <p:nvSpPr>
          <p:cNvPr id="33" name="Google Shape;33;p6"/>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4" name="Shape 34"/>
        <p:cNvGrpSpPr/>
        <p:nvPr/>
      </p:nvGrpSpPr>
      <p:grpSpPr>
        <a:xfrm>
          <a:off x="0" y="0"/>
          <a:ext cx="0" cy="0"/>
          <a:chOff x="0" y="0"/>
          <a:chExt cx="0" cy="0"/>
        </a:xfrm>
      </p:grpSpPr>
      <p:sp>
        <p:nvSpPr>
          <p:cNvPr id="35" name="Google Shape;35;p7"/>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36" name="Google Shape;36;p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7" name="Google Shape;37;p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8" name="Google Shape;38;p7"/>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8"/>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41" name="Google Shape;41;p8"/>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4" name="Google Shape;44;p9"/>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1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8" name="Google Shape;48;p1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9" name="Google Shape;49;p1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23850" lvl="0" marL="457200" algn="l">
              <a:lnSpc>
                <a:spcPct val="115000"/>
              </a:lnSpc>
              <a:spcBef>
                <a:spcPts val="0"/>
              </a:spcBef>
              <a:spcAft>
                <a:spcPts val="0"/>
              </a:spcAft>
              <a:buSzPts val="1500"/>
              <a:buChar char="●"/>
              <a:defRPr/>
            </a:lvl1pPr>
            <a:lvl2pPr indent="-311150" lvl="1" marL="914400" algn="l">
              <a:lnSpc>
                <a:spcPct val="115000"/>
              </a:lnSpc>
              <a:spcBef>
                <a:spcPts val="1600"/>
              </a:spcBef>
              <a:spcAft>
                <a:spcPts val="0"/>
              </a:spcAft>
              <a:buSzPts val="1300"/>
              <a:buChar char="○"/>
              <a:defRPr/>
            </a:lvl2pPr>
            <a:lvl3pPr indent="-304800" lvl="2" marL="1371600" algn="l">
              <a:lnSpc>
                <a:spcPct val="115000"/>
              </a:lnSpc>
              <a:spcBef>
                <a:spcPts val="1600"/>
              </a:spcBef>
              <a:spcAft>
                <a:spcPts val="0"/>
              </a:spcAft>
              <a:buSzPts val="1200"/>
              <a:buChar char="■"/>
              <a:defRPr/>
            </a:lvl3pPr>
            <a:lvl4pPr indent="-298450" lvl="3" marL="1828800" algn="l">
              <a:lnSpc>
                <a:spcPct val="115000"/>
              </a:lnSpc>
              <a:spcBef>
                <a:spcPts val="1600"/>
              </a:spcBef>
              <a:spcAft>
                <a:spcPts val="0"/>
              </a:spcAft>
              <a:buSzPts val="1100"/>
              <a:buChar char="●"/>
              <a:defRPr/>
            </a:lvl4pPr>
            <a:lvl5pPr indent="-292100" lvl="4" marL="2286000" algn="l">
              <a:lnSpc>
                <a:spcPct val="115000"/>
              </a:lnSpc>
              <a:spcBef>
                <a:spcPts val="1600"/>
              </a:spcBef>
              <a:spcAft>
                <a:spcPts val="0"/>
              </a:spcAft>
              <a:buSzPts val="1000"/>
              <a:buChar char="○"/>
              <a:defRPr/>
            </a:lvl5pPr>
            <a:lvl6pPr indent="-285750" lvl="5" marL="2743200" algn="l">
              <a:lnSpc>
                <a:spcPct val="115000"/>
              </a:lnSpc>
              <a:spcBef>
                <a:spcPts val="1600"/>
              </a:spcBef>
              <a:spcAft>
                <a:spcPts val="0"/>
              </a:spcAft>
              <a:buSzPts val="900"/>
              <a:buChar char="■"/>
              <a:defRPr/>
            </a:lvl6pPr>
            <a:lvl7pPr indent="-279400" lvl="6" marL="3200400" algn="l">
              <a:lnSpc>
                <a:spcPct val="115000"/>
              </a:lnSpc>
              <a:spcBef>
                <a:spcPts val="1600"/>
              </a:spcBef>
              <a:spcAft>
                <a:spcPts val="0"/>
              </a:spcAft>
              <a:buSzPts val="800"/>
              <a:buChar char="●"/>
              <a:defRPr/>
            </a:lvl7pPr>
            <a:lvl8pPr indent="-273050" lvl="7" marL="3657600" algn="l">
              <a:lnSpc>
                <a:spcPct val="115000"/>
              </a:lnSpc>
              <a:spcBef>
                <a:spcPts val="1600"/>
              </a:spcBef>
              <a:spcAft>
                <a:spcPts val="0"/>
              </a:spcAft>
              <a:buSzPts val="700"/>
              <a:buChar char="○"/>
              <a:defRPr/>
            </a:lvl8pPr>
            <a:lvl9pPr indent="-266700" lvl="8" marL="4114800" algn="l">
              <a:lnSpc>
                <a:spcPct val="115000"/>
              </a:lnSpc>
              <a:spcBef>
                <a:spcPts val="1600"/>
              </a:spcBef>
              <a:spcAft>
                <a:spcPts val="1600"/>
              </a:spcAft>
              <a:buSzPts val="600"/>
              <a:buChar char="■"/>
              <a:defRPr/>
            </a:lvl9pPr>
          </a:lstStyle>
          <a:p/>
        </p:txBody>
      </p:sp>
      <p:sp>
        <p:nvSpPr>
          <p:cNvPr id="50" name="Google Shape;50;p10"/>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1" name="Shape 51"/>
        <p:cNvGrpSpPr/>
        <p:nvPr/>
      </p:nvGrpSpPr>
      <p:grpSpPr>
        <a:xfrm>
          <a:off x="0" y="0"/>
          <a:ext cx="0" cy="0"/>
          <a:chOff x="0" y="0"/>
          <a:chExt cx="0" cy="0"/>
        </a:xfrm>
      </p:grpSpPr>
      <p:sp>
        <p:nvSpPr>
          <p:cNvPr id="52" name="Google Shape;52;p11"/>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7" name="Shape 57"/>
        <p:cNvGrpSpPr/>
        <p:nvPr/>
      </p:nvGrpSpPr>
      <p:grpSpPr>
        <a:xfrm>
          <a:off x="0" y="0"/>
          <a:ext cx="0" cy="0"/>
          <a:chOff x="0" y="0"/>
          <a:chExt cx="0" cy="0"/>
        </a:xfrm>
      </p:grpSpPr>
      <p:sp>
        <p:nvSpPr>
          <p:cNvPr id="58" name="Google Shape;58;p1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9" name="Google Shape;59;p1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0" name="Google Shape;60;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1" name="Shape 61"/>
        <p:cNvGrpSpPr/>
        <p:nvPr/>
      </p:nvGrpSpPr>
      <p:grpSpPr>
        <a:xfrm>
          <a:off x="0" y="0"/>
          <a:ext cx="0" cy="0"/>
          <a:chOff x="0" y="0"/>
          <a:chExt cx="0" cy="0"/>
        </a:xfrm>
      </p:grpSpPr>
      <p:sp>
        <p:nvSpPr>
          <p:cNvPr id="62" name="Google Shape;62;p1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3" name="Google Shape;63;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4" name="Shape 64"/>
        <p:cNvGrpSpPr/>
        <p:nvPr/>
      </p:nvGrpSpPr>
      <p:grpSpPr>
        <a:xfrm>
          <a:off x="0" y="0"/>
          <a:ext cx="0" cy="0"/>
          <a:chOff x="0" y="0"/>
          <a:chExt cx="0" cy="0"/>
        </a:xfrm>
      </p:grpSpPr>
      <p:sp>
        <p:nvSpPr>
          <p:cNvPr id="65" name="Google Shape;65;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6" name="Google Shape;66;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7" name="Google Shape;67;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8" name="Shape 68"/>
        <p:cNvGrpSpPr/>
        <p:nvPr/>
      </p:nvGrpSpPr>
      <p:grpSpPr>
        <a:xfrm>
          <a:off x="0" y="0"/>
          <a:ext cx="0" cy="0"/>
          <a:chOff x="0" y="0"/>
          <a:chExt cx="0" cy="0"/>
        </a:xfrm>
      </p:grpSpPr>
      <p:sp>
        <p:nvSpPr>
          <p:cNvPr id="69" name="Google Shape;69;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0" name="Google Shape;70;p1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1" name="Google Shape;71;p1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2" name="Google Shape;72;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3" name="Shape 73"/>
        <p:cNvGrpSpPr/>
        <p:nvPr/>
      </p:nvGrpSpPr>
      <p:grpSpPr>
        <a:xfrm>
          <a:off x="0" y="0"/>
          <a:ext cx="0" cy="0"/>
          <a:chOff x="0" y="0"/>
          <a:chExt cx="0" cy="0"/>
        </a:xfrm>
      </p:grpSpPr>
      <p:sp>
        <p:nvSpPr>
          <p:cNvPr id="74" name="Google Shape;74;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5" name="Google Shape;75;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6" name="Shape 76"/>
        <p:cNvGrpSpPr/>
        <p:nvPr/>
      </p:nvGrpSpPr>
      <p:grpSpPr>
        <a:xfrm>
          <a:off x="0" y="0"/>
          <a:ext cx="0" cy="0"/>
          <a:chOff x="0" y="0"/>
          <a:chExt cx="0" cy="0"/>
        </a:xfrm>
      </p:grpSpPr>
      <p:sp>
        <p:nvSpPr>
          <p:cNvPr id="77" name="Google Shape;77;p1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8" name="Google Shape;78;p1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9" name="Google Shape;79;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0" name="Shape 80"/>
        <p:cNvGrpSpPr/>
        <p:nvPr/>
      </p:nvGrpSpPr>
      <p:grpSpPr>
        <a:xfrm>
          <a:off x="0" y="0"/>
          <a:ext cx="0" cy="0"/>
          <a:chOff x="0" y="0"/>
          <a:chExt cx="0" cy="0"/>
        </a:xfrm>
      </p:grpSpPr>
      <p:sp>
        <p:nvSpPr>
          <p:cNvPr id="81" name="Google Shape;81;p1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82" name="Google Shape;82;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3" name="Shape 83"/>
        <p:cNvGrpSpPr/>
        <p:nvPr/>
      </p:nvGrpSpPr>
      <p:grpSpPr>
        <a:xfrm>
          <a:off x="0" y="0"/>
          <a:ext cx="0" cy="0"/>
          <a:chOff x="0" y="0"/>
          <a:chExt cx="0" cy="0"/>
        </a:xfrm>
      </p:grpSpPr>
      <p:sp>
        <p:nvSpPr>
          <p:cNvPr id="84" name="Google Shape;84;p2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2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6" name="Google Shape;86;p2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7" name="Google Shape;87;p2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8" name="Google Shape;88;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9" name="Shape 89"/>
        <p:cNvGrpSpPr/>
        <p:nvPr/>
      </p:nvGrpSpPr>
      <p:grpSpPr>
        <a:xfrm>
          <a:off x="0" y="0"/>
          <a:ext cx="0" cy="0"/>
          <a:chOff x="0" y="0"/>
          <a:chExt cx="0" cy="0"/>
        </a:xfrm>
      </p:grpSpPr>
      <p:sp>
        <p:nvSpPr>
          <p:cNvPr id="90" name="Google Shape;90;p2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91" name="Google Shape;91;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2" name="Shape 92"/>
        <p:cNvGrpSpPr/>
        <p:nvPr/>
      </p:nvGrpSpPr>
      <p:grpSpPr>
        <a:xfrm>
          <a:off x="0" y="0"/>
          <a:ext cx="0" cy="0"/>
          <a:chOff x="0" y="0"/>
          <a:chExt cx="0" cy="0"/>
        </a:xfrm>
      </p:grpSpPr>
      <p:sp>
        <p:nvSpPr>
          <p:cNvPr id="93" name="Google Shape;93;p2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4" name="Google Shape;94;p2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95" name="Google Shape;95;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434343"/>
              </a:buClr>
              <a:buSzPts val="2200"/>
              <a:buFont typeface="Nunito"/>
              <a:buNone/>
              <a:defRPr b="1" i="0" sz="2200" u="none" cap="none" strike="noStrike">
                <a:solidFill>
                  <a:srgbClr val="434343"/>
                </a:solidFill>
                <a:latin typeface="Nunito"/>
                <a:ea typeface="Nunito"/>
                <a:cs typeface="Nunito"/>
                <a:sym typeface="Nunito"/>
              </a:defRPr>
            </a:lvl1pPr>
            <a:lvl2pPr lvl="1" marR="0" rtl="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2pPr>
            <a:lvl3pPr lvl="2" marR="0" rtl="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3pPr>
            <a:lvl4pPr lvl="3" marR="0" rtl="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4pPr>
            <a:lvl5pPr lvl="4" marR="0" rtl="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5pPr>
            <a:lvl6pPr lvl="5" marR="0" rtl="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6pPr>
            <a:lvl7pPr lvl="6" marR="0" rtl="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7pPr>
            <a:lvl8pPr lvl="7" marR="0" rtl="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8pPr>
            <a:lvl9pPr lvl="8" marR="0" rtl="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9pPr>
          </a:lstStyle>
          <a:p/>
        </p:txBody>
      </p:sp>
      <p:sp>
        <p:nvSpPr>
          <p:cNvPr id="7" name="Google Shape;7;p1"/>
          <p:cNvSpPr txBox="1"/>
          <p:nvPr>
            <p:ph idx="1" type="body"/>
          </p:nvPr>
        </p:nvSpPr>
        <p:spPr>
          <a:xfrm>
            <a:off x="311700" y="861075"/>
            <a:ext cx="8520600" cy="3416400"/>
          </a:xfrm>
          <a:prstGeom prst="rect">
            <a:avLst/>
          </a:prstGeom>
          <a:noFill/>
          <a:ln>
            <a:noFill/>
          </a:ln>
        </p:spPr>
        <p:txBody>
          <a:bodyPr anchorCtr="0" anchor="t" bIns="91425" lIns="91425" spcFirstLastPara="1" rIns="91425" wrap="square" tIns="91425">
            <a:noAutofit/>
          </a:bodyPr>
          <a:lstStyle>
            <a:lvl1pPr indent="-323850" lvl="0" marL="457200" marR="0" rtl="0" algn="l">
              <a:lnSpc>
                <a:spcPct val="115000"/>
              </a:lnSpc>
              <a:spcBef>
                <a:spcPts val="0"/>
              </a:spcBef>
              <a:spcAft>
                <a:spcPts val="0"/>
              </a:spcAft>
              <a:buClr>
                <a:schemeClr val="dk2"/>
              </a:buClr>
              <a:buSzPts val="1500"/>
              <a:buFont typeface="Nunito"/>
              <a:buChar char="●"/>
              <a:defRPr b="0" i="0" sz="1500" u="none" cap="none" strike="noStrike">
                <a:solidFill>
                  <a:schemeClr val="dk2"/>
                </a:solidFill>
                <a:latin typeface="Nunito"/>
                <a:ea typeface="Nunito"/>
                <a:cs typeface="Nunito"/>
                <a:sym typeface="Nunito"/>
              </a:defRPr>
            </a:lvl1pPr>
            <a:lvl2pPr indent="-311150" lvl="1" marL="914400" marR="0" rtl="0" algn="l">
              <a:lnSpc>
                <a:spcPct val="115000"/>
              </a:lnSpc>
              <a:spcBef>
                <a:spcPts val="1600"/>
              </a:spcBef>
              <a:spcAft>
                <a:spcPts val="0"/>
              </a:spcAft>
              <a:buClr>
                <a:schemeClr val="dk2"/>
              </a:buClr>
              <a:buSzPts val="1300"/>
              <a:buFont typeface="Nunito"/>
              <a:buChar char="○"/>
              <a:defRPr b="0" i="0" sz="1300" u="none" cap="none" strike="noStrike">
                <a:solidFill>
                  <a:schemeClr val="dk2"/>
                </a:solidFill>
                <a:latin typeface="Nunito"/>
                <a:ea typeface="Nunito"/>
                <a:cs typeface="Nunito"/>
                <a:sym typeface="Nunito"/>
              </a:defRPr>
            </a:lvl2pPr>
            <a:lvl3pPr indent="-304800" lvl="2" marL="1371600" marR="0" rtl="0" algn="l">
              <a:lnSpc>
                <a:spcPct val="115000"/>
              </a:lnSpc>
              <a:spcBef>
                <a:spcPts val="1600"/>
              </a:spcBef>
              <a:spcAft>
                <a:spcPts val="0"/>
              </a:spcAft>
              <a:buClr>
                <a:schemeClr val="dk2"/>
              </a:buClr>
              <a:buSzPts val="1200"/>
              <a:buFont typeface="Nunito"/>
              <a:buChar char="■"/>
              <a:defRPr b="0" i="0" sz="1200" u="none" cap="none" strike="noStrike">
                <a:solidFill>
                  <a:schemeClr val="dk2"/>
                </a:solidFill>
                <a:latin typeface="Nunito"/>
                <a:ea typeface="Nunito"/>
                <a:cs typeface="Nunito"/>
                <a:sym typeface="Nunito"/>
              </a:defRPr>
            </a:lvl3pPr>
            <a:lvl4pPr indent="-298450" lvl="3" marL="1828800" marR="0" rtl="0" algn="l">
              <a:lnSpc>
                <a:spcPct val="115000"/>
              </a:lnSpc>
              <a:spcBef>
                <a:spcPts val="160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4pPr>
            <a:lvl5pPr indent="-292100" lvl="4" marL="2286000" marR="0" rtl="0" algn="l">
              <a:lnSpc>
                <a:spcPct val="115000"/>
              </a:lnSpc>
              <a:spcBef>
                <a:spcPts val="1600"/>
              </a:spcBef>
              <a:spcAft>
                <a:spcPts val="0"/>
              </a:spcAft>
              <a:buClr>
                <a:schemeClr val="dk2"/>
              </a:buClr>
              <a:buSzPts val="1000"/>
              <a:buFont typeface="Nunito"/>
              <a:buChar char="○"/>
              <a:defRPr b="0" i="0" sz="1000" u="none" cap="none" strike="noStrike">
                <a:solidFill>
                  <a:schemeClr val="dk2"/>
                </a:solidFill>
                <a:latin typeface="Nunito"/>
                <a:ea typeface="Nunito"/>
                <a:cs typeface="Nunito"/>
                <a:sym typeface="Nunito"/>
              </a:defRPr>
            </a:lvl5pPr>
            <a:lvl6pPr indent="-285750" lvl="5" marL="2743200" marR="0" rtl="0" algn="l">
              <a:lnSpc>
                <a:spcPct val="115000"/>
              </a:lnSpc>
              <a:spcBef>
                <a:spcPts val="1600"/>
              </a:spcBef>
              <a:spcAft>
                <a:spcPts val="0"/>
              </a:spcAft>
              <a:buClr>
                <a:schemeClr val="dk2"/>
              </a:buClr>
              <a:buSzPts val="900"/>
              <a:buFont typeface="Nunito"/>
              <a:buChar char="■"/>
              <a:defRPr b="0" i="0" sz="900" u="none" cap="none" strike="noStrike">
                <a:solidFill>
                  <a:schemeClr val="dk2"/>
                </a:solidFill>
                <a:latin typeface="Nunito"/>
                <a:ea typeface="Nunito"/>
                <a:cs typeface="Nunito"/>
                <a:sym typeface="Nunito"/>
              </a:defRPr>
            </a:lvl6pPr>
            <a:lvl7pPr indent="-279400" lvl="6" marL="3200400" marR="0" rtl="0" algn="l">
              <a:lnSpc>
                <a:spcPct val="115000"/>
              </a:lnSpc>
              <a:spcBef>
                <a:spcPts val="1600"/>
              </a:spcBef>
              <a:spcAft>
                <a:spcPts val="0"/>
              </a:spcAft>
              <a:buClr>
                <a:schemeClr val="dk2"/>
              </a:buClr>
              <a:buSzPts val="800"/>
              <a:buFont typeface="Nunito"/>
              <a:buChar char="●"/>
              <a:defRPr b="0" i="0" sz="800" u="none" cap="none" strike="noStrike">
                <a:solidFill>
                  <a:schemeClr val="dk2"/>
                </a:solidFill>
                <a:latin typeface="Nunito"/>
                <a:ea typeface="Nunito"/>
                <a:cs typeface="Nunito"/>
                <a:sym typeface="Nunito"/>
              </a:defRPr>
            </a:lvl7pPr>
            <a:lvl8pPr indent="-273050" lvl="7" marL="3657600" marR="0" rtl="0" algn="l">
              <a:lnSpc>
                <a:spcPct val="115000"/>
              </a:lnSpc>
              <a:spcBef>
                <a:spcPts val="1600"/>
              </a:spcBef>
              <a:spcAft>
                <a:spcPts val="0"/>
              </a:spcAft>
              <a:buClr>
                <a:schemeClr val="dk2"/>
              </a:buClr>
              <a:buSzPts val="700"/>
              <a:buFont typeface="Nunito"/>
              <a:buChar char="○"/>
              <a:defRPr b="0" i="0" sz="700" u="none" cap="none" strike="noStrike">
                <a:solidFill>
                  <a:schemeClr val="dk2"/>
                </a:solidFill>
                <a:latin typeface="Nunito"/>
                <a:ea typeface="Nunito"/>
                <a:cs typeface="Nunito"/>
                <a:sym typeface="Nunito"/>
              </a:defRPr>
            </a:lvl8pPr>
            <a:lvl9pPr indent="-266700" lvl="8" marL="4114800" marR="0" rtl="0" algn="l">
              <a:lnSpc>
                <a:spcPct val="115000"/>
              </a:lnSpc>
              <a:spcBef>
                <a:spcPts val="1600"/>
              </a:spcBef>
              <a:spcAft>
                <a:spcPts val="1600"/>
              </a:spcAft>
              <a:buClr>
                <a:schemeClr val="dk2"/>
              </a:buClr>
              <a:buSzPts val="600"/>
              <a:buFont typeface="Nunito"/>
              <a:buChar char="■"/>
              <a:defRPr b="0" i="0" sz="600" u="none" cap="none" strike="noStrike">
                <a:solidFill>
                  <a:schemeClr val="dk2"/>
                </a:solidFill>
                <a:latin typeface="Nunito"/>
                <a:ea typeface="Nunito"/>
                <a:cs typeface="Nunito"/>
                <a:sym typeface="Nunito"/>
              </a:defRPr>
            </a:lvl9pPr>
          </a:lstStyle>
          <a:p/>
        </p:txBody>
      </p:sp>
      <p:sp>
        <p:nvSpPr>
          <p:cNvPr id="8" name="Google Shape;8;p1"/>
          <p:cNvSpPr txBox="1"/>
          <p:nvPr/>
        </p:nvSpPr>
        <p:spPr>
          <a:xfrm>
            <a:off x="2234400" y="4917657"/>
            <a:ext cx="4675200" cy="275700"/>
          </a:xfrm>
          <a:prstGeom prst="rect">
            <a:avLst/>
          </a:prstGeom>
          <a:noFill/>
          <a:ln>
            <a:noFill/>
          </a:ln>
        </p:spPr>
        <p:txBody>
          <a:bodyPr anchorCtr="0" anchor="t" bIns="91425" lIns="91425" spcFirstLastPara="1" rIns="91425" wrap="square" tIns="91425">
            <a:noAutofit/>
          </a:bodyPr>
          <a:lstStyle/>
          <a:p>
            <a:pPr indent="0" lvl="0" marL="12700" marR="0" rtl="0" algn="ctr">
              <a:lnSpc>
                <a:spcPct val="102500"/>
              </a:lnSpc>
              <a:spcBef>
                <a:spcPts val="0"/>
              </a:spcBef>
              <a:spcAft>
                <a:spcPts val="0"/>
              </a:spcAft>
              <a:buClr>
                <a:srgbClr val="000000"/>
              </a:buClr>
              <a:buSzPts val="700"/>
              <a:buFont typeface="Arial"/>
              <a:buNone/>
            </a:pPr>
            <a:r>
              <a:rPr b="1" i="0" lang="en" sz="700" u="none" cap="none" strike="noStrike">
                <a:solidFill>
                  <a:srgbClr val="434343"/>
                </a:solidFill>
                <a:latin typeface="Nunito"/>
                <a:ea typeface="Nunito"/>
                <a:cs typeface="Nunito"/>
                <a:sym typeface="Nunito"/>
              </a:rPr>
              <a:t>Proprietary content. © Great Learning. All Rights Reserved. Unauthorized use or distribution prohibited.</a:t>
            </a:r>
            <a:endParaRPr b="1" i="0" sz="700" u="none" cap="none" strike="noStrike">
              <a:solidFill>
                <a:srgbClr val="434343"/>
              </a:solidFill>
              <a:latin typeface="Nunito"/>
              <a:ea typeface="Nunito"/>
              <a:cs typeface="Nunito"/>
              <a:sym typeface="Nunito"/>
            </a:endParaRPr>
          </a:p>
        </p:txBody>
      </p:sp>
      <p:sp>
        <p:nvSpPr>
          <p:cNvPr id="9" name="Google Shape;9;p1"/>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pic>
        <p:nvPicPr>
          <p:cNvPr id="10" name="Google Shape;10;p1"/>
          <p:cNvPicPr preferRelativeResize="0"/>
          <p:nvPr/>
        </p:nvPicPr>
        <p:blipFill rotWithShape="1">
          <a:blip r:embed="rId1">
            <a:alphaModFix/>
          </a:blip>
          <a:srcRect b="0" l="0" r="0" t="0"/>
          <a:stretch/>
        </p:blipFill>
        <p:spPr>
          <a:xfrm>
            <a:off x="7669500" y="68264"/>
            <a:ext cx="1395476" cy="572701"/>
          </a:xfrm>
          <a:prstGeom prst="rect">
            <a:avLst/>
          </a:prstGeom>
          <a:noFill/>
          <a:ln>
            <a:noFill/>
          </a:ln>
        </p:spPr>
      </p:pic>
      <p:grpSp>
        <p:nvGrpSpPr>
          <p:cNvPr id="11" name="Google Shape;11;p1"/>
          <p:cNvGrpSpPr/>
          <p:nvPr/>
        </p:nvGrpSpPr>
        <p:grpSpPr>
          <a:xfrm>
            <a:off x="6593" y="10"/>
            <a:ext cx="175500" cy="709221"/>
            <a:chOff x="6593" y="10"/>
            <a:chExt cx="175500" cy="709221"/>
          </a:xfrm>
        </p:grpSpPr>
        <p:sp>
          <p:nvSpPr>
            <p:cNvPr id="12" name="Google Shape;12;p1"/>
            <p:cNvSpPr/>
            <p:nvPr/>
          </p:nvSpPr>
          <p:spPr>
            <a:xfrm>
              <a:off x="6593" y="10"/>
              <a:ext cx="175500" cy="355500"/>
            </a:xfrm>
            <a:prstGeom prst="rect">
              <a:avLst/>
            </a:prstGeom>
            <a:solidFill>
              <a:srgbClr val="0E39A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1"/>
            <p:cNvSpPr/>
            <p:nvPr/>
          </p:nvSpPr>
          <p:spPr>
            <a:xfrm>
              <a:off x="6593" y="353731"/>
              <a:ext cx="175500" cy="355500"/>
            </a:xfrm>
            <a:prstGeom prst="rect">
              <a:avLst/>
            </a:prstGeom>
            <a:solidFill>
              <a:srgbClr val="1974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3" name="Shape 53"/>
        <p:cNvGrpSpPr/>
        <p:nvPr/>
      </p:nvGrpSpPr>
      <p:grpSpPr>
        <a:xfrm>
          <a:off x="0" y="0"/>
          <a:ext cx="0" cy="0"/>
          <a:chOff x="0" y="0"/>
          <a:chExt cx="0" cy="0"/>
        </a:xfrm>
      </p:grpSpPr>
      <p:sp>
        <p:nvSpPr>
          <p:cNvPr id="54" name="Google Shape;54;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5" name="Google Shape;55;p1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6" name="Google Shape;56;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jpg"/><Relationship Id="rId4" Type="http://schemas.openxmlformats.org/officeDocument/2006/relationships/image" Target="../media/image8.jpg"/><Relationship Id="rId5" Type="http://schemas.openxmlformats.org/officeDocument/2006/relationships/image" Target="../media/image9.jpg"/><Relationship Id="rId6" Type="http://schemas.openxmlformats.org/officeDocument/2006/relationships/image" Target="../media/image6.jpg"/><Relationship Id="rId7"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chart" Target="../charts/char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4"/>
          <p:cNvSpPr txBox="1"/>
          <p:nvPr/>
        </p:nvSpPr>
        <p:spPr>
          <a:xfrm>
            <a:off x="1158150" y="502920"/>
            <a:ext cx="7589520" cy="5817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dk1"/>
              </a:buClr>
              <a:buSzPts val="3600"/>
              <a:buFont typeface="Arial"/>
              <a:buNone/>
            </a:pPr>
            <a:r>
              <a:rPr b="1" i="0" lang="en" sz="3000" u="none" cap="none" strike="noStrike">
                <a:solidFill>
                  <a:srgbClr val="0E39A9"/>
                </a:solidFill>
                <a:latin typeface="Nunito"/>
                <a:ea typeface="Nunito"/>
                <a:cs typeface="Nunito"/>
                <a:sym typeface="Nunito"/>
              </a:rPr>
              <a:t>Predicting Wellness Package Buyers</a:t>
            </a:r>
            <a:endParaRPr b="1" i="0" sz="3600" u="none" cap="none" strike="noStrike">
              <a:solidFill>
                <a:srgbClr val="0E39A9"/>
              </a:solidFill>
              <a:latin typeface="Nunito"/>
              <a:ea typeface="Nunito"/>
              <a:cs typeface="Nunito"/>
              <a:sym typeface="Nunito"/>
            </a:endParaRPr>
          </a:p>
        </p:txBody>
      </p:sp>
      <p:sp>
        <p:nvSpPr>
          <p:cNvPr id="103" name="Google Shape;103;p24"/>
          <p:cNvSpPr txBox="1"/>
          <p:nvPr/>
        </p:nvSpPr>
        <p:spPr>
          <a:xfrm>
            <a:off x="1153000" y="1188720"/>
            <a:ext cx="7589520" cy="4983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n" sz="1600" u="none" cap="none" strike="noStrike">
                <a:solidFill>
                  <a:srgbClr val="0E39A9"/>
                </a:solidFill>
                <a:latin typeface="Nunito"/>
                <a:ea typeface="Nunito"/>
                <a:cs typeface="Nunito"/>
                <a:sym typeface="Nunito"/>
              </a:rPr>
              <a:t>MLOps pipeline on GitHub Actions · Advanced Machine Learning and MLOps</a:t>
            </a:r>
            <a:endParaRPr b="0" i="0" sz="3000" u="none" cap="none" strike="noStrike">
              <a:solidFill>
                <a:srgbClr val="0E39A9"/>
              </a:solidFill>
              <a:latin typeface="Nunito"/>
              <a:ea typeface="Nunito"/>
              <a:cs typeface="Nunito"/>
              <a:sym typeface="Nunito"/>
            </a:endParaRPr>
          </a:p>
        </p:txBody>
      </p:sp>
      <p:sp>
        <p:nvSpPr>
          <p:cNvPr id="104" name="Google Shape;104;p24"/>
          <p:cNvSpPr txBox="1"/>
          <p:nvPr/>
        </p:nvSpPr>
        <p:spPr>
          <a:xfrm>
            <a:off x="1153000" y="1645920"/>
            <a:ext cx="7589520" cy="4983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300" u="none" cap="none" strike="noStrike">
                <a:solidFill>
                  <a:srgbClr val="0E39A9"/>
                </a:solidFill>
                <a:latin typeface="Nunito"/>
                <a:ea typeface="Nunito"/>
                <a:cs typeface="Nunito"/>
                <a:sym typeface="Nunito"/>
              </a:rPr>
              <a:t>Deakin Applied AI Master Bridge Program · Mohammad Alrashed · 23 October 2026 · v1.2</a:t>
            </a:r>
            <a:endParaRPr b="0" i="0" sz="1600" u="none" cap="none" strike="noStrike">
              <a:solidFill>
                <a:srgbClr val="0E39A9"/>
              </a:solidFill>
              <a:latin typeface="Nunito"/>
              <a:ea typeface="Nunito"/>
              <a:cs typeface="Nunito"/>
              <a:sym typeface="Nunito"/>
            </a:endParaRPr>
          </a:p>
        </p:txBody>
      </p:sp>
      <p:pic>
        <p:nvPicPr>
          <p:cNvPr id="105" name="Picture 104" descr="hero.png"/>
          <p:cNvPicPr>
            <a:picLocks noChangeAspect="1"/>
          </p:cNvPicPr>
          <p:nvPr/>
        </p:nvPicPr>
        <p:blipFill>
          <a:blip r:embed="rId3"/>
          <a:stretch>
            <a:fillRect/>
          </a:stretch>
        </p:blipFill>
        <p:spPr>
          <a:xfrm>
            <a:off x="548640" y="2331720"/>
            <a:ext cx="8046720" cy="1743456"/>
          </a:xfrm>
          <a:prstGeom prst="rect">
            <a:avLst/>
          </a:prstGeom>
        </p:spPr>
      </p:pic>
      <p:sp>
        <p:nvSpPr>
          <p:cNvPr id="106" name="TextBox 105"/>
          <p:cNvSpPr txBox="1"/>
          <p:nvPr/>
        </p:nvSpPr>
        <p:spPr>
          <a:xfrm>
            <a:off x="822960" y="2788920"/>
            <a:ext cx="5029200" cy="1097280"/>
          </a:xfrm>
          <a:prstGeom prst="rect">
            <a:avLst/>
          </a:prstGeom>
          <a:noFill/>
        </p:spPr>
        <p:txBody>
          <a:bodyPr wrap="square" anchor="t" lIns="45720" rIns="45720">
            <a:spAutoFit/>
          </a:bodyPr>
          <a:lstStyle/>
          <a:p>
            <a:pPr algn="l"/>
            <a:r>
              <a:rPr sz="2000" b="1">
                <a:solidFill>
                  <a:srgbClr val="FFFFFF"/>
                </a:solidFill>
                <a:latin typeface="Nunito"/>
              </a:rPr>
              <a:t>Who will book the Wellness Retreat?</a:t>
            </a:r>
          </a:p>
          <a:p>
            <a:pPr algn="l"/>
            <a:r>
              <a:rPr sz="1100" b="0">
                <a:solidFill>
                  <a:srgbClr val="FFFFFF"/>
                </a:solidFill>
                <a:latin typeface="Nunito"/>
              </a:rPr>
              <a:t>Live on Streamlit Community Cloud and Hugging Face · retrained by GitHub Actions</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5"/>
          <p:cNvSpPr txBox="1"/>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rgbClr val="000000"/>
                </a:solidFill>
                <a:latin typeface="Nunito"/>
                <a:ea typeface="Nunito"/>
                <a:cs typeface="Nunito"/>
                <a:sym typeface="Nunito"/>
              </a:rPr>
              <a:t>Contents / Agenda</a:t>
            </a:r>
            <a:endParaRPr b="1" i="0" sz="2200" u="none" cap="none" strike="noStrike">
              <a:solidFill>
                <a:srgbClr val="000000"/>
              </a:solidFill>
              <a:latin typeface="Nunito"/>
              <a:ea typeface="Nunito"/>
              <a:cs typeface="Nunito"/>
              <a:sym typeface="Nunito"/>
            </a:endParaRPr>
          </a:p>
        </p:txBody>
      </p:sp>
      <p:sp>
        <p:nvSpPr>
          <p:cNvPr id="110" name="Google Shape;110;p25"/>
          <p:cNvSpPr txBox="1"/>
          <p:nvPr/>
        </p:nvSpPr>
        <p:spPr>
          <a:xfrm>
            <a:off x="202550" y="861975"/>
            <a:ext cx="8629800" cy="37068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15000"/>
              </a:lnSpc>
              <a:spcBef>
                <a:spcPts val="1000"/>
              </a:spcBef>
              <a:spcAft>
                <a:spcPts val="0"/>
              </a:spcAft>
              <a:buClr>
                <a:srgbClr val="000000"/>
              </a:buClr>
              <a:buSzPts val="1600"/>
              <a:buFont typeface="Nunito"/>
              <a:buChar char="●"/>
            </a:pPr>
            <a:r>
              <a:rPr b="0" i="0" lang="en" sz="1600" u="none" cap="none" strike="noStrike">
                <a:solidFill>
                  <a:srgbClr val="000000"/>
                </a:solidFill>
                <a:latin typeface="Nunito"/>
                <a:ea typeface="Nunito"/>
                <a:cs typeface="Nunito"/>
                <a:sym typeface="Nunito"/>
              </a:rPr>
              <a:t>Executive Summary</a:t>
            </a:r>
            <a:endParaRPr b="0" i="0" sz="1600" u="none" cap="none" strike="noStrike">
              <a:solidFill>
                <a:srgbClr val="000000"/>
              </a:solidFill>
              <a:latin typeface="Nunito"/>
              <a:ea typeface="Nunito"/>
              <a:cs typeface="Nunito"/>
              <a:sym typeface="Nunito"/>
            </a:endParaRPr>
          </a:p>
          <a:p>
            <a:pPr indent="-330200" lvl="0" marL="457200" marR="0" rtl="0" algn="l">
              <a:lnSpc>
                <a:spcPct val="115000"/>
              </a:lnSpc>
              <a:spcBef>
                <a:spcPts val="1000"/>
              </a:spcBef>
              <a:spcAft>
                <a:spcPts val="0"/>
              </a:spcAft>
              <a:buClr>
                <a:srgbClr val="000000"/>
              </a:buClr>
              <a:buSzPts val="1600"/>
              <a:buFont typeface="Nunito"/>
              <a:buChar char="●"/>
            </a:pPr>
            <a:r>
              <a:rPr b="0" i="0" lang="en" sz="1600" u="none" cap="none" strike="noStrike">
                <a:solidFill>
                  <a:srgbClr val="000000"/>
                </a:solidFill>
                <a:latin typeface="Nunito"/>
                <a:ea typeface="Nunito"/>
                <a:cs typeface="Nunito"/>
                <a:sym typeface="Nunito"/>
              </a:rPr>
              <a:t>Data Registration</a:t>
            </a:r>
            <a:endParaRPr b="0" i="0" sz="1600" u="none" cap="none" strike="noStrike">
              <a:solidFill>
                <a:srgbClr val="000000"/>
              </a:solidFill>
              <a:latin typeface="Nunito"/>
              <a:ea typeface="Nunito"/>
              <a:cs typeface="Nunito"/>
              <a:sym typeface="Nunito"/>
            </a:endParaRPr>
          </a:p>
          <a:p>
            <a:pPr indent="-330200" lvl="0" marL="457200" marR="0" rtl="0" algn="l">
              <a:lnSpc>
                <a:spcPct val="115000"/>
              </a:lnSpc>
              <a:spcBef>
                <a:spcPts val="1000"/>
              </a:spcBef>
              <a:spcAft>
                <a:spcPts val="0"/>
              </a:spcAft>
              <a:buClr>
                <a:srgbClr val="000000"/>
              </a:buClr>
              <a:buSzPts val="1600"/>
              <a:buFont typeface="Nunito"/>
              <a:buChar char="●"/>
            </a:pPr>
            <a:r>
              <a:rPr b="0" i="0" lang="en" sz="1600" u="none" cap="none" strike="noStrike">
                <a:solidFill>
                  <a:srgbClr val="000000"/>
                </a:solidFill>
                <a:latin typeface="Nunito"/>
                <a:ea typeface="Nunito"/>
                <a:cs typeface="Nunito"/>
                <a:sym typeface="Nunito"/>
              </a:rPr>
              <a:t>Data Preparation</a:t>
            </a:r>
            <a:endParaRPr b="0" i="0" sz="1600" u="none" cap="none" strike="noStrike">
              <a:solidFill>
                <a:srgbClr val="000000"/>
              </a:solidFill>
              <a:latin typeface="Nunito"/>
              <a:ea typeface="Nunito"/>
              <a:cs typeface="Nunito"/>
              <a:sym typeface="Nunito"/>
            </a:endParaRPr>
          </a:p>
          <a:p>
            <a:pPr indent="-330200" lvl="0" marL="457200" marR="0" rtl="0" algn="l">
              <a:lnSpc>
                <a:spcPct val="115000"/>
              </a:lnSpc>
              <a:spcBef>
                <a:spcPts val="1000"/>
              </a:spcBef>
              <a:spcAft>
                <a:spcPts val="0"/>
              </a:spcAft>
              <a:buClr>
                <a:srgbClr val="000000"/>
              </a:buClr>
              <a:buSzPts val="1600"/>
              <a:buFont typeface="Nunito"/>
              <a:buChar char="●"/>
            </a:pPr>
            <a:r>
              <a:rPr b="0" i="0" lang="en" sz="1600" u="none" cap="none" strike="noStrike">
                <a:solidFill>
                  <a:srgbClr val="000000"/>
                </a:solidFill>
                <a:latin typeface="Nunito"/>
                <a:ea typeface="Nunito"/>
                <a:cs typeface="Nunito"/>
                <a:sym typeface="Nunito"/>
              </a:rPr>
              <a:t>Model Building with Experimentation Tracking</a:t>
            </a:r>
            <a:endParaRPr b="0" i="0" sz="1600" u="none" cap="none" strike="noStrike">
              <a:solidFill>
                <a:srgbClr val="000000"/>
              </a:solidFill>
              <a:latin typeface="Nunito"/>
              <a:ea typeface="Nunito"/>
              <a:cs typeface="Nunito"/>
              <a:sym typeface="Nunito"/>
            </a:endParaRPr>
          </a:p>
          <a:p>
            <a:pPr indent="-330200" lvl="0" marL="457200" marR="0" rtl="0" algn="l">
              <a:lnSpc>
                <a:spcPct val="115000"/>
              </a:lnSpc>
              <a:spcBef>
                <a:spcPts val="1000"/>
              </a:spcBef>
              <a:spcAft>
                <a:spcPts val="0"/>
              </a:spcAft>
              <a:buClr>
                <a:srgbClr val="000000"/>
              </a:buClr>
              <a:buSzPts val="1600"/>
              <a:buFont typeface="Nunito"/>
              <a:buChar char="●"/>
            </a:pPr>
            <a:r>
              <a:rPr b="0" i="0" lang="en" sz="1600" u="none" cap="none" strike="noStrike">
                <a:solidFill>
                  <a:srgbClr val="000000"/>
                </a:solidFill>
                <a:latin typeface="Nunito"/>
                <a:ea typeface="Nunito"/>
                <a:cs typeface="Nunito"/>
                <a:sym typeface="Nunito"/>
              </a:rPr>
              <a:t>Model Deployment</a:t>
            </a:r>
            <a:endParaRPr b="0" i="0" sz="1600" u="none" cap="none" strike="noStrike">
              <a:solidFill>
                <a:srgbClr val="000000"/>
              </a:solidFill>
              <a:latin typeface="Nunito"/>
              <a:ea typeface="Nunito"/>
              <a:cs typeface="Nunito"/>
              <a:sym typeface="Nunito"/>
            </a:endParaRPr>
          </a:p>
          <a:p>
            <a:pPr indent="-330200" lvl="0" marL="457200" marR="0" rtl="0" algn="l">
              <a:lnSpc>
                <a:spcPct val="115000"/>
              </a:lnSpc>
              <a:spcBef>
                <a:spcPts val="1000"/>
              </a:spcBef>
              <a:spcAft>
                <a:spcPts val="0"/>
              </a:spcAft>
              <a:buClr>
                <a:srgbClr val="000000"/>
              </a:buClr>
              <a:buSzPts val="1600"/>
              <a:buFont typeface="Nunito"/>
              <a:buChar char="●"/>
            </a:pPr>
            <a:r>
              <a:rPr b="0" i="0" lang="en" sz="1600" u="none" cap="none" strike="noStrike">
                <a:solidFill>
                  <a:srgbClr val="000000"/>
                </a:solidFill>
                <a:latin typeface="Nunito"/>
                <a:ea typeface="Nunito"/>
                <a:cs typeface="Nunito"/>
                <a:sym typeface="Nunito"/>
              </a:rPr>
              <a:t>Automated GitHub Actions Workflow</a:t>
            </a:r>
            <a:endParaRPr b="0" i="0" sz="1600" u="none" cap="none" strike="noStrike">
              <a:solidFill>
                <a:srgbClr val="000000"/>
              </a:solidFill>
              <a:latin typeface="Nunito"/>
              <a:ea typeface="Nunito"/>
              <a:cs typeface="Nunito"/>
              <a:sym typeface="Nunito"/>
            </a:endParaRPr>
          </a:p>
          <a:p>
            <a:pPr indent="-330200" lvl="0" marL="457200" marR="0" rtl="0" algn="l">
              <a:lnSpc>
                <a:spcPct val="115000"/>
              </a:lnSpc>
              <a:spcBef>
                <a:spcPts val="1000"/>
              </a:spcBef>
              <a:spcAft>
                <a:spcPts val="0"/>
              </a:spcAft>
              <a:buClr>
                <a:srgbClr val="000000"/>
              </a:buClr>
              <a:buSzPts val="1600"/>
              <a:buFont typeface="Nunito"/>
              <a:buChar char="●"/>
            </a:pPr>
            <a:r>
              <a:rPr b="0" i="0" lang="en" sz="1600" u="none" cap="none" strike="noStrike">
                <a:solidFill>
                  <a:srgbClr val="000000"/>
                </a:solidFill>
                <a:latin typeface="Nunito"/>
                <a:ea typeface="Nunito"/>
                <a:cs typeface="Nunito"/>
                <a:sym typeface="Nunito"/>
              </a:rPr>
              <a:t>Output Evaluation</a:t>
            </a:r>
            <a:endParaRPr b="0" i="0" sz="1600" u="none" cap="none" strike="noStrike">
              <a:solidFill>
                <a:srgbClr val="000000"/>
              </a:solidFill>
              <a:latin typeface="Nunito"/>
              <a:ea typeface="Nunito"/>
              <a:cs typeface="Nunito"/>
              <a:sym typeface="Nunito"/>
            </a:endParaRPr>
          </a:p>
          <a:p>
            <a:pPr indent="-330200" lvl="0" marL="457200" marR="0" rtl="0" algn="l">
              <a:lnSpc>
                <a:spcPct val="115000"/>
              </a:lnSpc>
              <a:spcBef>
                <a:spcPts val="1000"/>
              </a:spcBef>
              <a:spcAft>
                <a:spcPts val="1000"/>
              </a:spcAft>
              <a:buClr>
                <a:srgbClr val="000000"/>
              </a:buClr>
              <a:buSzPts val="1600"/>
              <a:buFont typeface="Nunito"/>
              <a:buChar char="●"/>
            </a:pPr>
            <a:r>
              <a:rPr b="0" i="0" lang="en" sz="1600" u="none" cap="none" strike="noStrike">
                <a:solidFill>
                  <a:srgbClr val="000000"/>
                </a:solidFill>
                <a:latin typeface="Nunito"/>
                <a:ea typeface="Nunito"/>
                <a:cs typeface="Nunito"/>
                <a:sym typeface="Nunito"/>
              </a:rPr>
              <a:t>Appendix</a:t>
            </a:r>
            <a:endParaRPr b="0" i="0" sz="1600" u="none" cap="none" strike="noStrike">
              <a:solidFill>
                <a:srgbClr val="000000"/>
              </a:solidFill>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6"/>
          <p:cNvSpPr txBox="1"/>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rgbClr val="000000"/>
                </a:solidFill>
                <a:latin typeface="Nunito"/>
                <a:ea typeface="Nunito"/>
                <a:cs typeface="Nunito"/>
                <a:sym typeface="Nunito"/>
              </a:rPr>
              <a:t>Executive Summary </a:t>
            </a:r>
            <a:endParaRPr b="1" i="0" sz="2200" u="none" cap="none" strike="noStrike">
              <a:solidFill>
                <a:srgbClr val="000000"/>
              </a:solidFill>
              <a:latin typeface="Nunito"/>
              <a:ea typeface="Nunito"/>
              <a:cs typeface="Nunito"/>
              <a:sym typeface="Nunito"/>
            </a:endParaRPr>
          </a:p>
        </p:txBody>
      </p:sp>
      <p:sp>
        <p:nvSpPr>
          <p:cNvPr id="116" name="Google Shape;116;p26"/>
          <p:cNvSpPr txBox="1"/>
          <p:nvPr/>
        </p:nvSpPr>
        <p:spPr>
          <a:xfrm>
            <a:off x="202550" y="861975"/>
            <a:ext cx="5440680" cy="37068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00000"/>
              </a:lnSpc>
              <a:spcBef>
                <a:spcPts val="300"/>
              </a:spcBef>
              <a:spcAft>
                <a:spcPts val="300"/>
              </a:spcAft>
              <a:buClr>
                <a:srgbClr val="000000"/>
              </a:buClr>
              <a:buSzPts val="1200"/>
              <a:buFont typeface="Nunito"/>
              <a:buChar char="●"/>
            </a:pPr>
            <a:r>
              <a:rPr b="1" i="0" lang="en" sz="1200" u="none" cap="none" strike="noStrike">
                <a:solidFill>
                  <a:srgbClr val="000000"/>
                </a:solidFill>
                <a:latin typeface="Nunito"/>
                <a:ea typeface="Nunito"/>
                <a:cs typeface="Nunito"/>
                <a:sym typeface="Nunito"/>
              </a:rPr>
              <a:t>Problem</a:t>
            </a:r>
            <a:r>
              <a:rPr b="0" i="0" lang="en" sz="1200" u="none" cap="none" strike="noStrike">
                <a:solidFill>
                  <a:srgbClr val="000000"/>
                </a:solidFill>
                <a:latin typeface="Nunito"/>
                <a:ea typeface="Nunito"/>
                <a:cs typeface="Nunito"/>
                <a:sym typeface="Nunito"/>
              </a:rPr>
              <a:t>: “Visit with Us” picks customers to call by hand. Only 19% of contacted customers bought a package.</a:t>
            </a:r>
            <a:endParaRPr b="0" i="0" sz="1200" u="none" cap="none" strike="noStrike">
              <a:solidFill>
                <a:srgbClr val="000000"/>
              </a:solidFill>
              <a:latin typeface="Nunito"/>
              <a:ea typeface="Nunito"/>
              <a:cs typeface="Nunito"/>
              <a:sym typeface="Nunito"/>
            </a:endParaRPr>
          </a:p>
          <a:p>
            <a:pPr indent="-330200" lvl="0" marL="457200" marR="0" rtl="0" algn="l">
              <a:lnSpc>
                <a:spcPct val="100000"/>
              </a:lnSpc>
              <a:spcBef>
                <a:spcPts val="300"/>
              </a:spcBef>
              <a:spcAft>
                <a:spcPts val="300"/>
              </a:spcAft>
              <a:buClr>
                <a:srgbClr val="000000"/>
              </a:buClr>
              <a:buSzPts val="1200"/>
              <a:buFont typeface="Nunito"/>
              <a:buChar char="●"/>
            </a:pPr>
            <a:r>
              <a:rPr b="1" i="0" lang="en" sz="1200" u="none" cap="none" strike="noStrike">
                <a:solidFill>
                  <a:srgbClr val="000000"/>
                </a:solidFill>
                <a:latin typeface="Nunito"/>
                <a:ea typeface="Nunito"/>
                <a:cs typeface="Nunito"/>
                <a:sym typeface="Nunito"/>
              </a:rPr>
              <a:t>Solution</a:t>
            </a:r>
            <a:r>
              <a:rPr b="0" i="0" lang="en" sz="1200" u="none" cap="none" strike="noStrike">
                <a:solidFill>
                  <a:srgbClr val="000000"/>
                </a:solidFill>
                <a:latin typeface="Nunito"/>
                <a:ea typeface="Nunito"/>
                <a:cs typeface="Nunito"/>
                <a:sym typeface="Nunito"/>
              </a:rPr>
              <a:t>: an XGBoost model scores each customer’s chance to buy. GitHub Actions retrains it on every push and commits the new model. Two live apps serve it (Streamlit Community Cloud and Hugging Face), kept awake by a scheduled job.</a:t>
            </a:r>
            <a:endParaRPr b="0" i="0" sz="1200" u="none" cap="none" strike="noStrike">
              <a:solidFill>
                <a:srgbClr val="000000"/>
              </a:solidFill>
              <a:latin typeface="Nunito"/>
              <a:ea typeface="Nunito"/>
              <a:cs typeface="Nunito"/>
              <a:sym typeface="Nunito"/>
            </a:endParaRPr>
          </a:p>
          <a:p>
            <a:pPr indent="-330200" lvl="0" marL="457200" marR="0" rtl="0" algn="l">
              <a:lnSpc>
                <a:spcPct val="100000"/>
              </a:lnSpc>
              <a:spcBef>
                <a:spcPts val="300"/>
              </a:spcBef>
              <a:spcAft>
                <a:spcPts val="300"/>
              </a:spcAft>
              <a:buClr>
                <a:srgbClr val="000000"/>
              </a:buClr>
              <a:buSzPts val="1200"/>
              <a:buFont typeface="Nunito"/>
              <a:buChar char="●"/>
            </a:pPr>
            <a:r>
              <a:rPr b="1" i="0" lang="en" sz="1200" u="none" cap="none" strike="noStrike">
                <a:solidFill>
                  <a:srgbClr val="000000"/>
                </a:solidFill>
                <a:latin typeface="Nunito"/>
                <a:ea typeface="Nunito"/>
                <a:cs typeface="Nunito"/>
                <a:sym typeface="Nunito"/>
              </a:rPr>
              <a:t>Result</a:t>
            </a:r>
            <a:r>
              <a:rPr b="0" i="0" lang="en" sz="1200" u="none" cap="none" strike="noStrike">
                <a:solidFill>
                  <a:srgbClr val="000000"/>
                </a:solidFill>
                <a:latin typeface="Nunito"/>
                <a:ea typeface="Nunito"/>
                <a:cs typeface="Nunito"/>
                <a:sym typeface="Nunito"/>
              </a:rPr>
              <a:t>: on unseen customers the model finds 82% of buyers, and 86% of its “will buy” calls are right (F1 0.84, ROC-AUC 0.96).</a:t>
            </a:r>
            <a:endParaRPr b="0" i="0" sz="1200" u="none" cap="none" strike="noStrike">
              <a:solidFill>
                <a:srgbClr val="000000"/>
              </a:solidFill>
              <a:latin typeface="Nunito"/>
              <a:ea typeface="Nunito"/>
              <a:cs typeface="Nunito"/>
              <a:sym typeface="Nunito"/>
            </a:endParaRPr>
          </a:p>
          <a:p>
            <a:pPr indent="-330200" lvl="0" marL="457200" marR="0" rtl="0" algn="l">
              <a:lnSpc>
                <a:spcPct val="100000"/>
              </a:lnSpc>
              <a:spcBef>
                <a:spcPts val="300"/>
              </a:spcBef>
              <a:spcAft>
                <a:spcPts val="300"/>
              </a:spcAft>
              <a:buClr>
                <a:srgbClr val="000000"/>
              </a:buClr>
              <a:buSzPts val="1200"/>
              <a:buFont typeface="Nunito"/>
              <a:buChar char="●"/>
            </a:pPr>
            <a:r>
              <a:rPr b="1" i="0" lang="en" sz="1200" u="none" cap="none" strike="noStrike">
                <a:solidFill>
                  <a:srgbClr val="000000"/>
                </a:solidFill>
                <a:latin typeface="Nunito"/>
                <a:ea typeface="Nunito"/>
                <a:cs typeface="Nunito"/>
                <a:sym typeface="Nunito"/>
              </a:rPr>
              <a:t>Recommendations</a:t>
            </a:r>
            <a:r>
              <a:rPr b="0" i="0" lang="en" sz="1200" u="none" cap="none" strike="noStrike">
                <a:solidFill>
                  <a:srgbClr val="000000"/>
                </a:solidFill>
                <a:latin typeface="Nunito"/>
                <a:ea typeface="Nunito"/>
                <a:cs typeface="Nunito"/>
                <a:sym typeface="Nunito"/>
              </a:rPr>
              <a:t>:</a:t>
            </a:r>
            <a:endParaRPr b="0" i="0" sz="1200" u="none" cap="none" strike="noStrike">
              <a:solidFill>
                <a:srgbClr val="000000"/>
              </a:solidFill>
              <a:latin typeface="Nunito"/>
              <a:ea typeface="Nunito"/>
              <a:cs typeface="Nunito"/>
              <a:sym typeface="Nunito"/>
            </a:endParaRPr>
          </a:p>
          <a:p>
            <a:pPr indent="-330200" lvl="1" marL="800100" marR="0" rtl="0" algn="l">
              <a:lnSpc>
                <a:spcPct val="100000"/>
              </a:lnSpc>
              <a:spcBef>
                <a:spcPts val="300"/>
              </a:spcBef>
              <a:spcAft>
                <a:spcPts val="300"/>
              </a:spcAft>
              <a:buClr>
                <a:srgbClr val="000000"/>
              </a:buClr>
              <a:buSzPts val="1200"/>
              <a:buFont typeface="Nunito"/>
              <a:buChar char="–"/>
            </a:pPr>
            <a:r>
              <a:rPr b="0" i="0" lang="en" sz="1100" u="none" cap="none" strike="noStrike">
                <a:solidFill>
                  <a:srgbClr val="000000"/>
                </a:solidFill>
                <a:latin typeface="Nunito"/>
                <a:ea typeface="Nunito"/>
                <a:cs typeface="Nunito"/>
                <a:sym typeface="Nunito"/>
              </a:rPr>
              <a:t>Call the top-scored 20% of leads first. That list holds 86% of all buyers.</a:t>
            </a:r>
            <a:endParaRPr b="0" i="0" sz="1200" u="none" cap="none" strike="noStrike">
              <a:solidFill>
                <a:srgbClr val="000000"/>
              </a:solidFill>
              <a:latin typeface="Nunito"/>
              <a:ea typeface="Nunito"/>
              <a:cs typeface="Nunito"/>
              <a:sym typeface="Nunito"/>
            </a:endParaRPr>
          </a:p>
          <a:p>
            <a:pPr indent="-330200" lvl="1" marL="800100" marR="0" rtl="0" algn="l">
              <a:lnSpc>
                <a:spcPct val="100000"/>
              </a:lnSpc>
              <a:spcBef>
                <a:spcPts val="300"/>
              </a:spcBef>
              <a:spcAft>
                <a:spcPts val="300"/>
              </a:spcAft>
              <a:buClr>
                <a:srgbClr val="000000"/>
              </a:buClr>
              <a:buSzPts val="1200"/>
              <a:buFont typeface="Nunito"/>
              <a:buChar char="–"/>
            </a:pPr>
            <a:r>
              <a:rPr b="0" i="0" lang="en" sz="1100" u="none" cap="none" strike="noStrike">
                <a:solidFill>
                  <a:srgbClr val="000000"/>
                </a:solidFill>
                <a:latin typeface="Nunito"/>
                <a:ea typeface="Nunito"/>
                <a:cs typeface="Nunito"/>
                <a:sym typeface="Nunito"/>
              </a:rPr>
              <a:t>Target passport holders, single and younger (≤25) customers, and Executives. They buy 2–3× more than average.</a:t>
            </a:r>
            <a:endParaRPr b="0" i="0" sz="1200" u="none" cap="none" strike="noStrike">
              <a:solidFill>
                <a:srgbClr val="000000"/>
              </a:solidFill>
              <a:latin typeface="Nunito"/>
              <a:ea typeface="Nunito"/>
              <a:cs typeface="Nunito"/>
              <a:sym typeface="Nunito"/>
            </a:endParaRPr>
          </a:p>
          <a:p>
            <a:pPr indent="-330200" lvl="1" marL="800100" marR="0" rtl="0" algn="l">
              <a:lnSpc>
                <a:spcPct val="100000"/>
              </a:lnSpc>
              <a:spcBef>
                <a:spcPts val="300"/>
              </a:spcBef>
              <a:spcAft>
                <a:spcPts val="300"/>
              </a:spcAft>
              <a:buClr>
                <a:srgbClr val="000000"/>
              </a:buClr>
              <a:buSzPts val="1200"/>
              <a:buFont typeface="Nunito"/>
              <a:buChar char="–"/>
            </a:pPr>
            <a:r>
              <a:rPr b="0" i="0" lang="en" sz="1100" u="none" cap="none" strike="noStrike">
                <a:solidFill>
                  <a:srgbClr val="000000"/>
                </a:solidFill>
                <a:latin typeface="Nunito"/>
                <a:ea typeface="Nunito"/>
                <a:cs typeface="Nunito"/>
                <a:sym typeface="Nunito"/>
              </a:rPr>
              <a:t>Use the Basic package as the entry offer. Higher tiers convert at 8–16%.</a:t>
            </a:r>
            <a:endParaRPr b="0" i="0" sz="1200" u="none" cap="none" strike="noStrike">
              <a:solidFill>
                <a:srgbClr val="000000"/>
              </a:solidFill>
              <a:latin typeface="Nunito"/>
              <a:ea typeface="Nunito"/>
              <a:cs typeface="Nunito"/>
              <a:sym typeface="Nunito"/>
            </a:endParaRPr>
          </a:p>
          <a:p>
            <a:pPr indent="-330200" lvl="1" marL="800100" marR="0" rtl="0" algn="l">
              <a:lnSpc>
                <a:spcPct val="100000"/>
              </a:lnSpc>
              <a:spcBef>
                <a:spcPts val="300"/>
              </a:spcBef>
              <a:spcAft>
                <a:spcPts val="300"/>
              </a:spcAft>
              <a:buClr>
                <a:srgbClr val="000000"/>
              </a:buClr>
              <a:buSzPts val="1200"/>
              <a:buFont typeface="Nunito"/>
              <a:buChar char="–"/>
            </a:pPr>
            <a:r>
              <a:rPr b="0" i="0" lang="en" sz="1100" u="none" cap="none" strike="noStrike">
                <a:solidFill>
                  <a:srgbClr val="000000"/>
                </a:solidFill>
                <a:latin typeface="Nunito"/>
                <a:ea typeface="Nunito"/>
                <a:cs typeface="Nunito"/>
                <a:sym typeface="Nunito"/>
              </a:rPr>
              <a:t>Plan 5–6 follow-ups for warm leads. Buy rate rises from 17% at 3 calls to 40% at 6.</a:t>
            </a:r>
            <a:endParaRPr b="0" i="0" sz="1200" u="none" cap="none" strike="noStrike">
              <a:solidFill>
                <a:srgbClr val="000000"/>
              </a:solidFill>
              <a:latin typeface="Nunito"/>
              <a:ea typeface="Nunito"/>
              <a:cs typeface="Nunito"/>
              <a:sym typeface="Nunito"/>
            </a:endParaRPr>
          </a:p>
        </p:txBody>
      </p:sp>
      <p:sp>
        <p:nvSpPr>
          <p:cNvPr id="117" name="Rounded Rectangle 116"/>
          <p:cNvSpPr/>
          <p:nvPr/>
        </p:nvSpPr>
        <p:spPr>
          <a:xfrm>
            <a:off x="5989320" y="914400"/>
            <a:ext cx="2834640" cy="960120"/>
          </a:xfrm>
          <a:prstGeom prst="roundRect">
            <a:avLst>
              <a:gd name="adj" fmla="val 8000"/>
            </a:avLst>
          </a:prstGeom>
          <a:solidFill>
            <a:srgbClr val="E8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6099048" y="987552"/>
            <a:ext cx="2615184" cy="457200"/>
          </a:xfrm>
          <a:prstGeom prst="rect">
            <a:avLst/>
          </a:prstGeom>
          <a:noFill/>
        </p:spPr>
        <p:txBody>
          <a:bodyPr wrap="square" anchor="t" lIns="45720" rIns="45720">
            <a:spAutoFit/>
          </a:bodyPr>
          <a:lstStyle/>
          <a:p>
            <a:pPr algn="l"/>
            <a:r>
              <a:rPr sz="2600" b="1">
                <a:solidFill>
                  <a:srgbClr val="0B3FBF"/>
                </a:solidFill>
                <a:latin typeface="Nunito"/>
              </a:rPr>
              <a:t>0.84</a:t>
            </a:r>
          </a:p>
        </p:txBody>
      </p:sp>
      <p:sp>
        <p:nvSpPr>
          <p:cNvPr id="119" name="TextBox 118"/>
          <p:cNvSpPr txBox="1"/>
          <p:nvPr/>
        </p:nvSpPr>
        <p:spPr>
          <a:xfrm>
            <a:off x="6099048" y="1444752"/>
            <a:ext cx="2615184" cy="384048"/>
          </a:xfrm>
          <a:prstGeom prst="rect">
            <a:avLst/>
          </a:prstGeom>
          <a:noFill/>
        </p:spPr>
        <p:txBody>
          <a:bodyPr wrap="square" anchor="t" lIns="45720" rIns="45720">
            <a:spAutoFit/>
          </a:bodyPr>
          <a:lstStyle/>
          <a:p>
            <a:pPr algn="l"/>
            <a:r>
              <a:rPr sz="1000" b="0">
                <a:solidFill>
                  <a:srgbClr val="595959"/>
                </a:solidFill>
                <a:latin typeface="Nunito"/>
              </a:rPr>
              <a:t>Test F1 (buyers)</a:t>
            </a:r>
          </a:p>
        </p:txBody>
      </p:sp>
      <p:sp>
        <p:nvSpPr>
          <p:cNvPr id="120" name="Rounded Rectangle 119"/>
          <p:cNvSpPr/>
          <p:nvPr/>
        </p:nvSpPr>
        <p:spPr>
          <a:xfrm>
            <a:off x="5989320" y="2011680"/>
            <a:ext cx="2834640" cy="960120"/>
          </a:xfrm>
          <a:prstGeom prst="roundRect">
            <a:avLst>
              <a:gd name="adj" fmla="val 8000"/>
            </a:avLst>
          </a:prstGeom>
          <a:solidFill>
            <a:srgbClr val="E8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099048" y="2084832"/>
            <a:ext cx="2615184" cy="457200"/>
          </a:xfrm>
          <a:prstGeom prst="rect">
            <a:avLst/>
          </a:prstGeom>
          <a:noFill/>
        </p:spPr>
        <p:txBody>
          <a:bodyPr wrap="square" anchor="t" lIns="45720" rIns="45720">
            <a:spAutoFit/>
          </a:bodyPr>
          <a:lstStyle/>
          <a:p>
            <a:pPr algn="l"/>
            <a:r>
              <a:rPr sz="2600" b="1">
                <a:solidFill>
                  <a:srgbClr val="0B3FBF"/>
                </a:solidFill>
                <a:latin typeface="Nunito"/>
              </a:rPr>
              <a:t>0.96</a:t>
            </a:r>
          </a:p>
        </p:txBody>
      </p:sp>
      <p:sp>
        <p:nvSpPr>
          <p:cNvPr id="122" name="TextBox 121"/>
          <p:cNvSpPr txBox="1"/>
          <p:nvPr/>
        </p:nvSpPr>
        <p:spPr>
          <a:xfrm>
            <a:off x="6099048" y="2542032"/>
            <a:ext cx="2615184" cy="384048"/>
          </a:xfrm>
          <a:prstGeom prst="rect">
            <a:avLst/>
          </a:prstGeom>
          <a:noFill/>
        </p:spPr>
        <p:txBody>
          <a:bodyPr wrap="square" anchor="t" lIns="45720" rIns="45720">
            <a:spAutoFit/>
          </a:bodyPr>
          <a:lstStyle/>
          <a:p>
            <a:pPr algn="l"/>
            <a:r>
              <a:rPr sz="1000" b="0">
                <a:solidFill>
                  <a:srgbClr val="595959"/>
                </a:solidFill>
                <a:latin typeface="Nunito"/>
              </a:rPr>
              <a:t>Test ROC-AUC</a:t>
            </a:r>
          </a:p>
        </p:txBody>
      </p:sp>
      <p:sp>
        <p:nvSpPr>
          <p:cNvPr id="123" name="Rounded Rectangle 122"/>
          <p:cNvSpPr/>
          <p:nvPr/>
        </p:nvSpPr>
        <p:spPr>
          <a:xfrm>
            <a:off x="5989320" y="3108960"/>
            <a:ext cx="2834640" cy="960120"/>
          </a:xfrm>
          <a:prstGeom prst="roundRect">
            <a:avLst>
              <a:gd name="adj" fmla="val 8000"/>
            </a:avLst>
          </a:prstGeom>
          <a:solidFill>
            <a:srgbClr val="E8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6099048" y="3182112"/>
            <a:ext cx="2615184" cy="457200"/>
          </a:xfrm>
          <a:prstGeom prst="rect">
            <a:avLst/>
          </a:prstGeom>
          <a:noFill/>
        </p:spPr>
        <p:txBody>
          <a:bodyPr wrap="square" anchor="t" lIns="45720" rIns="45720">
            <a:spAutoFit/>
          </a:bodyPr>
          <a:lstStyle/>
          <a:p>
            <a:pPr algn="l"/>
            <a:r>
              <a:rPr sz="2600" b="1">
                <a:solidFill>
                  <a:srgbClr val="0B3FBF"/>
                </a:solidFill>
                <a:latin typeface="Nunito"/>
              </a:rPr>
              <a:t>86%</a:t>
            </a:r>
          </a:p>
        </p:txBody>
      </p:sp>
      <p:sp>
        <p:nvSpPr>
          <p:cNvPr id="125" name="TextBox 124"/>
          <p:cNvSpPr txBox="1"/>
          <p:nvPr/>
        </p:nvSpPr>
        <p:spPr>
          <a:xfrm>
            <a:off x="6099048" y="3639312"/>
            <a:ext cx="2615184" cy="384048"/>
          </a:xfrm>
          <a:prstGeom prst="rect">
            <a:avLst/>
          </a:prstGeom>
          <a:noFill/>
        </p:spPr>
        <p:txBody>
          <a:bodyPr wrap="square" anchor="t" lIns="45720" rIns="45720">
            <a:spAutoFit/>
          </a:bodyPr>
          <a:lstStyle/>
          <a:p>
            <a:pPr algn="l"/>
            <a:r>
              <a:rPr sz="1000" b="0">
                <a:solidFill>
                  <a:srgbClr val="595959"/>
                </a:solidFill>
                <a:latin typeface="Nunito"/>
              </a:rPr>
              <a:t>of buyers in top-20% scored leads</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7"/>
          <p:cNvSpPr txBox="1"/>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rgbClr val="000000"/>
                </a:solidFill>
                <a:latin typeface="Nunito"/>
                <a:ea typeface="Nunito"/>
                <a:cs typeface="Nunito"/>
                <a:sym typeface="Nunito"/>
              </a:rPr>
              <a:t>Data Registration</a:t>
            </a:r>
            <a:endParaRPr b="1" i="0" sz="2200" u="none" cap="none" strike="noStrike">
              <a:solidFill>
                <a:srgbClr val="000000"/>
              </a:solidFill>
              <a:latin typeface="Nunito"/>
              <a:ea typeface="Nunito"/>
              <a:cs typeface="Nunito"/>
              <a:sym typeface="Nunito"/>
            </a:endParaRPr>
          </a:p>
        </p:txBody>
      </p:sp>
      <p:sp>
        <p:nvSpPr>
          <p:cNvPr id="122" name="Google Shape;122;p27"/>
          <p:cNvSpPr txBox="1"/>
          <p:nvPr/>
        </p:nvSpPr>
        <p:spPr>
          <a:xfrm>
            <a:off x="202550" y="861975"/>
            <a:ext cx="4846320" cy="37068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00000"/>
              </a:lnSpc>
              <a:spcBef>
                <a:spcPts val="300"/>
              </a:spcBef>
              <a:spcAft>
                <a:spcPts val="300"/>
              </a:spcAft>
              <a:buClr>
                <a:srgbClr val="000000"/>
              </a:buClr>
              <a:buSzPts val="1200"/>
              <a:buFont typeface="Nunito"/>
              <a:buChar char="●"/>
            </a:pPr>
            <a:r>
              <a:rPr b="1" i="0" lang="en" sz="1200" u="none" cap="none" strike="noStrike">
                <a:solidFill>
                  <a:srgbClr val="000000"/>
                </a:solidFill>
                <a:latin typeface="Nunito"/>
                <a:ea typeface="Nunito"/>
                <a:cs typeface="Nunito"/>
                <a:sym typeface="Nunito"/>
              </a:rPr>
              <a:t>Master folder</a:t>
            </a:r>
            <a:r>
              <a:rPr b="0" i="0" lang="en" sz="1200" u="none" cap="none" strike="noStrike">
                <a:solidFill>
                  <a:srgbClr val="000000"/>
                </a:solidFill>
                <a:latin typeface="Nunito"/>
                <a:ea typeface="Nunito"/>
                <a:cs typeface="Nunito"/>
                <a:sym typeface="Nunito"/>
              </a:rPr>
              <a:t>: tourism_project/ holds everything the pipeline needs.</a:t>
            </a:r>
            <a:endParaRPr b="0" i="0" sz="1200" u="none" cap="none" strike="noStrike">
              <a:solidFill>
                <a:srgbClr val="000000"/>
              </a:solidFill>
              <a:latin typeface="Nunito"/>
              <a:ea typeface="Nunito"/>
              <a:cs typeface="Nunito"/>
              <a:sym typeface="Nunito"/>
            </a:endParaRPr>
          </a:p>
          <a:p>
            <a:pPr indent="-330200" lvl="1" marL="800100" marR="0" rtl="0" algn="l">
              <a:lnSpc>
                <a:spcPct val="100000"/>
              </a:lnSpc>
              <a:spcBef>
                <a:spcPts val="300"/>
              </a:spcBef>
              <a:spcAft>
                <a:spcPts val="300"/>
              </a:spcAft>
              <a:buClr>
                <a:srgbClr val="000000"/>
              </a:buClr>
              <a:buSzPts val="1200"/>
              <a:buFont typeface="Nunito"/>
              <a:buChar char="–"/>
            </a:pPr>
            <a:r>
              <a:rPr b="0" i="0" lang="en" sz="1100" u="none" cap="none" strike="noStrike">
                <a:solidFill>
                  <a:srgbClr val="000000"/>
                </a:solidFill>
                <a:latin typeface="Nunito"/>
                <a:ea typeface="Nunito"/>
                <a:cs typeface="Nunito"/>
                <a:sym typeface="Nunito"/>
              </a:rPr>
              <a:t>data/ keeps tourism.csv under version control.</a:t>
            </a:r>
            <a:endParaRPr b="0" i="0" sz="1200" u="none" cap="none" strike="noStrike">
              <a:solidFill>
                <a:srgbClr val="000000"/>
              </a:solidFill>
              <a:latin typeface="Nunito"/>
              <a:ea typeface="Nunito"/>
              <a:cs typeface="Nunito"/>
              <a:sym typeface="Nunito"/>
            </a:endParaRPr>
          </a:p>
          <a:p>
            <a:pPr indent="-330200" lvl="1" marL="800100" marR="0" rtl="0" algn="l">
              <a:lnSpc>
                <a:spcPct val="100000"/>
              </a:lnSpc>
              <a:spcBef>
                <a:spcPts val="300"/>
              </a:spcBef>
              <a:spcAft>
                <a:spcPts val="300"/>
              </a:spcAft>
              <a:buClr>
                <a:srgbClr val="000000"/>
              </a:buClr>
              <a:buSzPts val="1200"/>
              <a:buFont typeface="Nunito"/>
              <a:buChar char="–"/>
            </a:pPr>
            <a:r>
              <a:rPr b="0" i="0" lang="en" sz="1100" u="none" cap="none" strike="noStrike">
                <a:solidFill>
                  <a:srgbClr val="000000"/>
                </a:solidFill>
                <a:latin typeface="Nunito"/>
                <a:ea typeface="Nunito"/>
                <a:cs typeface="Nunito"/>
                <a:sym typeface="Nunito"/>
              </a:rPr>
              <a:t>model_building/ holds data_register.py, prep.py and train.py.</a:t>
            </a:r>
            <a:endParaRPr b="0" i="0" sz="1200" u="none" cap="none" strike="noStrike">
              <a:solidFill>
                <a:srgbClr val="000000"/>
              </a:solidFill>
              <a:latin typeface="Nunito"/>
              <a:ea typeface="Nunito"/>
              <a:cs typeface="Nunito"/>
              <a:sym typeface="Nunito"/>
            </a:endParaRPr>
          </a:p>
          <a:p>
            <a:pPr indent="-330200" lvl="1" marL="800100" marR="0" rtl="0" algn="l">
              <a:lnSpc>
                <a:spcPct val="100000"/>
              </a:lnSpc>
              <a:spcBef>
                <a:spcPts val="300"/>
              </a:spcBef>
              <a:spcAft>
                <a:spcPts val="300"/>
              </a:spcAft>
              <a:buClr>
                <a:srgbClr val="000000"/>
              </a:buClr>
              <a:buSzPts val="1200"/>
              <a:buFont typeface="Nunito"/>
              <a:buChar char="–"/>
            </a:pPr>
            <a:r>
              <a:rPr b="0" i="0" lang="en" sz="1100" u="none" cap="none" strike="noStrike">
                <a:solidFill>
                  <a:srgbClr val="000000"/>
                </a:solidFill>
                <a:latin typeface="Nunito"/>
                <a:ea typeface="Nunito"/>
                <a:cs typeface="Nunito"/>
                <a:sym typeface="Nunito"/>
              </a:rPr>
              <a:t>deployment/ holds app.py, its requirements and the model the pipeline commits.</a:t>
            </a:r>
            <a:endParaRPr b="0" i="0" sz="1200" u="none" cap="none" strike="noStrike">
              <a:solidFill>
                <a:srgbClr val="000000"/>
              </a:solidFill>
              <a:latin typeface="Nunito"/>
              <a:ea typeface="Nunito"/>
              <a:cs typeface="Nunito"/>
              <a:sym typeface="Nunito"/>
            </a:endParaRPr>
          </a:p>
          <a:p>
            <a:pPr indent="-330200" lvl="0" marL="457200" marR="0" rtl="0" algn="l">
              <a:lnSpc>
                <a:spcPct val="100000"/>
              </a:lnSpc>
              <a:spcBef>
                <a:spcPts val="300"/>
              </a:spcBef>
              <a:spcAft>
                <a:spcPts val="300"/>
              </a:spcAft>
              <a:buClr>
                <a:srgbClr val="000000"/>
              </a:buClr>
              <a:buSzPts val="1200"/>
              <a:buFont typeface="Nunito"/>
              <a:buChar char="●"/>
            </a:pPr>
            <a:r>
              <a:rPr b="1" i="0" lang="en" sz="1200" u="none" cap="none" strike="noStrike">
                <a:solidFill>
                  <a:srgbClr val="000000"/>
                </a:solidFill>
                <a:latin typeface="Nunito"/>
                <a:ea typeface="Nunito"/>
                <a:cs typeface="Nunito"/>
                <a:sym typeface="Nunito"/>
              </a:rPr>
              <a:t>Registration</a:t>
            </a:r>
            <a:r>
              <a:rPr b="0" i="0" lang="en" sz="1200" u="none" cap="none" strike="noStrike">
                <a:solidFill>
                  <a:srgbClr val="000000"/>
                </a:solidFill>
                <a:latin typeface="Nunito"/>
                <a:ea typeface="Nunito"/>
                <a:cs typeface="Nunito"/>
                <a:sym typeface="Nunito"/>
              </a:rPr>
              <a:t>: the dataset lives inside the public GitHub repo. No external data store is needed.</a:t>
            </a:r>
            <a:endParaRPr b="0" i="0" sz="1200" u="none" cap="none" strike="noStrike">
              <a:solidFill>
                <a:srgbClr val="000000"/>
              </a:solidFill>
              <a:latin typeface="Nunito"/>
              <a:ea typeface="Nunito"/>
              <a:cs typeface="Nunito"/>
              <a:sym typeface="Nunito"/>
            </a:endParaRPr>
          </a:p>
          <a:p>
            <a:pPr indent="-330200" lvl="0" marL="457200" marR="0" rtl="0" algn="l">
              <a:lnSpc>
                <a:spcPct val="100000"/>
              </a:lnSpc>
              <a:spcBef>
                <a:spcPts val="300"/>
              </a:spcBef>
              <a:spcAft>
                <a:spcPts val="300"/>
              </a:spcAft>
              <a:buClr>
                <a:srgbClr val="000000"/>
              </a:buClr>
              <a:buSzPts val="1200"/>
              <a:buFont typeface="Nunito"/>
              <a:buChar char="●"/>
            </a:pPr>
            <a:r>
              <a:rPr b="1" i="0" lang="en" sz="1200" u="none" cap="none" strike="noStrike">
                <a:solidFill>
                  <a:srgbClr val="000000"/>
                </a:solidFill>
                <a:latin typeface="Nunito"/>
                <a:ea typeface="Nunito"/>
                <a:cs typeface="Nunito"/>
                <a:sym typeface="Nunito"/>
              </a:rPr>
              <a:t>data_register.py</a:t>
            </a:r>
            <a:r>
              <a:rPr b="0" i="0" lang="en" sz="1200" u="none" cap="none" strike="noStrike">
                <a:solidFill>
                  <a:srgbClr val="000000"/>
                </a:solidFill>
                <a:latin typeface="Nunito"/>
                <a:ea typeface="Nunito"/>
                <a:cs typeface="Nunito"/>
                <a:sym typeface="Nunito"/>
              </a:rPr>
              <a:t>: checks the file exists, checks all 20 expected columns and a binary target, then logs a SHA-256 hash, the shape and the class counts.</a:t>
            </a:r>
            <a:endParaRPr b="0" i="0" sz="1200" u="none" cap="none" strike="noStrike">
              <a:solidFill>
                <a:srgbClr val="000000"/>
              </a:solidFill>
              <a:latin typeface="Nunito"/>
              <a:ea typeface="Nunito"/>
              <a:cs typeface="Nunito"/>
              <a:sym typeface="Nunito"/>
            </a:endParaRPr>
          </a:p>
          <a:p>
            <a:pPr indent="-330200" lvl="0" marL="457200" marR="0" rtl="0" algn="l">
              <a:lnSpc>
                <a:spcPct val="100000"/>
              </a:lnSpc>
              <a:spcBef>
                <a:spcPts val="300"/>
              </a:spcBef>
              <a:spcAft>
                <a:spcPts val="300"/>
              </a:spcAft>
              <a:buClr>
                <a:srgbClr val="000000"/>
              </a:buClr>
              <a:buSzPts val="1200"/>
              <a:buFont typeface="Nunito"/>
              <a:buChar char="●"/>
            </a:pPr>
            <a:r>
              <a:rPr b="1" i="0" lang="en" sz="1200" u="none" cap="none" strike="noStrike">
                <a:solidFill>
                  <a:srgbClr val="000000"/>
                </a:solidFill>
                <a:latin typeface="Nunito"/>
                <a:ea typeface="Nunito"/>
                <a:cs typeface="Nunito"/>
                <a:sym typeface="Nunito"/>
              </a:rPr>
              <a:t>In GitHub Actions</a:t>
            </a:r>
            <a:r>
              <a:rPr b="0" i="0" lang="en" sz="1200" u="none" cap="none" strike="noStrike">
                <a:solidFill>
                  <a:srgbClr val="000000"/>
                </a:solidFill>
                <a:latin typeface="Nunito"/>
                <a:ea typeface="Nunito"/>
                <a:cs typeface="Nunito"/>
                <a:sym typeface="Nunito"/>
              </a:rPr>
              <a:t>: the register-dataset job runs the script and uploads tourism.csv as the registered-data artifact.</a:t>
            </a:r>
            <a:endParaRPr b="0" i="0" sz="1200" u="none" cap="none" strike="noStrike">
              <a:solidFill>
                <a:srgbClr val="000000"/>
              </a:solidFill>
              <a:latin typeface="Nunito"/>
              <a:ea typeface="Nunito"/>
              <a:cs typeface="Nunito"/>
              <a:sym typeface="Nunito"/>
            </a:endParaRPr>
          </a:p>
        </p:txBody>
      </p:sp>
      <p:sp>
        <p:nvSpPr>
          <p:cNvPr id="123" name="Rounded Rectangle 122"/>
          <p:cNvSpPr/>
          <p:nvPr/>
        </p:nvSpPr>
        <p:spPr>
          <a:xfrm>
            <a:off x="5257800" y="914400"/>
            <a:ext cx="3611880" cy="3246120"/>
          </a:xfrm>
          <a:prstGeom prst="roundRect">
            <a:avLst>
              <a:gd name="adj" fmla="val 8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5349240" y="960120"/>
            <a:ext cx="3474720" cy="3154680"/>
          </a:xfrm>
          <a:prstGeom prst="rect">
            <a:avLst/>
          </a:prstGeom>
          <a:noFill/>
        </p:spPr>
        <p:txBody>
          <a:bodyPr wrap="square" anchor="t" lIns="45720" rIns="45720">
            <a:spAutoFit/>
          </a:bodyPr>
          <a:lstStyle/>
          <a:p>
            <a:pPr algn="l"/>
            <a:r>
              <a:rPr sz="900" b="0">
                <a:solidFill>
                  <a:srgbClr val="000000"/>
                </a:solidFill>
                <a:latin typeface="Courier New"/>
              </a:rPr>
              <a:t>Deakin-AIML-Bridge-Tourism-</a:t>
            </a:r>
          </a:p>
          <a:p>
            <a:pPr algn="l"/>
            <a:r>
              <a:rPr sz="900" b="0">
                <a:solidFill>
                  <a:srgbClr val="000000"/>
                </a:solidFill>
                <a:latin typeface="Courier New"/>
              </a:rPr>
              <a:t>  Wellness-MLOps/ (public)</a:t>
            </a:r>
          </a:p>
          <a:p>
            <a:pPr algn="l"/>
            <a:r>
              <a:rPr sz="900" b="0">
                <a:solidFill>
                  <a:srgbClr val="000000"/>
                </a:solidFill>
                <a:latin typeface="Courier New"/>
              </a:rPr>
              <a:t>├─ .github/workflows/</a:t>
            </a:r>
          </a:p>
          <a:p>
            <a:pPr algn="l"/>
            <a:r>
              <a:rPr sz="900" b="0">
                <a:solidFill>
                  <a:srgbClr val="000000"/>
                </a:solidFill>
                <a:latin typeface="Courier New"/>
              </a:rPr>
              <a:t>│   ├─ pipeline.yml</a:t>
            </a:r>
          </a:p>
          <a:p>
            <a:pPr algn="l"/>
            <a:r>
              <a:rPr sz="900" b="0">
                <a:solidFill>
                  <a:srgbClr val="000000"/>
                </a:solidFill>
                <a:latin typeface="Courier New"/>
              </a:rPr>
              <a:t>│   └─ keepalive.yml</a:t>
            </a:r>
          </a:p>
          <a:p>
            <a:pPr algn="l"/>
            <a:r>
              <a:rPr sz="900" b="0">
                <a:solidFill>
                  <a:srgbClr val="000000"/>
                </a:solidFill>
                <a:latin typeface="Courier New"/>
              </a:rPr>
              <a:t>└─ tourism_project/</a:t>
            </a:r>
          </a:p>
          <a:p>
            <a:pPr algn="l"/>
            <a:r>
              <a:rPr sz="900" b="0">
                <a:solidFill>
                  <a:srgbClr val="000000"/>
                </a:solidFill>
                <a:latin typeface="Courier New"/>
              </a:rPr>
              <a:t>   ├─ requirements.txt</a:t>
            </a:r>
          </a:p>
          <a:p>
            <a:pPr algn="l"/>
            <a:r>
              <a:rPr sz="900" b="0">
                <a:solidFill>
                  <a:srgbClr val="000000"/>
                </a:solidFill>
                <a:latin typeface="Courier New"/>
              </a:rPr>
              <a:t>   ├─ data/</a:t>
            </a:r>
          </a:p>
          <a:p>
            <a:pPr algn="l"/>
            <a:r>
              <a:rPr sz="900" b="0">
                <a:solidFill>
                  <a:srgbClr val="000000"/>
                </a:solidFill>
                <a:latin typeface="Courier New"/>
              </a:rPr>
              <a:t>   │   └─ tourism.csv</a:t>
            </a:r>
          </a:p>
          <a:p>
            <a:pPr algn="l"/>
            <a:r>
              <a:rPr sz="900" b="0">
                <a:solidFill>
                  <a:srgbClr val="000000"/>
                </a:solidFill>
                <a:latin typeface="Courier New"/>
              </a:rPr>
              <a:t>   ├─ model_building/</a:t>
            </a:r>
          </a:p>
          <a:p>
            <a:pPr algn="l"/>
            <a:r>
              <a:rPr sz="900" b="0">
                <a:solidFill>
                  <a:srgbClr val="000000"/>
                </a:solidFill>
                <a:latin typeface="Courier New"/>
              </a:rPr>
              <a:t>   │   ├─ data_register.py</a:t>
            </a:r>
          </a:p>
          <a:p>
            <a:pPr algn="l"/>
            <a:r>
              <a:rPr sz="900" b="0">
                <a:solidFill>
                  <a:srgbClr val="000000"/>
                </a:solidFill>
                <a:latin typeface="Courier New"/>
              </a:rPr>
              <a:t>   │   ├─ prep.py</a:t>
            </a:r>
          </a:p>
          <a:p>
            <a:pPr algn="l"/>
            <a:r>
              <a:rPr sz="900" b="0">
                <a:solidFill>
                  <a:srgbClr val="000000"/>
                </a:solidFill>
                <a:latin typeface="Courier New"/>
              </a:rPr>
              <a:t>   │   └─ train.py</a:t>
            </a:r>
          </a:p>
          <a:p>
            <a:pPr algn="l"/>
            <a:r>
              <a:rPr sz="900" b="0">
                <a:solidFill>
                  <a:srgbClr val="000000"/>
                </a:solidFill>
                <a:latin typeface="Courier New"/>
              </a:rPr>
              <a:t>   └─ deployment/</a:t>
            </a:r>
          </a:p>
          <a:p>
            <a:pPr algn="l"/>
            <a:r>
              <a:rPr sz="900" b="0">
                <a:solidFill>
                  <a:srgbClr val="000000"/>
                </a:solidFill>
                <a:latin typeface="Courier New"/>
              </a:rPr>
              <a:t>       ├─ app.py</a:t>
            </a:r>
          </a:p>
          <a:p>
            <a:pPr algn="l"/>
            <a:r>
              <a:rPr sz="900" b="0">
                <a:solidFill>
                  <a:srgbClr val="000000"/>
                </a:solidFill>
                <a:latin typeface="Courier New"/>
              </a:rPr>
              <a:t>       ├─ requirements.txt</a:t>
            </a:r>
          </a:p>
          <a:p>
            <a:pPr algn="l"/>
            <a:r>
              <a:rPr sz="900" b="0">
                <a:solidFill>
                  <a:srgbClr val="000000"/>
                </a:solidFill>
                <a:latin typeface="Courier New"/>
              </a:rPr>
              <a:t>       └─ best_tourism_model_v1.joblib</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8"/>
          <p:cNvSpPr txBox="1"/>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rgbClr val="000000"/>
                </a:solidFill>
                <a:latin typeface="Nunito"/>
                <a:ea typeface="Nunito"/>
                <a:cs typeface="Nunito"/>
                <a:sym typeface="Nunito"/>
              </a:rPr>
              <a:t>Data Preparation</a:t>
            </a:r>
            <a:endParaRPr b="1" i="0" sz="2200" u="none" cap="none" strike="noStrike">
              <a:solidFill>
                <a:srgbClr val="000000"/>
              </a:solidFill>
              <a:latin typeface="Nunito"/>
              <a:ea typeface="Nunito"/>
              <a:cs typeface="Nunito"/>
              <a:sym typeface="Nunito"/>
            </a:endParaRPr>
          </a:p>
        </p:txBody>
      </p:sp>
      <p:sp>
        <p:nvSpPr>
          <p:cNvPr id="128" name="Google Shape;128;p28"/>
          <p:cNvSpPr txBox="1"/>
          <p:nvPr/>
        </p:nvSpPr>
        <p:spPr>
          <a:xfrm>
            <a:off x="202550" y="861975"/>
            <a:ext cx="4937760" cy="37068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00000"/>
              </a:lnSpc>
              <a:spcBef>
                <a:spcPts val="300"/>
              </a:spcBef>
              <a:spcAft>
                <a:spcPts val="300"/>
              </a:spcAft>
              <a:buClr>
                <a:srgbClr val="000000"/>
              </a:buClr>
              <a:buSzPts val="1200"/>
              <a:buFont typeface="Nunito"/>
              <a:buChar char="●"/>
            </a:pPr>
            <a:r>
              <a:rPr b="1" i="0" lang="en" sz="1200" u="none" cap="none" strike="noStrike">
                <a:solidFill>
                  <a:srgbClr val="000000"/>
                </a:solidFill>
                <a:latin typeface="Nunito"/>
                <a:ea typeface="Nunito"/>
                <a:cs typeface="Nunito"/>
                <a:sym typeface="Nunito"/>
              </a:rPr>
              <a:t>Load</a:t>
            </a:r>
            <a:r>
              <a:rPr b="0" i="0" lang="en" sz="1200" u="none" cap="none" strike="noStrike">
                <a:solidFill>
                  <a:srgbClr val="000000"/>
                </a:solidFill>
                <a:latin typeface="Nunito"/>
                <a:ea typeface="Nunito"/>
                <a:cs typeface="Nunito"/>
                <a:sym typeface="Nunito"/>
              </a:rPr>
              <a:t>: prep.py reads tourism_project/data/tourism.csv from the checked-out repo.</a:t>
            </a:r>
            <a:endParaRPr b="0" i="0" sz="1200" u="none" cap="none" strike="noStrike">
              <a:solidFill>
                <a:srgbClr val="000000"/>
              </a:solidFill>
              <a:latin typeface="Nunito"/>
              <a:ea typeface="Nunito"/>
              <a:cs typeface="Nunito"/>
              <a:sym typeface="Nunito"/>
            </a:endParaRPr>
          </a:p>
          <a:p>
            <a:pPr indent="-330200" lvl="0" marL="457200" marR="0" rtl="0" algn="l">
              <a:lnSpc>
                <a:spcPct val="100000"/>
              </a:lnSpc>
              <a:spcBef>
                <a:spcPts val="300"/>
              </a:spcBef>
              <a:spcAft>
                <a:spcPts val="300"/>
              </a:spcAft>
              <a:buClr>
                <a:srgbClr val="000000"/>
              </a:buClr>
              <a:buSzPts val="1200"/>
              <a:buFont typeface="Nunito"/>
              <a:buChar char="●"/>
            </a:pPr>
            <a:r>
              <a:rPr b="1" i="0" lang="en" sz="1200" u="none" cap="none" strike="noStrike">
                <a:solidFill>
                  <a:srgbClr val="000000"/>
                </a:solidFill>
                <a:latin typeface="Nunito"/>
                <a:ea typeface="Nunito"/>
                <a:cs typeface="Nunito"/>
                <a:sym typeface="Nunito"/>
              </a:rPr>
              <a:t>Remove columns</a:t>
            </a:r>
            <a:r>
              <a:rPr b="0" i="0" lang="en" sz="1200" u="none" cap="none" strike="noStrike">
                <a:solidFill>
                  <a:srgbClr val="000000"/>
                </a:solidFill>
                <a:latin typeface="Nunito"/>
                <a:ea typeface="Nunito"/>
                <a:cs typeface="Nunito"/>
                <a:sym typeface="Nunito"/>
              </a:rPr>
              <a:t>: “Unnamed: 0” (a saved index) and CustomerID (a unique key) carry no signal.</a:t>
            </a:r>
            <a:endParaRPr b="0" i="0" sz="1200" u="none" cap="none" strike="noStrike">
              <a:solidFill>
                <a:srgbClr val="000000"/>
              </a:solidFill>
              <a:latin typeface="Nunito"/>
              <a:ea typeface="Nunito"/>
              <a:cs typeface="Nunito"/>
              <a:sym typeface="Nunito"/>
            </a:endParaRPr>
          </a:p>
          <a:p>
            <a:pPr indent="-330200" lvl="0" marL="457200" marR="0" rtl="0" algn="l">
              <a:lnSpc>
                <a:spcPct val="100000"/>
              </a:lnSpc>
              <a:spcBef>
                <a:spcPts val="300"/>
              </a:spcBef>
              <a:spcAft>
                <a:spcPts val="300"/>
              </a:spcAft>
              <a:buClr>
                <a:srgbClr val="000000"/>
              </a:buClr>
              <a:buSzPts val="1200"/>
              <a:buFont typeface="Nunito"/>
              <a:buChar char="●"/>
            </a:pPr>
            <a:r>
              <a:rPr b="1" i="0" lang="en" sz="1200" u="none" cap="none" strike="noStrike">
                <a:solidFill>
                  <a:srgbClr val="000000"/>
                </a:solidFill>
                <a:latin typeface="Nunito"/>
                <a:ea typeface="Nunito"/>
                <a:cs typeface="Nunito"/>
                <a:sym typeface="Nunito"/>
              </a:rPr>
              <a:t>Clean</a:t>
            </a:r>
            <a:r>
              <a:rPr b="0" i="0" lang="en" sz="1200" u="none" cap="none" strike="noStrike">
                <a:solidFill>
                  <a:srgbClr val="000000"/>
                </a:solidFill>
                <a:latin typeface="Nunito"/>
                <a:ea typeface="Nunito"/>
                <a:cs typeface="Nunito"/>
                <a:sym typeface="Nunito"/>
              </a:rPr>
              <a:t>: merge the Gender typo “Fe Male” into Female. Drop 117 exact duplicate rows so no record sits in both train and test. Impute missing values (none in this release).</a:t>
            </a:r>
            <a:endParaRPr b="0" i="0" sz="1200" u="none" cap="none" strike="noStrike">
              <a:solidFill>
                <a:srgbClr val="000000"/>
              </a:solidFill>
              <a:latin typeface="Nunito"/>
              <a:ea typeface="Nunito"/>
              <a:cs typeface="Nunito"/>
              <a:sym typeface="Nunito"/>
            </a:endParaRPr>
          </a:p>
          <a:p>
            <a:pPr indent="-330200" lvl="0" marL="457200" marR="0" rtl="0" algn="l">
              <a:lnSpc>
                <a:spcPct val="100000"/>
              </a:lnSpc>
              <a:spcBef>
                <a:spcPts val="300"/>
              </a:spcBef>
              <a:spcAft>
                <a:spcPts val="300"/>
              </a:spcAft>
              <a:buClr>
                <a:srgbClr val="000000"/>
              </a:buClr>
              <a:buSzPts val="1200"/>
              <a:buFont typeface="Nunito"/>
              <a:buChar char="●"/>
            </a:pPr>
            <a:r>
              <a:rPr b="1" i="0" lang="en" sz="1200" u="none" cap="none" strike="noStrike">
                <a:solidFill>
                  <a:srgbClr val="000000"/>
                </a:solidFill>
                <a:latin typeface="Nunito"/>
                <a:ea typeface="Nunito"/>
                <a:cs typeface="Nunito"/>
                <a:sym typeface="Nunito"/>
              </a:rPr>
              <a:t>Split</a:t>
            </a:r>
            <a:r>
              <a:rPr b="0" i="0" lang="en" sz="1200" u="none" cap="none" strike="noStrike">
                <a:solidFill>
                  <a:srgbClr val="000000"/>
                </a:solidFill>
                <a:latin typeface="Nunito"/>
                <a:ea typeface="Nunito"/>
                <a:cs typeface="Nunito"/>
                <a:sym typeface="Nunito"/>
              </a:rPr>
              <a:t>: 80/20, stratified on ProdTaken, random_state = 42. Both sets keep the 19.3% buyer rate.</a:t>
            </a:r>
            <a:endParaRPr b="0" i="0" sz="1200" u="none" cap="none" strike="noStrike">
              <a:solidFill>
                <a:srgbClr val="000000"/>
              </a:solidFill>
              <a:latin typeface="Nunito"/>
              <a:ea typeface="Nunito"/>
              <a:cs typeface="Nunito"/>
              <a:sym typeface="Nunito"/>
            </a:endParaRPr>
          </a:p>
          <a:p>
            <a:pPr indent="-330200" lvl="0" marL="457200" marR="0" rtl="0" algn="l">
              <a:lnSpc>
                <a:spcPct val="100000"/>
              </a:lnSpc>
              <a:spcBef>
                <a:spcPts val="300"/>
              </a:spcBef>
              <a:spcAft>
                <a:spcPts val="300"/>
              </a:spcAft>
              <a:buClr>
                <a:srgbClr val="000000"/>
              </a:buClr>
              <a:buSzPts val="1200"/>
              <a:buFont typeface="Nunito"/>
              <a:buChar char="●"/>
            </a:pPr>
            <a:r>
              <a:rPr b="1" i="0" lang="en" sz="1200" u="none" cap="none" strike="noStrike">
                <a:solidFill>
                  <a:srgbClr val="000000"/>
                </a:solidFill>
                <a:latin typeface="Nunito"/>
                <a:ea typeface="Nunito"/>
                <a:cs typeface="Nunito"/>
                <a:sym typeface="Nunito"/>
              </a:rPr>
              <a:t>Hand-off</a:t>
            </a:r>
            <a:r>
              <a:rPr b="0" i="0" lang="en" sz="1200" u="none" cap="none" strike="noStrike">
                <a:solidFill>
                  <a:srgbClr val="000000"/>
                </a:solidFill>
                <a:latin typeface="Nunito"/>
                <a:ea typeface="Nunito"/>
                <a:cs typeface="Nunito"/>
                <a:sym typeface="Nunito"/>
              </a:rPr>
              <a:t>: Xtrain, Xtest, ytrain and ytest CSVs are uploaded as the data-splits artifact for the training job. This replaces the Hugging Face upload in the original brief.</a:t>
            </a:r>
            <a:endParaRPr b="0" i="0" sz="1200" u="none" cap="none" strike="noStrike">
              <a:solidFill>
                <a:srgbClr val="000000"/>
              </a:solidFill>
              <a:latin typeface="Nunito"/>
              <a:ea typeface="Nunito"/>
              <a:cs typeface="Nunito"/>
              <a:sym typeface="Nunito"/>
            </a:endParaRPr>
          </a:p>
        </p:txBody>
      </p:sp>
      <p:sp>
        <p:nvSpPr>
          <p:cNvPr id="129" name="Google Shape;129;p28"/>
          <p:cNvSpPr txBox="1"/>
          <p:nvPr/>
        </p:nvSpPr>
        <p:spPr>
          <a:xfrm>
            <a:off x="4077350" y="4568775"/>
            <a:ext cx="5010600" cy="3693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200"/>
              <a:buFont typeface="Arial"/>
              <a:buNone/>
            </a:pPr>
            <a:r>
              <a:rPr b="0" i="1" lang="en" sz="1200" u="sng" cap="none" strike="noStrike">
                <a:solidFill>
                  <a:srgbClr val="0097A7"/>
                </a:solidFill>
                <a:latin typeface="Nunito"/>
                <a:ea typeface="Nunito"/>
                <a:cs typeface="Nunito"/>
                <a:sym typeface="Nunito"/>
              </a:rPr>
              <a:t>Link to Appendix slide on data background check</a:t>
            </a:r>
            <a:endParaRPr b="0" i="1" sz="1200" u="none" cap="none" strike="noStrike">
              <a:solidFill>
                <a:srgbClr val="666666"/>
              </a:solidFill>
              <a:latin typeface="Nunito"/>
              <a:ea typeface="Nunito"/>
              <a:cs typeface="Nunito"/>
              <a:sym typeface="Nunito"/>
            </a:endParaRPr>
          </a:p>
        </p:txBody>
      </p:sp>
      <p:graphicFrame>
        <p:nvGraphicFramePr>
          <p:cNvPr id="130" name="Table 129"/>
          <p:cNvGraphicFramePr>
            <a:graphicFrameLocks noGrp="1"/>
          </p:cNvGraphicFramePr>
          <p:nvPr/>
        </p:nvGraphicFramePr>
        <p:xfrm>
          <a:off x="5394960" y="1005840"/>
          <a:ext cx="3474720" cy="1755648"/>
        </p:xfrm>
        <a:graphic>
          <a:graphicData uri="http://schemas.openxmlformats.org/drawingml/2006/table">
            <a:tbl>
              <a:tblPr firstRow="1" bandRow="1">
                <a:tableStyleId>{5940675A-B579-460E-94D1-54222C63F5DA}</a:tableStyleId>
              </a:tblPr>
              <a:tblGrid>
                <a:gridCol w="1554480"/>
                <a:gridCol w="731520"/>
                <a:gridCol w="1188720"/>
              </a:tblGrid>
              <a:tr h="292608">
                <a:tc>
                  <a:txBody>
                    <a:bodyPr wrap="square"/>
                    <a:lstStyle/>
                    <a:p>
                      <a:r>
                        <a:rPr sz="1000" b="1">
                          <a:solidFill>
                            <a:srgbClr val="FFFFFF"/>
                          </a:solidFill>
                          <a:latin typeface="Nunito"/>
                        </a:rPr>
                        <a:t>Stage</a:t>
                      </a:r>
                    </a:p>
                  </a:txBody>
                  <a:tcPr marL="54864" marR="54864" marT="18288" marB="18288" anchor="ctr">
                    <a:solidFill>
                      <a:srgbClr val="0B3FBF"/>
                    </a:solidFill>
                  </a:tcPr>
                </a:tc>
                <a:tc>
                  <a:txBody>
                    <a:bodyPr wrap="square"/>
                    <a:lstStyle/>
                    <a:p>
                      <a:r>
                        <a:rPr sz="1000" b="1">
                          <a:solidFill>
                            <a:srgbClr val="FFFFFF"/>
                          </a:solidFill>
                          <a:latin typeface="Nunito"/>
                        </a:rPr>
                        <a:t>Rows</a:t>
                      </a:r>
                    </a:p>
                  </a:txBody>
                  <a:tcPr marL="54864" marR="54864" marT="18288" marB="18288" anchor="ctr">
                    <a:solidFill>
                      <a:srgbClr val="0B3FBF"/>
                    </a:solidFill>
                  </a:tcPr>
                </a:tc>
                <a:tc>
                  <a:txBody>
                    <a:bodyPr wrap="square"/>
                    <a:lstStyle/>
                    <a:p>
                      <a:r>
                        <a:rPr sz="1000" b="1">
                          <a:solidFill>
                            <a:srgbClr val="FFFFFF"/>
                          </a:solidFill>
                          <a:latin typeface="Nunito"/>
                        </a:rPr>
                        <a:t>Columns</a:t>
                      </a:r>
                    </a:p>
                  </a:txBody>
                  <a:tcPr marL="54864" marR="54864" marT="18288" marB="18288" anchor="ctr">
                    <a:solidFill>
                      <a:srgbClr val="0B3FBF"/>
                    </a:solidFill>
                  </a:tcPr>
                </a:tc>
              </a:tr>
              <a:tr h="292608">
                <a:tc>
                  <a:txBody>
                    <a:bodyPr wrap="square"/>
                    <a:lstStyle/>
                    <a:p>
                      <a:r>
                        <a:rPr sz="1000">
                          <a:solidFill>
                            <a:srgbClr val="000000"/>
                          </a:solidFill>
                          <a:latin typeface="Nunito"/>
                        </a:rPr>
                        <a:t>Raw dataset</a:t>
                      </a:r>
                    </a:p>
                  </a:txBody>
                  <a:tcPr marL="54864" marR="54864" marT="18288" marB="18288" anchor="ctr">
                    <a:solidFill>
                      <a:srgbClr val="FFFFFF"/>
                    </a:solidFill>
                  </a:tcPr>
                </a:tc>
                <a:tc>
                  <a:txBody>
                    <a:bodyPr wrap="square"/>
                    <a:lstStyle/>
                    <a:p>
                      <a:r>
                        <a:rPr sz="1000">
                          <a:solidFill>
                            <a:srgbClr val="000000"/>
                          </a:solidFill>
                          <a:latin typeface="Nunito"/>
                        </a:rPr>
                        <a:t>4,128</a:t>
                      </a:r>
                    </a:p>
                  </a:txBody>
                  <a:tcPr marL="54864" marR="54864" marT="18288" marB="18288" anchor="ctr">
                    <a:solidFill>
                      <a:srgbClr val="FFFFFF"/>
                    </a:solidFill>
                  </a:tcPr>
                </a:tc>
                <a:tc>
                  <a:txBody>
                    <a:bodyPr wrap="square"/>
                    <a:lstStyle/>
                    <a:p>
                      <a:r>
                        <a:rPr sz="1000">
                          <a:solidFill>
                            <a:srgbClr val="000000"/>
                          </a:solidFill>
                          <a:latin typeface="Nunito"/>
                        </a:rPr>
                        <a:t>21</a:t>
                      </a:r>
                    </a:p>
                  </a:txBody>
                  <a:tcPr marL="54864" marR="54864" marT="18288" marB="18288" anchor="ctr">
                    <a:solidFill>
                      <a:srgbClr val="FFFFFF"/>
                    </a:solidFill>
                  </a:tcPr>
                </a:tc>
              </a:tr>
              <a:tr h="292608">
                <a:tc>
                  <a:txBody>
                    <a:bodyPr wrap="square"/>
                    <a:lstStyle/>
                    <a:p>
                      <a:r>
                        <a:rPr sz="1000">
                          <a:solidFill>
                            <a:srgbClr val="000000"/>
                          </a:solidFill>
                          <a:latin typeface="Nunito"/>
                        </a:rPr>
                        <a:t>After column drop</a:t>
                      </a:r>
                    </a:p>
                  </a:txBody>
                  <a:tcPr marL="54864" marR="54864" marT="18288" marB="18288" anchor="ctr">
                    <a:solidFill>
                      <a:srgbClr val="E8EEFB"/>
                    </a:solidFill>
                  </a:tcPr>
                </a:tc>
                <a:tc>
                  <a:txBody>
                    <a:bodyPr wrap="square"/>
                    <a:lstStyle/>
                    <a:p>
                      <a:r>
                        <a:rPr sz="1000">
                          <a:solidFill>
                            <a:srgbClr val="000000"/>
                          </a:solidFill>
                          <a:latin typeface="Nunito"/>
                        </a:rPr>
                        <a:t>4,128</a:t>
                      </a:r>
                    </a:p>
                  </a:txBody>
                  <a:tcPr marL="54864" marR="54864" marT="18288" marB="18288" anchor="ctr">
                    <a:solidFill>
                      <a:srgbClr val="E8EEFB"/>
                    </a:solidFill>
                  </a:tcPr>
                </a:tc>
                <a:tc>
                  <a:txBody>
                    <a:bodyPr wrap="square"/>
                    <a:lstStyle/>
                    <a:p>
                      <a:r>
                        <a:rPr sz="1000">
                          <a:solidFill>
                            <a:srgbClr val="000000"/>
                          </a:solidFill>
                          <a:latin typeface="Nunito"/>
                        </a:rPr>
                        <a:t>19</a:t>
                      </a:r>
                    </a:p>
                  </a:txBody>
                  <a:tcPr marL="54864" marR="54864" marT="18288" marB="18288" anchor="ctr">
                    <a:solidFill>
                      <a:srgbClr val="E8EEFB"/>
                    </a:solidFill>
                  </a:tcPr>
                </a:tc>
              </a:tr>
              <a:tr h="292608">
                <a:tc>
                  <a:txBody>
                    <a:bodyPr wrap="square"/>
                    <a:lstStyle/>
                    <a:p>
                      <a:r>
                        <a:rPr sz="1000">
                          <a:solidFill>
                            <a:srgbClr val="000000"/>
                          </a:solidFill>
                          <a:latin typeface="Nunito"/>
                        </a:rPr>
                        <a:t>After de-duplication</a:t>
                      </a:r>
                    </a:p>
                  </a:txBody>
                  <a:tcPr marL="54864" marR="54864" marT="18288" marB="18288" anchor="ctr">
                    <a:solidFill>
                      <a:srgbClr val="FFFFFF"/>
                    </a:solidFill>
                  </a:tcPr>
                </a:tc>
                <a:tc>
                  <a:txBody>
                    <a:bodyPr wrap="square"/>
                    <a:lstStyle/>
                    <a:p>
                      <a:r>
                        <a:rPr sz="1000">
                          <a:solidFill>
                            <a:srgbClr val="000000"/>
                          </a:solidFill>
                          <a:latin typeface="Nunito"/>
                        </a:rPr>
                        <a:t>4,011</a:t>
                      </a:r>
                    </a:p>
                  </a:txBody>
                  <a:tcPr marL="54864" marR="54864" marT="18288" marB="18288" anchor="ctr">
                    <a:solidFill>
                      <a:srgbClr val="FFFFFF"/>
                    </a:solidFill>
                  </a:tcPr>
                </a:tc>
                <a:tc>
                  <a:txBody>
                    <a:bodyPr wrap="square"/>
                    <a:lstStyle/>
                    <a:p>
                      <a:r>
                        <a:rPr sz="1000">
                          <a:solidFill>
                            <a:srgbClr val="000000"/>
                          </a:solidFill>
                          <a:latin typeface="Nunito"/>
                        </a:rPr>
                        <a:t>19</a:t>
                      </a:r>
                    </a:p>
                  </a:txBody>
                  <a:tcPr marL="54864" marR="54864" marT="18288" marB="18288" anchor="ctr">
                    <a:solidFill>
                      <a:srgbClr val="FFFFFF"/>
                    </a:solidFill>
                  </a:tcPr>
                </a:tc>
              </a:tr>
              <a:tr h="292608">
                <a:tc>
                  <a:txBody>
                    <a:bodyPr wrap="square"/>
                    <a:lstStyle/>
                    <a:p>
                      <a:r>
                        <a:rPr sz="1000">
                          <a:solidFill>
                            <a:srgbClr val="000000"/>
                          </a:solidFill>
                          <a:latin typeface="Nunito"/>
                        </a:rPr>
                        <a:t>Train (80%)</a:t>
                      </a:r>
                    </a:p>
                  </a:txBody>
                  <a:tcPr marL="54864" marR="54864" marT="18288" marB="18288" anchor="ctr">
                    <a:solidFill>
                      <a:srgbClr val="E8EEFB"/>
                    </a:solidFill>
                  </a:tcPr>
                </a:tc>
                <a:tc>
                  <a:txBody>
                    <a:bodyPr wrap="square"/>
                    <a:lstStyle/>
                    <a:p>
                      <a:r>
                        <a:rPr sz="1000">
                          <a:solidFill>
                            <a:srgbClr val="000000"/>
                          </a:solidFill>
                          <a:latin typeface="Nunito"/>
                        </a:rPr>
                        <a:t>3,208</a:t>
                      </a:r>
                    </a:p>
                  </a:txBody>
                  <a:tcPr marL="54864" marR="54864" marT="18288" marB="18288" anchor="ctr">
                    <a:solidFill>
                      <a:srgbClr val="E8EEFB"/>
                    </a:solidFill>
                  </a:tcPr>
                </a:tc>
                <a:tc>
                  <a:txBody>
                    <a:bodyPr wrap="square"/>
                    <a:lstStyle/>
                    <a:p>
                      <a:r>
                        <a:rPr sz="1000">
                          <a:solidFill>
                            <a:srgbClr val="000000"/>
                          </a:solidFill>
                          <a:latin typeface="Nunito"/>
                        </a:rPr>
                        <a:t>18 + target</a:t>
                      </a:r>
                    </a:p>
                  </a:txBody>
                  <a:tcPr marL="54864" marR="54864" marT="18288" marB="18288" anchor="ctr">
                    <a:solidFill>
                      <a:srgbClr val="E8EEFB"/>
                    </a:solidFill>
                  </a:tcPr>
                </a:tc>
              </a:tr>
              <a:tr h="292608">
                <a:tc>
                  <a:txBody>
                    <a:bodyPr wrap="square"/>
                    <a:lstStyle/>
                    <a:p>
                      <a:r>
                        <a:rPr sz="1000">
                          <a:solidFill>
                            <a:srgbClr val="000000"/>
                          </a:solidFill>
                          <a:latin typeface="Nunito"/>
                        </a:rPr>
                        <a:t>Test (20%)</a:t>
                      </a:r>
                    </a:p>
                  </a:txBody>
                  <a:tcPr marL="54864" marR="54864" marT="18288" marB="18288" anchor="ctr">
                    <a:solidFill>
                      <a:srgbClr val="FFFFFF"/>
                    </a:solidFill>
                  </a:tcPr>
                </a:tc>
                <a:tc>
                  <a:txBody>
                    <a:bodyPr wrap="square"/>
                    <a:lstStyle/>
                    <a:p>
                      <a:r>
                        <a:rPr sz="1000">
                          <a:solidFill>
                            <a:srgbClr val="000000"/>
                          </a:solidFill>
                          <a:latin typeface="Nunito"/>
                        </a:rPr>
                        <a:t>803</a:t>
                      </a:r>
                    </a:p>
                  </a:txBody>
                  <a:tcPr marL="54864" marR="54864" marT="18288" marB="18288" anchor="ctr">
                    <a:solidFill>
                      <a:srgbClr val="FFFFFF"/>
                    </a:solidFill>
                  </a:tcPr>
                </a:tc>
                <a:tc>
                  <a:txBody>
                    <a:bodyPr wrap="square"/>
                    <a:lstStyle/>
                    <a:p>
                      <a:r>
                        <a:rPr sz="1000">
                          <a:solidFill>
                            <a:srgbClr val="000000"/>
                          </a:solidFill>
                          <a:latin typeface="Nunito"/>
                        </a:rPr>
                        <a:t>18 + target</a:t>
                      </a:r>
                    </a:p>
                  </a:txBody>
                  <a:tcPr marL="54864" marR="54864" marT="18288" marB="18288" anchor="ctr">
                    <a:solidFill>
                      <a:srgbClr val="FFFFFF"/>
                    </a:solidFill>
                  </a:tcPr>
                </a:tc>
              </a:tr>
            </a:tbl>
          </a:graphicData>
        </a:graphic>
      </p:graphicFrame>
      <p:sp>
        <p:nvSpPr>
          <p:cNvPr id="131" name="TextBox 130"/>
          <p:cNvSpPr txBox="1"/>
          <p:nvPr/>
        </p:nvSpPr>
        <p:spPr>
          <a:xfrm>
            <a:off x="5394960" y="2880360"/>
            <a:ext cx="3474720" cy="822960"/>
          </a:xfrm>
          <a:prstGeom prst="rect">
            <a:avLst/>
          </a:prstGeom>
          <a:noFill/>
        </p:spPr>
        <p:txBody>
          <a:bodyPr wrap="square" anchor="t" lIns="45720" rIns="45720">
            <a:spAutoFit/>
          </a:bodyPr>
          <a:lstStyle/>
          <a:p>
            <a:pPr algn="l"/>
            <a:r>
              <a:rPr sz="1000" b="0">
                <a:solidFill>
                  <a:srgbClr val="595959"/>
                </a:solidFill>
                <a:latin typeface="Nunito"/>
              </a:rPr>
              <a:t>Buyer rate: 19.3% in both train and test.</a:t>
            </a:r>
          </a:p>
          <a:p>
            <a:pPr algn="l"/>
            <a:r>
              <a:rPr sz="1000" b="0">
                <a:solidFill>
                  <a:srgbClr val="595959"/>
                </a:solidFill>
                <a:latin typeface="Nunito"/>
              </a:rPr>
              <a:t>Features: 12 numeric, 6 categorical.</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9"/>
          <p:cNvSpPr txBox="1"/>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 sz="2200" u="none" cap="none" strike="noStrike">
                <a:solidFill>
                  <a:schemeClr val="dk1"/>
                </a:solidFill>
                <a:latin typeface="Nunito"/>
                <a:ea typeface="Nunito"/>
                <a:cs typeface="Nunito"/>
                <a:sym typeface="Nunito"/>
              </a:rPr>
              <a:t>Model Building with Experimentation Tracking</a:t>
            </a:r>
            <a:endParaRPr b="1" i="0" sz="2200" u="none" cap="none" strike="noStrike">
              <a:solidFill>
                <a:srgbClr val="000000"/>
              </a:solidFill>
              <a:latin typeface="Nunito"/>
              <a:ea typeface="Nunito"/>
              <a:cs typeface="Nunito"/>
              <a:sym typeface="Nunito"/>
            </a:endParaRPr>
          </a:p>
        </p:txBody>
      </p:sp>
      <p:sp>
        <p:nvSpPr>
          <p:cNvPr id="135" name="Google Shape;135;p29"/>
          <p:cNvSpPr txBox="1"/>
          <p:nvPr/>
        </p:nvSpPr>
        <p:spPr>
          <a:xfrm>
            <a:off x="202550" y="861975"/>
            <a:ext cx="4846320" cy="3706800"/>
          </a:xfrm>
          <a:prstGeom prst="rect">
            <a:avLst/>
          </a:prstGeom>
          <a:noFill/>
          <a:ln>
            <a:noFill/>
          </a:ln>
        </p:spPr>
        <p:txBody>
          <a:bodyPr anchorCtr="0" anchor="t" bIns="91425" lIns="91425" spcFirstLastPara="1" rIns="91425" wrap="square" tIns="91425">
            <a:noAutofit/>
          </a:bodyPr>
          <a:lstStyle/>
          <a:p>
            <a:pPr indent="-336550" lvl="0" marL="457200" marR="0" rtl="0" algn="l">
              <a:lnSpc>
                <a:spcPct val="100000"/>
              </a:lnSpc>
              <a:spcBef>
                <a:spcPts val="200"/>
              </a:spcBef>
              <a:spcAft>
                <a:spcPts val="200"/>
              </a:spcAft>
              <a:buClr>
                <a:schemeClr val="dk1"/>
              </a:buClr>
              <a:buSzPts val="1100"/>
              <a:buFont typeface="Nunito"/>
              <a:buChar char="●"/>
            </a:pPr>
            <a:r>
              <a:rPr lang="en" sz="1100" b="1">
                <a:solidFill>
                  <a:schemeClr val="dk1"/>
                </a:solidFill>
                <a:highlight>
                  <a:schemeClr val="lt1"/>
                </a:highlight>
                <a:latin typeface="Nunito"/>
                <a:ea typeface="Nunito"/>
                <a:cs typeface="Nunito"/>
                <a:sym typeface="Nunito"/>
              </a:rPr>
              <a:t>Inputs</a:t>
            </a:r>
            <a:r>
              <a:rPr lang="en" sz="1100">
                <a:solidFill>
                  <a:schemeClr val="dk1"/>
                </a:solidFill>
                <a:highlight>
                  <a:schemeClr val="lt1"/>
                </a:highlight>
                <a:latin typeface="Nunito"/>
                <a:ea typeface="Nunito"/>
                <a:cs typeface="Nunito"/>
                <a:sym typeface="Nunito"/>
              </a:rPr>
              <a:t>: the data-splits artifact from the data-prep job.</a:t>
            </a:r>
            <a:endParaRPr sz="1100">
              <a:solidFill>
                <a:schemeClr val="dk1"/>
              </a:solidFill>
              <a:highlight>
                <a:schemeClr val="lt1"/>
              </a:highlight>
              <a:latin typeface="Nunito"/>
              <a:ea typeface="Nunito"/>
              <a:cs typeface="Nunito"/>
              <a:sym typeface="Nunito"/>
            </a:endParaRPr>
          </a:p>
          <a:p>
            <a:pPr indent="-336550" lvl="0" marL="457200" marR="0" rtl="0" algn="l">
              <a:lnSpc>
                <a:spcPct val="100000"/>
              </a:lnSpc>
              <a:spcBef>
                <a:spcPts val="200"/>
              </a:spcBef>
              <a:spcAft>
                <a:spcPts val="200"/>
              </a:spcAft>
              <a:buClr>
                <a:schemeClr val="dk1"/>
              </a:buClr>
              <a:buSzPts val="1100"/>
              <a:buFont typeface="Nunito"/>
              <a:buChar char="●"/>
            </a:pPr>
            <a:r>
              <a:rPr lang="en" sz="1100" b="1">
                <a:solidFill>
                  <a:schemeClr val="dk1"/>
                </a:solidFill>
                <a:highlight>
                  <a:schemeClr val="lt1"/>
                </a:highlight>
                <a:latin typeface="Nunito"/>
                <a:ea typeface="Nunito"/>
                <a:cs typeface="Nunito"/>
                <a:sym typeface="Nunito"/>
              </a:rPr>
              <a:t>Pipeline</a:t>
            </a:r>
            <a:r>
              <a:rPr lang="en" sz="1100">
                <a:solidFill>
                  <a:schemeClr val="dk1"/>
                </a:solidFill>
                <a:highlight>
                  <a:schemeClr val="lt1"/>
                </a:highlight>
                <a:latin typeface="Nunito"/>
                <a:ea typeface="Nunito"/>
                <a:cs typeface="Nunito"/>
                <a:sym typeface="Nunito"/>
              </a:rPr>
              <a:t>: StandardScaler on numeric and OneHotEncoder on categorical columns, then XGBClassifier with scale_pos_weight ≈ 4.18 for the 19% buyer class.</a:t>
            </a:r>
            <a:endParaRPr sz="1100">
              <a:solidFill>
                <a:schemeClr val="dk1"/>
              </a:solidFill>
              <a:highlight>
                <a:schemeClr val="lt1"/>
              </a:highlight>
              <a:latin typeface="Nunito"/>
              <a:ea typeface="Nunito"/>
              <a:cs typeface="Nunito"/>
              <a:sym typeface="Nunito"/>
            </a:endParaRPr>
          </a:p>
          <a:p>
            <a:pPr indent="-336550" lvl="0" marL="457200" marR="0" rtl="0" algn="l">
              <a:lnSpc>
                <a:spcPct val="100000"/>
              </a:lnSpc>
              <a:spcBef>
                <a:spcPts val="200"/>
              </a:spcBef>
              <a:spcAft>
                <a:spcPts val="200"/>
              </a:spcAft>
              <a:buClr>
                <a:schemeClr val="dk1"/>
              </a:buClr>
              <a:buSzPts val="1100"/>
              <a:buFont typeface="Nunito"/>
              <a:buChar char="●"/>
            </a:pPr>
            <a:r>
              <a:rPr lang="en" sz="1100" b="1">
                <a:solidFill>
                  <a:schemeClr val="dk1"/>
                </a:solidFill>
                <a:highlight>
                  <a:schemeClr val="lt1"/>
                </a:highlight>
                <a:latin typeface="Nunito"/>
                <a:ea typeface="Nunito"/>
                <a:cs typeface="Nunito"/>
                <a:sym typeface="Nunito"/>
              </a:rPr>
              <a:t>Tuning</a:t>
            </a:r>
            <a:r>
              <a:rPr lang="en" sz="1100">
                <a:solidFill>
                  <a:schemeClr val="dk1"/>
                </a:solidFill>
                <a:highlight>
                  <a:schemeClr val="lt1"/>
                </a:highlight>
                <a:latin typeface="Nunito"/>
                <a:ea typeface="Nunito"/>
                <a:cs typeface="Nunito"/>
                <a:sym typeface="Nunito"/>
              </a:rPr>
              <a:t>: GridSearchCV over 24 combinations (n_estimators, max_depth, learning_rate, colsample_bytree), stratified 5-fold CV, F1 scoring.</a:t>
            </a:r>
            <a:endParaRPr sz="1100">
              <a:solidFill>
                <a:schemeClr val="dk1"/>
              </a:solidFill>
              <a:highlight>
                <a:schemeClr val="lt1"/>
              </a:highlight>
              <a:latin typeface="Nunito"/>
              <a:ea typeface="Nunito"/>
              <a:cs typeface="Nunito"/>
              <a:sym typeface="Nunito"/>
            </a:endParaRPr>
          </a:p>
          <a:p>
            <a:pPr indent="-336550" lvl="0" marL="457200" marR="0" rtl="0" algn="l">
              <a:lnSpc>
                <a:spcPct val="100000"/>
              </a:lnSpc>
              <a:spcBef>
                <a:spcPts val="200"/>
              </a:spcBef>
              <a:spcAft>
                <a:spcPts val="200"/>
              </a:spcAft>
              <a:buClr>
                <a:schemeClr val="dk1"/>
              </a:buClr>
              <a:buSzPts val="1100"/>
              <a:buFont typeface="Nunito"/>
              <a:buChar char="●"/>
            </a:pPr>
            <a:r>
              <a:rPr lang="en" sz="1100" b="1">
                <a:solidFill>
                  <a:schemeClr val="dk1"/>
                </a:solidFill>
                <a:highlight>
                  <a:schemeClr val="lt1"/>
                </a:highlight>
                <a:latin typeface="Nunito"/>
                <a:ea typeface="Nunito"/>
                <a:cs typeface="Nunito"/>
                <a:sym typeface="Nunito"/>
              </a:rPr>
              <a:t>Tracking</a:t>
            </a:r>
            <a:r>
              <a:rPr lang="en" sz="1100">
                <a:solidFill>
                  <a:schemeClr val="dk1"/>
                </a:solidFill>
                <a:highlight>
                  <a:schemeClr val="lt1"/>
                </a:highlight>
                <a:latin typeface="Nunito"/>
                <a:ea typeface="Nunito"/>
                <a:cs typeface="Nunito"/>
                <a:sym typeface="Nunito"/>
              </a:rPr>
              <a:t>: every combination is logged to MLflow as a nested run (params, mean and std CV F1). The parent run logs best params and test metrics.</a:t>
            </a:r>
            <a:endParaRPr sz="1100">
              <a:solidFill>
                <a:schemeClr val="dk1"/>
              </a:solidFill>
              <a:highlight>
                <a:schemeClr val="lt1"/>
              </a:highlight>
              <a:latin typeface="Nunito"/>
              <a:ea typeface="Nunito"/>
              <a:cs typeface="Nunito"/>
              <a:sym typeface="Nunito"/>
            </a:endParaRPr>
          </a:p>
          <a:p>
            <a:pPr indent="-336550" lvl="0" marL="457200" marR="0" rtl="0" algn="l">
              <a:lnSpc>
                <a:spcPct val="100000"/>
              </a:lnSpc>
              <a:spcBef>
                <a:spcPts val="200"/>
              </a:spcBef>
              <a:spcAft>
                <a:spcPts val="200"/>
              </a:spcAft>
              <a:buClr>
                <a:schemeClr val="dk1"/>
              </a:buClr>
              <a:buSzPts val="1100"/>
              <a:buFont typeface="Nunito"/>
              <a:buChar char="●"/>
            </a:pPr>
            <a:r>
              <a:rPr lang="en" sz="1100" b="1">
                <a:solidFill>
                  <a:schemeClr val="dk1"/>
                </a:solidFill>
                <a:highlight>
                  <a:schemeClr val="lt1"/>
                </a:highlight>
                <a:latin typeface="Nunito"/>
                <a:ea typeface="Nunito"/>
                <a:cs typeface="Nunito"/>
                <a:sym typeface="Nunito"/>
              </a:rPr>
              <a:t>Best</a:t>
            </a:r>
            <a:r>
              <a:rPr lang="en" sz="1100">
                <a:solidFill>
                  <a:schemeClr val="dk1"/>
                </a:solidFill>
                <a:highlight>
                  <a:schemeClr val="lt1"/>
                </a:highlight>
                <a:latin typeface="Nunito"/>
                <a:ea typeface="Nunito"/>
                <a:cs typeface="Nunito"/>
                <a:sym typeface="Nunito"/>
              </a:rPr>
              <a:t>: max_depth 7, 200 trees, learning_rate 0.1, colsample 0.7. CV F1 0.781.</a:t>
            </a:r>
            <a:endParaRPr sz="1100">
              <a:solidFill>
                <a:schemeClr val="dk1"/>
              </a:solidFill>
              <a:highlight>
                <a:schemeClr val="lt1"/>
              </a:highlight>
              <a:latin typeface="Nunito"/>
              <a:ea typeface="Nunito"/>
              <a:cs typeface="Nunito"/>
              <a:sym typeface="Nunito"/>
            </a:endParaRPr>
          </a:p>
          <a:p>
            <a:pPr indent="-336550" lvl="0" marL="457200" marR="0" rtl="0" algn="l">
              <a:lnSpc>
                <a:spcPct val="100000"/>
              </a:lnSpc>
              <a:spcBef>
                <a:spcPts val="200"/>
              </a:spcBef>
              <a:spcAft>
                <a:spcPts val="200"/>
              </a:spcAft>
              <a:buClr>
                <a:schemeClr val="dk1"/>
              </a:buClr>
              <a:buSzPts val="1100"/>
              <a:buFont typeface="Nunito"/>
              <a:buChar char="●"/>
            </a:pPr>
            <a:r>
              <a:rPr lang="en" sz="1100" b="1">
                <a:solidFill>
                  <a:schemeClr val="dk1"/>
                </a:solidFill>
                <a:highlight>
                  <a:schemeClr val="lt1"/>
                </a:highlight>
                <a:latin typeface="Nunito"/>
                <a:ea typeface="Nunito"/>
                <a:cs typeface="Nunito"/>
                <a:sym typeface="Nunito"/>
              </a:rPr>
              <a:t>Commit</a:t>
            </a:r>
            <a:r>
              <a:rPr lang="en" sz="1100">
                <a:solidFill>
                  <a:schemeClr val="dk1"/>
                </a:solidFill>
                <a:highlight>
                  <a:schemeClr val="lt1"/>
                </a:highlight>
                <a:latin typeface="Nunito"/>
                <a:ea typeface="Nunito"/>
                <a:cs typeface="Nunito"/>
                <a:sym typeface="Nunito"/>
              </a:rPr>
              <a:t>: best_tourism_model_v1.joblib, model_metadata.json and tuning_results.csv are pushed back to deployment/.</a:t>
            </a:r>
            <a:endParaRPr sz="1100">
              <a:solidFill>
                <a:schemeClr val="dk1"/>
              </a:solidFill>
              <a:highlight>
                <a:schemeClr val="lt1"/>
              </a:highlight>
              <a:latin typeface="Nunito"/>
              <a:ea typeface="Nunito"/>
              <a:cs typeface="Nunito"/>
              <a:sym typeface="Nunito"/>
            </a:endParaRPr>
          </a:p>
        </p:txBody>
      </p:sp>
      <p:sp>
        <p:nvSpPr>
          <p:cNvPr id="136" name="Google Shape;136;p29"/>
          <p:cNvSpPr txBox="1"/>
          <p:nvPr/>
        </p:nvSpPr>
        <p:spPr>
          <a:xfrm>
            <a:off x="4077350" y="4568775"/>
            <a:ext cx="5010600" cy="3693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200"/>
              <a:buFont typeface="Arial"/>
              <a:buNone/>
            </a:pPr>
            <a:r>
              <a:rPr b="0" i="1" lang="en" sz="1200" u="sng" cap="none" strike="noStrike">
                <a:solidFill>
                  <a:srgbClr val="0097A7"/>
                </a:solidFill>
                <a:latin typeface="Nunito"/>
                <a:ea typeface="Nunito"/>
                <a:cs typeface="Nunito"/>
                <a:sym typeface="Nunito"/>
              </a:rPr>
              <a:t>Link to Appendix slide on data background check</a:t>
            </a:r>
            <a:endParaRPr b="0" i="1" sz="1200" u="none" cap="none" strike="noStrike">
              <a:solidFill>
                <a:srgbClr val="666666"/>
              </a:solidFill>
              <a:latin typeface="Nunito"/>
              <a:ea typeface="Nunito"/>
              <a:cs typeface="Nunito"/>
              <a:sym typeface="Nunito"/>
            </a:endParaRPr>
          </a:p>
        </p:txBody>
      </p:sp>
      <p:graphicFrame>
        <p:nvGraphicFramePr>
          <p:cNvPr id="137" name="Table 136"/>
          <p:cNvGraphicFramePr>
            <a:graphicFrameLocks noGrp="1"/>
          </p:cNvGraphicFramePr>
          <p:nvPr/>
        </p:nvGraphicFramePr>
        <p:xfrm>
          <a:off x="5257800" y="914400"/>
          <a:ext cx="3611880" cy="1481328"/>
        </p:xfrm>
        <a:graphic>
          <a:graphicData uri="http://schemas.openxmlformats.org/drawingml/2006/table">
            <a:tbl>
              <a:tblPr firstRow="1" bandRow="1">
                <a:tableStyleId>{5940675A-B579-460E-94D1-54222C63F5DA}</a:tableStyleId>
              </a:tblPr>
              <a:tblGrid>
                <a:gridCol w="1417320"/>
                <a:gridCol w="1097280"/>
                <a:gridCol w="1097280"/>
              </a:tblGrid>
              <a:tr h="246888">
                <a:tc>
                  <a:txBody>
                    <a:bodyPr wrap="square"/>
                    <a:lstStyle/>
                    <a:p>
                      <a:r>
                        <a:rPr sz="1000" b="1">
                          <a:solidFill>
                            <a:srgbClr val="FFFFFF"/>
                          </a:solidFill>
                          <a:latin typeface="Nunito"/>
                        </a:rPr>
                        <a:t>Metric</a:t>
                      </a:r>
                    </a:p>
                  </a:txBody>
                  <a:tcPr marL="54864" marR="54864" marT="18288" marB="18288" anchor="ctr">
                    <a:solidFill>
                      <a:srgbClr val="0B3FBF"/>
                    </a:solidFill>
                  </a:tcPr>
                </a:tc>
                <a:tc>
                  <a:txBody>
                    <a:bodyPr wrap="square"/>
                    <a:lstStyle/>
                    <a:p>
                      <a:r>
                        <a:rPr sz="1000" b="1">
                          <a:solidFill>
                            <a:srgbClr val="FFFFFF"/>
                          </a:solidFill>
                          <a:latin typeface="Nunito"/>
                        </a:rPr>
                        <a:t>Train</a:t>
                      </a:r>
                    </a:p>
                  </a:txBody>
                  <a:tcPr marL="54864" marR="54864" marT="18288" marB="18288" anchor="ctr">
                    <a:solidFill>
                      <a:srgbClr val="0B3FBF"/>
                    </a:solidFill>
                  </a:tcPr>
                </a:tc>
                <a:tc>
                  <a:txBody>
                    <a:bodyPr wrap="square"/>
                    <a:lstStyle/>
                    <a:p>
                      <a:r>
                        <a:rPr sz="1000" b="1">
                          <a:solidFill>
                            <a:srgbClr val="FFFFFF"/>
                          </a:solidFill>
                          <a:latin typeface="Nunito"/>
                        </a:rPr>
                        <a:t>Test</a:t>
                      </a:r>
                    </a:p>
                  </a:txBody>
                  <a:tcPr marL="54864" marR="54864" marT="18288" marB="18288" anchor="ctr">
                    <a:solidFill>
                      <a:srgbClr val="0B3FBF"/>
                    </a:solidFill>
                  </a:tcPr>
                </a:tc>
              </a:tr>
              <a:tr h="246888">
                <a:tc>
                  <a:txBody>
                    <a:bodyPr wrap="square"/>
                    <a:lstStyle/>
                    <a:p>
                      <a:r>
                        <a:rPr sz="1000">
                          <a:solidFill>
                            <a:srgbClr val="000000"/>
                          </a:solidFill>
                          <a:latin typeface="Nunito"/>
                        </a:rPr>
                        <a:t>Accuracy</a:t>
                      </a:r>
                    </a:p>
                  </a:txBody>
                  <a:tcPr marL="54864" marR="54864" marT="18288" marB="18288" anchor="ctr">
                    <a:solidFill>
                      <a:srgbClr val="FFFFFF"/>
                    </a:solidFill>
                  </a:tcPr>
                </a:tc>
                <a:tc>
                  <a:txBody>
                    <a:bodyPr wrap="square"/>
                    <a:lstStyle/>
                    <a:p>
                      <a:r>
                        <a:rPr sz="1000">
                          <a:solidFill>
                            <a:srgbClr val="000000"/>
                          </a:solidFill>
                          <a:latin typeface="Nunito"/>
                        </a:rPr>
                        <a:t>1.000</a:t>
                      </a:r>
                    </a:p>
                  </a:txBody>
                  <a:tcPr marL="54864" marR="54864" marT="18288" marB="18288" anchor="ctr">
                    <a:solidFill>
                      <a:srgbClr val="FFFFFF"/>
                    </a:solidFill>
                  </a:tcPr>
                </a:tc>
                <a:tc>
                  <a:txBody>
                    <a:bodyPr wrap="square"/>
                    <a:lstStyle/>
                    <a:p>
                      <a:r>
                        <a:rPr sz="1000">
                          <a:solidFill>
                            <a:srgbClr val="000000"/>
                          </a:solidFill>
                          <a:latin typeface="Nunito"/>
                        </a:rPr>
                        <a:t>0.940</a:t>
                      </a:r>
                    </a:p>
                  </a:txBody>
                  <a:tcPr marL="54864" marR="54864" marT="18288" marB="18288" anchor="ctr">
                    <a:solidFill>
                      <a:srgbClr val="FFFFFF"/>
                    </a:solidFill>
                  </a:tcPr>
                </a:tc>
              </a:tr>
              <a:tr h="246888">
                <a:tc>
                  <a:txBody>
                    <a:bodyPr wrap="square"/>
                    <a:lstStyle/>
                    <a:p>
                      <a:r>
                        <a:rPr sz="1000">
                          <a:solidFill>
                            <a:srgbClr val="000000"/>
                          </a:solidFill>
                          <a:latin typeface="Nunito"/>
                        </a:rPr>
                        <a:t>Precision</a:t>
                      </a:r>
                    </a:p>
                  </a:txBody>
                  <a:tcPr marL="54864" marR="54864" marT="18288" marB="18288" anchor="ctr">
                    <a:solidFill>
                      <a:srgbClr val="E8EEFB"/>
                    </a:solidFill>
                  </a:tcPr>
                </a:tc>
                <a:tc>
                  <a:txBody>
                    <a:bodyPr wrap="square"/>
                    <a:lstStyle/>
                    <a:p>
                      <a:r>
                        <a:rPr sz="1000">
                          <a:solidFill>
                            <a:srgbClr val="000000"/>
                          </a:solidFill>
                          <a:latin typeface="Nunito"/>
                        </a:rPr>
                        <a:t>1.000</a:t>
                      </a:r>
                    </a:p>
                  </a:txBody>
                  <a:tcPr marL="54864" marR="54864" marT="18288" marB="18288" anchor="ctr">
                    <a:solidFill>
                      <a:srgbClr val="E8EEFB"/>
                    </a:solidFill>
                  </a:tcPr>
                </a:tc>
                <a:tc>
                  <a:txBody>
                    <a:bodyPr wrap="square"/>
                    <a:lstStyle/>
                    <a:p>
                      <a:r>
                        <a:rPr sz="1000">
                          <a:solidFill>
                            <a:srgbClr val="000000"/>
                          </a:solidFill>
                          <a:latin typeface="Nunito"/>
                        </a:rPr>
                        <a:t>0.864</a:t>
                      </a:r>
                    </a:p>
                  </a:txBody>
                  <a:tcPr marL="54864" marR="54864" marT="18288" marB="18288" anchor="ctr">
                    <a:solidFill>
                      <a:srgbClr val="E8EEFB"/>
                    </a:solidFill>
                  </a:tcPr>
                </a:tc>
              </a:tr>
              <a:tr h="246888">
                <a:tc>
                  <a:txBody>
                    <a:bodyPr wrap="square"/>
                    <a:lstStyle/>
                    <a:p>
                      <a:r>
                        <a:rPr sz="1000">
                          <a:solidFill>
                            <a:srgbClr val="000000"/>
                          </a:solidFill>
                          <a:latin typeface="Nunito"/>
                        </a:rPr>
                        <a:t>Recall</a:t>
                      </a:r>
                    </a:p>
                  </a:txBody>
                  <a:tcPr marL="54864" marR="54864" marT="18288" marB="18288" anchor="ctr">
                    <a:solidFill>
                      <a:srgbClr val="FFFFFF"/>
                    </a:solidFill>
                  </a:tcPr>
                </a:tc>
                <a:tc>
                  <a:txBody>
                    <a:bodyPr wrap="square"/>
                    <a:lstStyle/>
                    <a:p>
                      <a:r>
                        <a:rPr sz="1000">
                          <a:solidFill>
                            <a:srgbClr val="000000"/>
                          </a:solidFill>
                          <a:latin typeface="Nunito"/>
                        </a:rPr>
                        <a:t>1.000</a:t>
                      </a:r>
                    </a:p>
                  </a:txBody>
                  <a:tcPr marL="54864" marR="54864" marT="18288" marB="18288" anchor="ctr">
                    <a:solidFill>
                      <a:srgbClr val="FFFFFF"/>
                    </a:solidFill>
                  </a:tcPr>
                </a:tc>
                <a:tc>
                  <a:txBody>
                    <a:bodyPr wrap="square"/>
                    <a:lstStyle/>
                    <a:p>
                      <a:r>
                        <a:rPr sz="1000">
                          <a:solidFill>
                            <a:srgbClr val="000000"/>
                          </a:solidFill>
                          <a:latin typeface="Nunito"/>
                        </a:rPr>
                        <a:t>0.819</a:t>
                      </a:r>
                    </a:p>
                  </a:txBody>
                  <a:tcPr marL="54864" marR="54864" marT="18288" marB="18288" anchor="ctr">
                    <a:solidFill>
                      <a:srgbClr val="FFFFFF"/>
                    </a:solidFill>
                  </a:tcPr>
                </a:tc>
              </a:tr>
              <a:tr h="246888">
                <a:tc>
                  <a:txBody>
                    <a:bodyPr wrap="square"/>
                    <a:lstStyle/>
                    <a:p>
                      <a:r>
                        <a:rPr sz="1000">
                          <a:solidFill>
                            <a:srgbClr val="000000"/>
                          </a:solidFill>
                          <a:latin typeface="Nunito"/>
                        </a:rPr>
                        <a:t>F1</a:t>
                      </a:r>
                    </a:p>
                  </a:txBody>
                  <a:tcPr marL="54864" marR="54864" marT="18288" marB="18288" anchor="ctr">
                    <a:solidFill>
                      <a:srgbClr val="E8EEFB"/>
                    </a:solidFill>
                  </a:tcPr>
                </a:tc>
                <a:tc>
                  <a:txBody>
                    <a:bodyPr wrap="square"/>
                    <a:lstStyle/>
                    <a:p>
                      <a:r>
                        <a:rPr sz="1000">
                          <a:solidFill>
                            <a:srgbClr val="000000"/>
                          </a:solidFill>
                          <a:latin typeface="Nunito"/>
                        </a:rPr>
                        <a:t>1.000</a:t>
                      </a:r>
                    </a:p>
                  </a:txBody>
                  <a:tcPr marL="54864" marR="54864" marT="18288" marB="18288" anchor="ctr">
                    <a:solidFill>
                      <a:srgbClr val="E8EEFB"/>
                    </a:solidFill>
                  </a:tcPr>
                </a:tc>
                <a:tc>
                  <a:txBody>
                    <a:bodyPr wrap="square"/>
                    <a:lstStyle/>
                    <a:p>
                      <a:r>
                        <a:rPr sz="1000">
                          <a:solidFill>
                            <a:srgbClr val="000000"/>
                          </a:solidFill>
                          <a:latin typeface="Nunito"/>
                        </a:rPr>
                        <a:t>0.841</a:t>
                      </a:r>
                    </a:p>
                  </a:txBody>
                  <a:tcPr marL="54864" marR="54864" marT="18288" marB="18288" anchor="ctr">
                    <a:solidFill>
                      <a:srgbClr val="E8EEFB"/>
                    </a:solidFill>
                  </a:tcPr>
                </a:tc>
              </a:tr>
              <a:tr h="246888">
                <a:tc>
                  <a:txBody>
                    <a:bodyPr wrap="square"/>
                    <a:lstStyle/>
                    <a:p>
                      <a:r>
                        <a:rPr sz="1000">
                          <a:solidFill>
                            <a:srgbClr val="000000"/>
                          </a:solidFill>
                          <a:latin typeface="Nunito"/>
                        </a:rPr>
                        <a:t>ROC-AUC</a:t>
                      </a:r>
                    </a:p>
                  </a:txBody>
                  <a:tcPr marL="54864" marR="54864" marT="18288" marB="18288" anchor="ctr">
                    <a:solidFill>
                      <a:srgbClr val="FFFFFF"/>
                    </a:solidFill>
                  </a:tcPr>
                </a:tc>
                <a:tc>
                  <a:txBody>
                    <a:bodyPr wrap="square"/>
                    <a:lstStyle/>
                    <a:p>
                      <a:r>
                        <a:rPr sz="1000">
                          <a:solidFill>
                            <a:srgbClr val="000000"/>
                          </a:solidFill>
                          <a:latin typeface="Nunito"/>
                        </a:rPr>
                        <a:t>1.000</a:t>
                      </a:r>
                    </a:p>
                  </a:txBody>
                  <a:tcPr marL="54864" marR="54864" marT="18288" marB="18288" anchor="ctr">
                    <a:solidFill>
                      <a:srgbClr val="FFFFFF"/>
                    </a:solidFill>
                  </a:tcPr>
                </a:tc>
                <a:tc>
                  <a:txBody>
                    <a:bodyPr wrap="square"/>
                    <a:lstStyle/>
                    <a:p>
                      <a:r>
                        <a:rPr sz="1000">
                          <a:solidFill>
                            <a:srgbClr val="000000"/>
                          </a:solidFill>
                          <a:latin typeface="Nunito"/>
                        </a:rPr>
                        <a:t>0.961</a:t>
                      </a:r>
                    </a:p>
                  </a:txBody>
                  <a:tcPr marL="54864" marR="54864" marT="18288" marB="18288" anchor="ctr">
                    <a:solidFill>
                      <a:srgbClr val="FFFFFF"/>
                    </a:solidFill>
                  </a:tcPr>
                </a:tc>
              </a:tr>
            </a:tbl>
          </a:graphicData>
        </a:graphic>
      </p:graphicFrame>
      <p:sp>
        <p:nvSpPr>
          <p:cNvPr id="138" name="TextBox 137"/>
          <p:cNvSpPr txBox="1"/>
          <p:nvPr/>
        </p:nvSpPr>
        <p:spPr>
          <a:xfrm>
            <a:off x="5257800" y="2514600"/>
            <a:ext cx="3611880" cy="274320"/>
          </a:xfrm>
          <a:prstGeom prst="rect">
            <a:avLst/>
          </a:prstGeom>
          <a:noFill/>
        </p:spPr>
        <p:txBody>
          <a:bodyPr wrap="square" anchor="t" lIns="45720" rIns="45720">
            <a:spAutoFit/>
          </a:bodyPr>
          <a:lstStyle/>
          <a:p>
            <a:pPr algn="l"/>
            <a:r>
              <a:rPr sz="1000" b="1">
                <a:solidFill>
                  <a:srgbClr val="000000"/>
                </a:solidFill>
                <a:latin typeface="Nunito"/>
              </a:rPr>
              <a:t>Test confusion matrix (803 customers)</a:t>
            </a:r>
          </a:p>
        </p:txBody>
      </p:sp>
      <p:graphicFrame>
        <p:nvGraphicFramePr>
          <p:cNvPr id="139" name="Table 138"/>
          <p:cNvGraphicFramePr>
            <a:graphicFrameLocks noGrp="1"/>
          </p:cNvGraphicFramePr>
          <p:nvPr/>
        </p:nvGraphicFramePr>
        <p:xfrm>
          <a:off x="5257800" y="2788920"/>
          <a:ext cx="3611880" cy="740664"/>
        </p:xfrm>
        <a:graphic>
          <a:graphicData uri="http://schemas.openxmlformats.org/drawingml/2006/table">
            <a:tbl>
              <a:tblPr firstRow="1" bandRow="1">
                <a:tableStyleId>{5940675A-B579-460E-94D1-54222C63F5DA}</a:tableStyleId>
              </a:tblPr>
              <a:tblGrid>
                <a:gridCol w="1417320"/>
                <a:gridCol w="1097280"/>
                <a:gridCol w="1097280"/>
              </a:tblGrid>
              <a:tr h="246888">
                <a:tc>
                  <a:txBody>
                    <a:bodyPr wrap="square"/>
                    <a:lstStyle/>
                    <a:p>
                      <a:r>
                        <a:rPr sz="1000" b="1">
                          <a:solidFill>
                            <a:srgbClr val="FFFFFF"/>
                          </a:solidFill>
                          <a:latin typeface="Nunito"/>
                        </a:rPr>
                        <a:t/>
                      </a:r>
                    </a:p>
                  </a:txBody>
                  <a:tcPr marL="54864" marR="54864" marT="18288" marB="18288" anchor="ctr">
                    <a:solidFill>
                      <a:srgbClr val="0B3FBF"/>
                    </a:solidFill>
                  </a:tcPr>
                </a:tc>
                <a:tc>
                  <a:txBody>
                    <a:bodyPr wrap="square"/>
                    <a:lstStyle/>
                    <a:p>
                      <a:r>
                        <a:rPr sz="1000" b="1">
                          <a:solidFill>
                            <a:srgbClr val="FFFFFF"/>
                          </a:solidFill>
                          <a:latin typeface="Nunito"/>
                        </a:rPr>
                        <a:t>Pred. no</a:t>
                      </a:r>
                    </a:p>
                  </a:txBody>
                  <a:tcPr marL="54864" marR="54864" marT="18288" marB="18288" anchor="ctr">
                    <a:solidFill>
                      <a:srgbClr val="0B3FBF"/>
                    </a:solidFill>
                  </a:tcPr>
                </a:tc>
                <a:tc>
                  <a:txBody>
                    <a:bodyPr wrap="square"/>
                    <a:lstStyle/>
                    <a:p>
                      <a:r>
                        <a:rPr sz="1000" b="1">
                          <a:solidFill>
                            <a:srgbClr val="FFFFFF"/>
                          </a:solidFill>
                          <a:latin typeface="Nunito"/>
                        </a:rPr>
                        <a:t>Pred. buy</a:t>
                      </a:r>
                    </a:p>
                  </a:txBody>
                  <a:tcPr marL="54864" marR="54864" marT="18288" marB="18288" anchor="ctr">
                    <a:solidFill>
                      <a:srgbClr val="0B3FBF"/>
                    </a:solidFill>
                  </a:tcPr>
                </a:tc>
              </a:tr>
              <a:tr h="246888">
                <a:tc>
                  <a:txBody>
                    <a:bodyPr wrap="square"/>
                    <a:lstStyle/>
                    <a:p>
                      <a:r>
                        <a:rPr sz="1000">
                          <a:solidFill>
                            <a:srgbClr val="000000"/>
                          </a:solidFill>
                          <a:latin typeface="Nunito"/>
                        </a:rPr>
                        <a:t>Actual no</a:t>
                      </a:r>
                    </a:p>
                  </a:txBody>
                  <a:tcPr marL="54864" marR="54864" marT="18288" marB="18288" anchor="ctr">
                    <a:solidFill>
                      <a:srgbClr val="FFFFFF"/>
                    </a:solidFill>
                  </a:tcPr>
                </a:tc>
                <a:tc>
                  <a:txBody>
                    <a:bodyPr wrap="square"/>
                    <a:lstStyle/>
                    <a:p>
                      <a:r>
                        <a:rPr sz="1000">
                          <a:solidFill>
                            <a:srgbClr val="000000"/>
                          </a:solidFill>
                          <a:latin typeface="Nunito"/>
                        </a:rPr>
                        <a:t>628</a:t>
                      </a:r>
                    </a:p>
                  </a:txBody>
                  <a:tcPr marL="54864" marR="54864" marT="18288" marB="18288" anchor="ctr">
                    <a:solidFill>
                      <a:srgbClr val="FFFFFF"/>
                    </a:solidFill>
                  </a:tcPr>
                </a:tc>
                <a:tc>
                  <a:txBody>
                    <a:bodyPr wrap="square"/>
                    <a:lstStyle/>
                    <a:p>
                      <a:r>
                        <a:rPr sz="1000">
                          <a:solidFill>
                            <a:srgbClr val="000000"/>
                          </a:solidFill>
                          <a:latin typeface="Nunito"/>
                        </a:rPr>
                        <a:t>20</a:t>
                      </a:r>
                    </a:p>
                  </a:txBody>
                  <a:tcPr marL="54864" marR="54864" marT="18288" marB="18288" anchor="ctr">
                    <a:solidFill>
                      <a:srgbClr val="FFFFFF"/>
                    </a:solidFill>
                  </a:tcPr>
                </a:tc>
              </a:tr>
              <a:tr h="246888">
                <a:tc>
                  <a:txBody>
                    <a:bodyPr wrap="square"/>
                    <a:lstStyle/>
                    <a:p>
                      <a:r>
                        <a:rPr sz="1000">
                          <a:solidFill>
                            <a:srgbClr val="000000"/>
                          </a:solidFill>
                          <a:latin typeface="Nunito"/>
                        </a:rPr>
                        <a:t>Actual buy</a:t>
                      </a:r>
                    </a:p>
                  </a:txBody>
                  <a:tcPr marL="54864" marR="54864" marT="18288" marB="18288" anchor="ctr">
                    <a:solidFill>
                      <a:srgbClr val="E8EEFB"/>
                    </a:solidFill>
                  </a:tcPr>
                </a:tc>
                <a:tc>
                  <a:txBody>
                    <a:bodyPr wrap="square"/>
                    <a:lstStyle/>
                    <a:p>
                      <a:r>
                        <a:rPr sz="1000">
                          <a:solidFill>
                            <a:srgbClr val="000000"/>
                          </a:solidFill>
                          <a:latin typeface="Nunito"/>
                        </a:rPr>
                        <a:t>28</a:t>
                      </a:r>
                    </a:p>
                  </a:txBody>
                  <a:tcPr marL="54864" marR="54864" marT="18288" marB="18288" anchor="ctr">
                    <a:solidFill>
                      <a:srgbClr val="E8EEFB"/>
                    </a:solidFill>
                  </a:tcPr>
                </a:tc>
                <a:tc>
                  <a:txBody>
                    <a:bodyPr wrap="square"/>
                    <a:lstStyle/>
                    <a:p>
                      <a:r>
                        <a:rPr sz="1000">
                          <a:solidFill>
                            <a:srgbClr val="000000"/>
                          </a:solidFill>
                          <a:latin typeface="Nunito"/>
                        </a:rPr>
                        <a:t>127</a:t>
                      </a:r>
                    </a:p>
                  </a:txBody>
                  <a:tcPr marL="54864" marR="54864" marT="18288" marB="18288" anchor="ctr">
                    <a:solidFill>
                      <a:srgbClr val="E8EEFB"/>
                    </a:solidFill>
                  </a:tcPr>
                </a:tc>
              </a:tr>
            </a:tbl>
          </a:graphicData>
        </a:graphic>
      </p:graphicFrame>
      <p:sp>
        <p:nvSpPr>
          <p:cNvPr id="140" name="TextBox 139"/>
          <p:cNvSpPr txBox="1"/>
          <p:nvPr/>
        </p:nvSpPr>
        <p:spPr>
          <a:xfrm>
            <a:off x="5257800" y="3611880"/>
            <a:ext cx="3611880" cy="502920"/>
          </a:xfrm>
          <a:prstGeom prst="rect">
            <a:avLst/>
          </a:prstGeom>
          <a:noFill/>
        </p:spPr>
        <p:txBody>
          <a:bodyPr wrap="square" anchor="t" lIns="45720" rIns="45720">
            <a:spAutoFit/>
          </a:bodyPr>
          <a:lstStyle/>
          <a:p>
            <a:pPr algn="l"/>
            <a:r>
              <a:rPr sz="900" b="0">
                <a:solidFill>
                  <a:srgbClr val="595959"/>
                </a:solidFill>
                <a:latin typeface="Nunito"/>
              </a:rPr>
              <a:t>Train scores of 1.0 show overfitting. Test scores stay strong, so v1 ships, with regularisation queued for v2.</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30"/>
          <p:cNvSpPr txBox="1"/>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000"/>
              </a:spcBef>
              <a:spcAft>
                <a:spcPts val="0"/>
              </a:spcAft>
              <a:buClr>
                <a:srgbClr val="000000"/>
              </a:buClr>
              <a:buSzPts val="2200"/>
              <a:buFont typeface="Arial"/>
              <a:buNone/>
            </a:pPr>
            <a:r>
              <a:rPr b="1" i="0" lang="en" sz="2200" u="none" cap="none" strike="noStrike">
                <a:solidFill>
                  <a:schemeClr val="dk1"/>
                </a:solidFill>
                <a:highlight>
                  <a:schemeClr val="lt1"/>
                </a:highlight>
                <a:latin typeface="Nunito"/>
                <a:ea typeface="Nunito"/>
                <a:cs typeface="Nunito"/>
                <a:sym typeface="Nunito"/>
              </a:rPr>
              <a:t>Model Deployment</a:t>
            </a:r>
            <a:endParaRPr b="1" i="0" sz="2200" u="none" cap="none" strike="noStrike">
              <a:solidFill>
                <a:schemeClr val="dk1"/>
              </a:solidFill>
              <a:highlight>
                <a:schemeClr val="lt1"/>
              </a:highlight>
              <a:latin typeface="Nunito"/>
              <a:ea typeface="Nunito"/>
              <a:cs typeface="Nunito"/>
              <a:sym typeface="Nunito"/>
            </a:endParaRPr>
          </a:p>
        </p:txBody>
      </p:sp>
      <p:sp>
        <p:nvSpPr>
          <p:cNvPr id="142" name="Google Shape;142;p30"/>
          <p:cNvSpPr txBox="1"/>
          <p:nvPr/>
        </p:nvSpPr>
        <p:spPr>
          <a:xfrm>
            <a:off x="202550" y="861975"/>
            <a:ext cx="4572000" cy="37068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00000"/>
              </a:lnSpc>
              <a:spcBef>
                <a:spcPts val="200"/>
              </a:spcBef>
              <a:spcAft>
                <a:spcPts val="200"/>
              </a:spcAft>
              <a:buClr>
                <a:schemeClr val="dk1"/>
              </a:buClr>
              <a:buSzPts val="1000"/>
              <a:buFont typeface="Nunito"/>
              <a:buChar char="●"/>
            </a:pPr>
            <a:r>
              <a:rPr lang="en" sz="1000" b="1">
                <a:solidFill>
                  <a:schemeClr val="dk1"/>
                </a:solidFill>
                <a:latin typeface="Nunito"/>
                <a:ea typeface="Nunito"/>
                <a:cs typeface="Nunito"/>
                <a:sym typeface="Nunito"/>
              </a:rPr>
              <a:t>app.py</a:t>
            </a:r>
            <a:r>
              <a:rPr lang="en" sz="1000">
                <a:solidFill>
                  <a:schemeClr val="dk1"/>
                </a:solidFill>
                <a:latin typeface="Nunito"/>
                <a:ea typeface="Nunito"/>
                <a:cs typeface="Nunito"/>
                <a:sym typeface="Nunito"/>
              </a:rPr>
              <a:t>: loads the model and model_metadata.json committed by the pipeline. Paths are relative to the file, so it runs the same on both hosts.</a:t>
            </a:r>
            <a:endParaRPr sz="1000">
              <a:solidFill>
                <a:schemeClr val="dk1"/>
              </a:solidFill>
              <a:latin typeface="Nunito"/>
              <a:ea typeface="Nunito"/>
              <a:cs typeface="Nunito"/>
              <a:sym typeface="Nunito"/>
            </a:endParaRPr>
          </a:p>
          <a:p>
            <a:pPr indent="-330200" lvl="0" marL="457200" marR="0" rtl="0" algn="l">
              <a:lnSpc>
                <a:spcPct val="100000"/>
              </a:lnSpc>
              <a:spcBef>
                <a:spcPts val="200"/>
              </a:spcBef>
              <a:spcAft>
                <a:spcPts val="200"/>
              </a:spcAft>
              <a:buClr>
                <a:schemeClr val="dk1"/>
              </a:buClr>
              <a:buSzPts val="1000"/>
              <a:buFont typeface="Nunito"/>
              <a:buChar char="●"/>
            </a:pPr>
            <a:r>
              <a:rPr lang="en" sz="1000" b="1">
                <a:solidFill>
                  <a:schemeClr val="dk1"/>
                </a:solidFill>
                <a:latin typeface="Nunito"/>
                <a:ea typeface="Nunito"/>
                <a:cs typeface="Nunito"/>
                <a:sym typeface="Nunito"/>
              </a:rPr>
              <a:t>Inputs</a:t>
            </a:r>
            <a:r>
              <a:rPr lang="en" sz="1000">
                <a:solidFill>
                  <a:schemeClr val="dk1"/>
                </a:solidFill>
                <a:latin typeface="Nunito"/>
                <a:ea typeface="Nunito"/>
                <a:cs typeface="Nunito"/>
                <a:sym typeface="Nunito"/>
              </a:rPr>
              <a:t>: 18 fields go into a one-row DataFrame with the training column names. The saved pipeline scales and encodes them itself.</a:t>
            </a:r>
            <a:endParaRPr sz="1000">
              <a:solidFill>
                <a:schemeClr val="dk1"/>
              </a:solidFill>
              <a:latin typeface="Nunito"/>
              <a:ea typeface="Nunito"/>
              <a:cs typeface="Nunito"/>
              <a:sym typeface="Nunito"/>
            </a:endParaRPr>
          </a:p>
          <a:p>
            <a:pPr indent="-330200" lvl="0" marL="457200" marR="0" rtl="0" algn="l">
              <a:lnSpc>
                <a:spcPct val="100000"/>
              </a:lnSpc>
              <a:spcBef>
                <a:spcPts val="200"/>
              </a:spcBef>
              <a:spcAft>
                <a:spcPts val="200"/>
              </a:spcAft>
              <a:buClr>
                <a:schemeClr val="dk1"/>
              </a:buClr>
              <a:buSzPts val="1000"/>
              <a:buFont typeface="Nunito"/>
              <a:buChar char="●"/>
            </a:pPr>
            <a:r>
              <a:rPr lang="en" sz="1000" b="1">
                <a:solidFill>
                  <a:schemeClr val="dk1"/>
                </a:solidFill>
                <a:latin typeface="Nunito"/>
                <a:ea typeface="Nunito"/>
                <a:cs typeface="Nunito"/>
                <a:sym typeface="Nunito"/>
              </a:rPr>
              <a:t>Design</a:t>
            </a:r>
            <a:r>
              <a:rPr lang="en" sz="1000">
                <a:solidFill>
                  <a:schemeClr val="dk1"/>
                </a:solidFill>
                <a:latin typeface="Nunito"/>
                <a:ea typeface="Nunito"/>
                <a:cs typeface="Nunito"/>
                <a:sym typeface="Nunito"/>
              </a:rPr>
              <a:t>: tourism hero banner, form on the left, lead score on the right: probability ring, Hot / Warm / Cool tier, next steps, and the top factors from XGBoost contributions.</a:t>
            </a:r>
            <a:endParaRPr sz="1000">
              <a:solidFill>
                <a:schemeClr val="dk1"/>
              </a:solidFill>
              <a:latin typeface="Nunito"/>
              <a:ea typeface="Nunito"/>
              <a:cs typeface="Nunito"/>
              <a:sym typeface="Nunito"/>
            </a:endParaRPr>
          </a:p>
          <a:p>
            <a:pPr indent="-330200" lvl="0" marL="457200" marR="0" rtl="0" algn="l">
              <a:lnSpc>
                <a:spcPct val="100000"/>
              </a:lnSpc>
              <a:spcBef>
                <a:spcPts val="200"/>
              </a:spcBef>
              <a:spcAft>
                <a:spcPts val="200"/>
              </a:spcAft>
              <a:buClr>
                <a:schemeClr val="dk1"/>
              </a:buClr>
              <a:buSzPts val="1000"/>
              <a:buFont typeface="Nunito"/>
              <a:buChar char="●"/>
            </a:pPr>
            <a:r>
              <a:rPr lang="en" sz="1000" b="1">
                <a:solidFill>
                  <a:schemeClr val="dk1"/>
                </a:solidFill>
                <a:latin typeface="Nunito"/>
                <a:ea typeface="Nunito"/>
                <a:cs typeface="Nunito"/>
                <a:sym typeface="Nunito"/>
              </a:rPr>
              <a:t>Dependencies</a:t>
            </a:r>
            <a:r>
              <a:rPr lang="en" sz="1000">
                <a:solidFill>
                  <a:schemeClr val="dk1"/>
                </a:solidFill>
                <a:latin typeface="Nunito"/>
                <a:ea typeface="Nunito"/>
                <a:cs typeface="Nunito"/>
                <a:sym typeface="Nunito"/>
              </a:rPr>
              <a:t>: deployment/requirements.txt pins streamlit, scikit-learn, xgboost, pandas, numpy and pyarrow, so the model loads with its training versions.</a:t>
            </a:r>
            <a:endParaRPr sz="1000">
              <a:solidFill>
                <a:schemeClr val="dk1"/>
              </a:solidFill>
              <a:latin typeface="Nunito"/>
              <a:ea typeface="Nunito"/>
              <a:cs typeface="Nunito"/>
              <a:sym typeface="Nunito"/>
            </a:endParaRPr>
          </a:p>
          <a:p>
            <a:pPr indent="-330200" lvl="0" marL="457200" marR="0" rtl="0" algn="l">
              <a:lnSpc>
                <a:spcPct val="100000"/>
              </a:lnSpc>
              <a:spcBef>
                <a:spcPts val="200"/>
              </a:spcBef>
              <a:spcAft>
                <a:spcPts val="200"/>
              </a:spcAft>
              <a:buClr>
                <a:schemeClr val="dk1"/>
              </a:buClr>
              <a:buSzPts val="1000"/>
              <a:buFont typeface="Nunito"/>
              <a:buChar char="●"/>
            </a:pPr>
            <a:r>
              <a:rPr lang="en" sz="1000" b="1">
                <a:solidFill>
                  <a:schemeClr val="dk1"/>
                </a:solidFill>
                <a:latin typeface="Nunito"/>
                <a:ea typeface="Nunito"/>
                <a:cs typeface="Nunito"/>
                <a:sym typeface="Nunito"/>
              </a:rPr>
              <a:t>Hosting</a:t>
            </a:r>
            <a:r>
              <a:rPr lang="en" sz="1000">
                <a:solidFill>
                  <a:schemeClr val="dk1"/>
                </a:solidFill>
                <a:latin typeface="Nunito"/>
                <a:ea typeface="Nunito"/>
                <a:cs typeface="Nunito"/>
                <a:sym typeface="Nunito"/>
              </a:rPr>
              <a:t>: Streamlit Community Cloud (main, app.py, Python 3.11) and a public Hugging Face Docker Space that clones the repo and pulls main on every start.</a:t>
            </a:r>
            <a:endParaRPr sz="1000">
              <a:solidFill>
                <a:schemeClr val="dk1"/>
              </a:solidFill>
              <a:latin typeface="Nunito"/>
              <a:ea typeface="Nunito"/>
              <a:cs typeface="Nunito"/>
              <a:sym typeface="Nunito"/>
            </a:endParaRPr>
          </a:p>
          <a:p>
            <a:pPr indent="-330200" lvl="0" marL="457200" marR="0" rtl="0" algn="l">
              <a:lnSpc>
                <a:spcPct val="100000"/>
              </a:lnSpc>
              <a:spcBef>
                <a:spcPts val="200"/>
              </a:spcBef>
              <a:spcAft>
                <a:spcPts val="200"/>
              </a:spcAft>
              <a:buClr>
                <a:schemeClr val="dk1"/>
              </a:buClr>
              <a:buSzPts val="1000"/>
              <a:buFont typeface="Nunito"/>
              <a:buChar char="●"/>
            </a:pPr>
            <a:r>
              <a:rPr lang="en" sz="1000" b="1">
                <a:solidFill>
                  <a:schemeClr val="dk1"/>
                </a:solidFill>
                <a:latin typeface="Nunito"/>
                <a:ea typeface="Nunito"/>
                <a:cs typeface="Nunito"/>
                <a:sym typeface="Nunito"/>
              </a:rPr>
              <a:t>Always on</a:t>
            </a:r>
            <a:r>
              <a:rPr lang="en" sz="1000">
                <a:solidFill>
                  <a:schemeClr val="dk1"/>
                </a:solidFill>
                <a:latin typeface="Nunito"/>
                <a:ea typeface="Nunito"/>
                <a:cs typeface="Nunito"/>
                <a:sym typeface="Nunito"/>
              </a:rPr>
              <a:t>: keepalive.yml opens both apps every 6 hours for the 60-day review window.</a:t>
            </a:r>
            <a:endParaRPr sz="1000">
              <a:solidFill>
                <a:schemeClr val="dk1"/>
              </a:solidFill>
              <a:latin typeface="Nunito"/>
              <a:ea typeface="Nunito"/>
              <a:cs typeface="Nunito"/>
              <a:sym typeface="Nunito"/>
            </a:endParaRPr>
          </a:p>
        </p:txBody>
      </p:sp>
      <p:pic>
        <p:nvPicPr>
          <p:cNvPr id="143" name="Picture 142" descr="streamlit_cloud_app_crop.jpg"/>
          <p:cNvPicPr>
            <a:picLocks noChangeAspect="1"/>
          </p:cNvPicPr>
          <p:nvPr/>
        </p:nvPicPr>
        <p:blipFill>
          <a:blip r:embed="rId3"/>
          <a:stretch>
            <a:fillRect/>
          </a:stretch>
        </p:blipFill>
        <p:spPr>
          <a:xfrm>
            <a:off x="4846320" y="914400"/>
            <a:ext cx="4069080" cy="2742390"/>
          </a:xfrm>
          <a:prstGeom prst="rect">
            <a:avLst/>
          </a:prstGeom>
          <a:ln>
            <a:solidFill>
              <a:srgbClr val="BFBFBF"/>
            </a:solidFill>
          </a:ln>
        </p:spPr>
      </p:pic>
      <p:sp>
        <p:nvSpPr>
          <p:cNvPr id="144" name="TextBox 143"/>
          <p:cNvSpPr txBox="1"/>
          <p:nvPr/>
        </p:nvSpPr>
        <p:spPr>
          <a:xfrm>
            <a:off x="4846320" y="3703320"/>
            <a:ext cx="4069080" cy="365760"/>
          </a:xfrm>
          <a:prstGeom prst="rect">
            <a:avLst/>
          </a:prstGeom>
          <a:noFill/>
        </p:spPr>
        <p:txBody>
          <a:bodyPr wrap="square" anchor="t" lIns="45720" rIns="45720">
            <a:spAutoFit/>
          </a:bodyPr>
          <a:lstStyle/>
          <a:p>
            <a:pPr algn="l"/>
            <a:r>
              <a:rPr sz="900" b="0">
                <a:solidFill>
                  <a:srgbClr val="595959"/>
                </a:solidFill>
                <a:latin typeface="Nunito"/>
              </a:rPr>
              <a:t>Live Streamlit Cloud app: same customer scores 93.6%, a Hot lead.</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31"/>
          <p:cNvSpPr txBox="1"/>
          <p:nvPr/>
        </p:nvSpPr>
        <p:spPr>
          <a:xfrm>
            <a:off x="311700" y="298554"/>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000"/>
              </a:spcBef>
              <a:spcAft>
                <a:spcPts val="0"/>
              </a:spcAft>
              <a:buClr>
                <a:srgbClr val="000000"/>
              </a:buClr>
              <a:buSzPts val="2200"/>
              <a:buFont typeface="Arial"/>
              <a:buNone/>
            </a:pPr>
            <a:r>
              <a:rPr b="1" i="0" lang="en" sz="2200" u="none" cap="none" strike="noStrike">
                <a:solidFill>
                  <a:schemeClr val="dk1"/>
                </a:solidFill>
                <a:highlight>
                  <a:srgbClr val="FFFFFF"/>
                </a:highlight>
                <a:latin typeface="Nunito"/>
                <a:ea typeface="Nunito"/>
                <a:cs typeface="Nunito"/>
                <a:sym typeface="Nunito"/>
              </a:rPr>
              <a:t>Automated GitHub Actions </a:t>
            </a:r>
            <a:r>
              <a:rPr b="1" i="0" lang="en" sz="2200" u="none" cap="none" strike="noStrike">
                <a:solidFill>
                  <a:schemeClr val="dk1"/>
                </a:solidFill>
                <a:latin typeface="Nunito"/>
                <a:ea typeface="Nunito"/>
                <a:cs typeface="Nunito"/>
                <a:sym typeface="Nunito"/>
              </a:rPr>
              <a:t> Workflow</a:t>
            </a:r>
            <a:endParaRPr b="1" i="0" sz="2200" u="none" cap="none" strike="noStrike">
              <a:solidFill>
                <a:srgbClr val="000000"/>
              </a:solidFill>
              <a:latin typeface="Nunito"/>
              <a:ea typeface="Nunito"/>
              <a:cs typeface="Nunito"/>
              <a:sym typeface="Nunito"/>
            </a:endParaRPr>
          </a:p>
        </p:txBody>
      </p:sp>
      <p:sp>
        <p:nvSpPr>
          <p:cNvPr id="148" name="Google Shape;148;p31"/>
          <p:cNvSpPr txBox="1"/>
          <p:nvPr/>
        </p:nvSpPr>
        <p:spPr>
          <a:xfrm>
            <a:off x="300350" y="822960"/>
            <a:ext cx="8629800" cy="173736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00000"/>
              </a:lnSpc>
              <a:spcBef>
                <a:spcPts val="300"/>
              </a:spcBef>
              <a:spcAft>
                <a:spcPts val="300"/>
              </a:spcAft>
              <a:buClr>
                <a:schemeClr val="dk1"/>
              </a:buClr>
              <a:buSzPts val="1200"/>
              <a:buFont typeface="Nunito"/>
              <a:buChar char="●"/>
            </a:pPr>
            <a:r>
              <a:rPr b="1" i="0" lang="en" sz="1200" u="none" cap="none" strike="noStrike">
                <a:solidFill>
                  <a:schemeClr val="dk1"/>
                </a:solidFill>
                <a:latin typeface="Nunito"/>
                <a:ea typeface="Nunito"/>
                <a:cs typeface="Nunito"/>
                <a:sym typeface="Nunito"/>
              </a:rPr>
              <a:t>pipeline.yml</a:t>
            </a:r>
            <a:r>
              <a:rPr b="0" i="0" lang="en" sz="1200" u="none" cap="none" strike="noStrike">
                <a:solidFill>
                  <a:schemeClr val="dk1"/>
                </a:solidFill>
                <a:latin typeface="Nunito"/>
                <a:ea typeface="Nunito"/>
                <a:cs typeface="Nunito"/>
                <a:sym typeface="Nunito"/>
              </a:rPr>
              <a:t>: lives in .github/workflows/. It runs on every push to main and on manual “Run workflow”.</a:t>
            </a:r>
            <a:endParaRPr b="0" i="0" sz="1200" u="none" cap="none" strike="noStrike">
              <a:solidFill>
                <a:schemeClr val="dk1"/>
              </a:solidFill>
              <a:latin typeface="Nunito"/>
              <a:ea typeface="Nunito"/>
              <a:cs typeface="Nunito"/>
              <a:sym typeface="Nunito"/>
            </a:endParaRPr>
          </a:p>
          <a:p>
            <a:pPr indent="-330200" lvl="0" marL="457200" marR="0" rtl="0" algn="l">
              <a:lnSpc>
                <a:spcPct val="100000"/>
              </a:lnSpc>
              <a:spcBef>
                <a:spcPts val="300"/>
              </a:spcBef>
              <a:spcAft>
                <a:spcPts val="300"/>
              </a:spcAft>
              <a:buClr>
                <a:schemeClr val="dk1"/>
              </a:buClr>
              <a:buSzPts val="1200"/>
              <a:buFont typeface="Nunito"/>
              <a:buChar char="●"/>
            </a:pPr>
            <a:r>
              <a:rPr b="1" i="0" lang="en" sz="1200" u="none" cap="none" strike="noStrike">
                <a:solidFill>
                  <a:schemeClr val="dk1"/>
                </a:solidFill>
                <a:latin typeface="Nunito"/>
                <a:ea typeface="Nunito"/>
                <a:cs typeface="Nunito"/>
                <a:sym typeface="Nunito"/>
              </a:rPr>
              <a:t>Three chained jobs</a:t>
            </a:r>
            <a:r>
              <a:rPr b="0" i="0" lang="en" sz="1200" u="none" cap="none" strike="noStrike">
                <a:solidFill>
                  <a:schemeClr val="dk1"/>
                </a:solidFill>
                <a:latin typeface="Nunito"/>
                <a:ea typeface="Nunito"/>
                <a:cs typeface="Nunito"/>
                <a:sym typeface="Nunito"/>
              </a:rPr>
              <a:t>: each uses Python 3.11 and installs tourism_project/requirements.txt. Data moves between jobs as artifacts.</a:t>
            </a:r>
            <a:endParaRPr b="0" i="0" sz="1200" u="none" cap="none" strike="noStrike">
              <a:solidFill>
                <a:schemeClr val="dk1"/>
              </a:solidFill>
              <a:latin typeface="Nunito"/>
              <a:ea typeface="Nunito"/>
              <a:cs typeface="Nunito"/>
              <a:sym typeface="Nunito"/>
            </a:endParaRPr>
          </a:p>
          <a:p>
            <a:pPr indent="-330200" lvl="0" marL="457200" marR="0" rtl="0" algn="l">
              <a:lnSpc>
                <a:spcPct val="100000"/>
              </a:lnSpc>
              <a:spcBef>
                <a:spcPts val="300"/>
              </a:spcBef>
              <a:spcAft>
                <a:spcPts val="300"/>
              </a:spcAft>
              <a:buClr>
                <a:schemeClr val="dk1"/>
              </a:buClr>
              <a:buSzPts val="1200"/>
              <a:buFont typeface="Nunito"/>
              <a:buChar char="●"/>
            </a:pPr>
            <a:r>
              <a:rPr b="1" i="0" lang="en" sz="1200" u="none" cap="none" strike="noStrike">
                <a:solidFill>
                  <a:schemeClr val="dk1"/>
                </a:solidFill>
                <a:latin typeface="Nunito"/>
                <a:ea typeface="Nunito"/>
                <a:cs typeface="Nunito"/>
                <a:sym typeface="Nunito"/>
              </a:rPr>
              <a:t>Auto-update</a:t>
            </a:r>
            <a:r>
              <a:rPr b="0" i="0" lang="en" sz="1200" u="none" cap="none" strike="noStrike">
                <a:solidFill>
                  <a:schemeClr val="dk1"/>
                </a:solidFill>
                <a:latin typeface="Nunito"/>
                <a:ea typeface="Nunito"/>
                <a:cs typeface="Nunito"/>
                <a:sym typeface="Nunito"/>
              </a:rPr>
              <a:t>: the last step commits the new model to main with “[skip ci]”, so the commit does not retrigger the pipeline. permissions: contents: write lets the bot push. A second workflow, keepalive.yml, keeps both apps awake.</a:t>
            </a:r>
            <a:endParaRPr b="0" i="0" sz="1200" u="none" cap="none" strike="noStrike">
              <a:solidFill>
                <a:schemeClr val="dk1"/>
              </a:solidFill>
              <a:latin typeface="Nunito"/>
              <a:ea typeface="Nunito"/>
              <a:cs typeface="Nunito"/>
              <a:sym typeface="Nunito"/>
            </a:endParaRPr>
          </a:p>
        </p:txBody>
      </p:sp>
      <p:sp>
        <p:nvSpPr>
          <p:cNvPr id="149" name="Rounded Rectangle 148"/>
          <p:cNvSpPr/>
          <p:nvPr/>
        </p:nvSpPr>
        <p:spPr>
          <a:xfrm>
            <a:off x="457200" y="2788920"/>
            <a:ext cx="2377440" cy="1143000"/>
          </a:xfrm>
          <a:prstGeom prst="roundRect">
            <a:avLst>
              <a:gd name="adj" fmla="val 8000"/>
            </a:avLst>
          </a:prstGeom>
          <a:solidFill>
            <a:srgbClr val="E8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548640" y="2880360"/>
            <a:ext cx="2194560" cy="320040"/>
          </a:xfrm>
          <a:prstGeom prst="rect">
            <a:avLst/>
          </a:prstGeom>
          <a:noFill/>
        </p:spPr>
        <p:txBody>
          <a:bodyPr wrap="square" anchor="t" lIns="45720" rIns="45720">
            <a:spAutoFit/>
          </a:bodyPr>
          <a:lstStyle/>
          <a:p>
            <a:pPr algn="l"/>
            <a:r>
              <a:rPr sz="1300" b="1">
                <a:solidFill>
                  <a:srgbClr val="0B3FBF"/>
                </a:solidFill>
                <a:latin typeface="Nunito"/>
              </a:rPr>
              <a:t>1  register-dataset</a:t>
            </a:r>
          </a:p>
        </p:txBody>
      </p:sp>
      <p:sp>
        <p:nvSpPr>
          <p:cNvPr id="151" name="TextBox 150"/>
          <p:cNvSpPr txBox="1"/>
          <p:nvPr/>
        </p:nvSpPr>
        <p:spPr>
          <a:xfrm>
            <a:off x="548640" y="3227832"/>
            <a:ext cx="2194560" cy="640080"/>
          </a:xfrm>
          <a:prstGeom prst="rect">
            <a:avLst/>
          </a:prstGeom>
          <a:noFill/>
        </p:spPr>
        <p:txBody>
          <a:bodyPr wrap="square" anchor="t" lIns="45720" rIns="45720">
            <a:spAutoFit/>
          </a:bodyPr>
          <a:lstStyle/>
          <a:p>
            <a:pPr algn="l"/>
            <a:r>
              <a:rPr sz="1000" b="0">
                <a:solidFill>
                  <a:srgbClr val="000000"/>
                </a:solidFill>
                <a:latin typeface="Nunito"/>
              </a:rPr>
              <a:t>Validate schema</a:t>
            </a:r>
          </a:p>
          <a:p>
            <a:pPr algn="l"/>
            <a:r>
              <a:rPr sz="1000" b="0">
                <a:solidFill>
                  <a:srgbClr val="000000"/>
                </a:solidFill>
                <a:latin typeface="Nunito"/>
              </a:rPr>
              <a:t>Upload registered-data</a:t>
            </a:r>
          </a:p>
        </p:txBody>
      </p:sp>
      <p:cxnSp>
        <p:nvCxnSpPr>
          <p:cNvPr id="152" name="Connector 151"/>
          <p:cNvCxnSpPr/>
          <p:nvPr/>
        </p:nvCxnSpPr>
        <p:spPr>
          <a:xfrm>
            <a:off x="2880360" y="3360420"/>
            <a:ext cx="411480" cy="0"/>
          </a:xfrm>
          <a:prstGeom prst="line">
            <a:avLst/>
          </a:prstGeom>
          <a:ln w="1905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53" name="Rounded Rectangle 152"/>
          <p:cNvSpPr/>
          <p:nvPr/>
        </p:nvSpPr>
        <p:spPr>
          <a:xfrm>
            <a:off x="3337560" y="2788920"/>
            <a:ext cx="2377440" cy="1143000"/>
          </a:xfrm>
          <a:prstGeom prst="roundRect">
            <a:avLst>
              <a:gd name="adj" fmla="val 8000"/>
            </a:avLst>
          </a:prstGeom>
          <a:solidFill>
            <a:srgbClr val="E8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3429000" y="2880360"/>
            <a:ext cx="2194560" cy="320040"/>
          </a:xfrm>
          <a:prstGeom prst="rect">
            <a:avLst/>
          </a:prstGeom>
          <a:noFill/>
        </p:spPr>
        <p:txBody>
          <a:bodyPr wrap="square" anchor="t" lIns="45720" rIns="45720">
            <a:spAutoFit/>
          </a:bodyPr>
          <a:lstStyle/>
          <a:p>
            <a:pPr algn="l"/>
            <a:r>
              <a:rPr sz="1300" b="1">
                <a:solidFill>
                  <a:srgbClr val="0B3FBF"/>
                </a:solidFill>
                <a:latin typeface="Nunito"/>
              </a:rPr>
              <a:t>2  data-prep</a:t>
            </a:r>
          </a:p>
        </p:txBody>
      </p:sp>
      <p:sp>
        <p:nvSpPr>
          <p:cNvPr id="155" name="TextBox 154"/>
          <p:cNvSpPr txBox="1"/>
          <p:nvPr/>
        </p:nvSpPr>
        <p:spPr>
          <a:xfrm>
            <a:off x="3429000" y="3227832"/>
            <a:ext cx="2194560" cy="640080"/>
          </a:xfrm>
          <a:prstGeom prst="rect">
            <a:avLst/>
          </a:prstGeom>
          <a:noFill/>
        </p:spPr>
        <p:txBody>
          <a:bodyPr wrap="square" anchor="t" lIns="45720" rIns="45720">
            <a:spAutoFit/>
          </a:bodyPr>
          <a:lstStyle/>
          <a:p>
            <a:pPr algn="l"/>
            <a:r>
              <a:rPr sz="1000" b="0">
                <a:solidFill>
                  <a:srgbClr val="000000"/>
                </a:solidFill>
                <a:latin typeface="Nunito"/>
              </a:rPr>
              <a:t>Clean + split 80/20</a:t>
            </a:r>
          </a:p>
          <a:p>
            <a:pPr algn="l"/>
            <a:r>
              <a:rPr sz="1000" b="0">
                <a:solidFill>
                  <a:srgbClr val="000000"/>
                </a:solidFill>
                <a:latin typeface="Nunito"/>
              </a:rPr>
              <a:t>Upload data-splits</a:t>
            </a:r>
          </a:p>
        </p:txBody>
      </p:sp>
      <p:cxnSp>
        <p:nvCxnSpPr>
          <p:cNvPr id="156" name="Connector 155"/>
          <p:cNvCxnSpPr/>
          <p:nvPr/>
        </p:nvCxnSpPr>
        <p:spPr>
          <a:xfrm>
            <a:off x="5760720" y="3360420"/>
            <a:ext cx="411480" cy="0"/>
          </a:xfrm>
          <a:prstGeom prst="line">
            <a:avLst/>
          </a:prstGeom>
          <a:ln w="1905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57" name="Rounded Rectangle 156"/>
          <p:cNvSpPr/>
          <p:nvPr/>
        </p:nvSpPr>
        <p:spPr>
          <a:xfrm>
            <a:off x="6217920" y="2788920"/>
            <a:ext cx="2377440" cy="1143000"/>
          </a:xfrm>
          <a:prstGeom prst="roundRect">
            <a:avLst>
              <a:gd name="adj" fmla="val 8000"/>
            </a:avLst>
          </a:prstGeom>
          <a:solidFill>
            <a:srgbClr val="E8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6309360" y="2880360"/>
            <a:ext cx="2194560" cy="320040"/>
          </a:xfrm>
          <a:prstGeom prst="rect">
            <a:avLst/>
          </a:prstGeom>
          <a:noFill/>
        </p:spPr>
        <p:txBody>
          <a:bodyPr wrap="square" anchor="t" lIns="45720" rIns="45720">
            <a:spAutoFit/>
          </a:bodyPr>
          <a:lstStyle/>
          <a:p>
            <a:pPr algn="l"/>
            <a:r>
              <a:rPr sz="1300" b="1">
                <a:solidFill>
                  <a:srgbClr val="0B3FBF"/>
                </a:solidFill>
                <a:latin typeface="Nunito"/>
              </a:rPr>
              <a:t>3  model-traning</a:t>
            </a:r>
          </a:p>
        </p:txBody>
      </p:sp>
      <p:sp>
        <p:nvSpPr>
          <p:cNvPr id="159" name="TextBox 158"/>
          <p:cNvSpPr txBox="1"/>
          <p:nvPr/>
        </p:nvSpPr>
        <p:spPr>
          <a:xfrm>
            <a:off x="6309360" y="3227832"/>
            <a:ext cx="2194560" cy="640080"/>
          </a:xfrm>
          <a:prstGeom prst="rect">
            <a:avLst/>
          </a:prstGeom>
          <a:noFill/>
        </p:spPr>
        <p:txBody>
          <a:bodyPr wrap="square" anchor="t" lIns="45720" rIns="45720">
            <a:spAutoFit/>
          </a:bodyPr>
          <a:lstStyle/>
          <a:p>
            <a:pPr algn="l"/>
            <a:r>
              <a:rPr sz="1000" b="0">
                <a:solidFill>
                  <a:srgbClr val="000000"/>
                </a:solidFill>
                <a:latin typeface="Nunito"/>
              </a:rPr>
              <a:t>MLflow server + GridSearch</a:t>
            </a:r>
          </a:p>
          <a:p>
            <a:pPr algn="l"/>
            <a:r>
              <a:rPr sz="1000" b="0">
                <a:solidFill>
                  <a:srgbClr val="000000"/>
                </a:solidFill>
                <a:latin typeface="Nunito"/>
              </a:rPr>
              <a:t>Commit model to main</a:t>
            </a:r>
          </a:p>
        </p:txBody>
      </p:sp>
      <p:sp>
        <p:nvSpPr>
          <p:cNvPr id="160" name="TextBox 159"/>
          <p:cNvSpPr txBox="1"/>
          <p:nvPr/>
        </p:nvSpPr>
        <p:spPr>
          <a:xfrm>
            <a:off x="457200" y="4023360"/>
            <a:ext cx="8229600" cy="274320"/>
          </a:xfrm>
          <a:prstGeom prst="rect">
            <a:avLst/>
          </a:prstGeom>
          <a:noFill/>
        </p:spPr>
        <p:txBody>
          <a:bodyPr wrap="square" anchor="t" lIns="45720" rIns="45720">
            <a:spAutoFit/>
          </a:bodyPr>
          <a:lstStyle/>
          <a:p>
            <a:pPr algn="l"/>
            <a:r>
              <a:rPr sz="900" b="0">
                <a:solidFill>
                  <a:srgbClr val="595959"/>
                </a:solidFill>
                <a:latin typeface="Nunito"/>
              </a:rPr>
              <a:t>Job name “model-traning” is kept as given in the course template.</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32"/>
          <p:cNvSpPr txBox="1"/>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000"/>
              </a:spcBef>
              <a:spcAft>
                <a:spcPts val="0"/>
              </a:spcAft>
              <a:buClr>
                <a:srgbClr val="000000"/>
              </a:buClr>
              <a:buSzPts val="2200"/>
              <a:buFont typeface="Arial"/>
              <a:buNone/>
            </a:pPr>
            <a:r>
              <a:rPr b="1" i="0" lang="en" sz="2200" u="none" cap="none" strike="noStrike">
                <a:solidFill>
                  <a:schemeClr val="dk1"/>
                </a:solidFill>
                <a:highlight>
                  <a:srgbClr val="FFFFFF"/>
                </a:highlight>
                <a:latin typeface="Nunito"/>
                <a:ea typeface="Nunito"/>
                <a:cs typeface="Nunito"/>
                <a:sym typeface="Nunito"/>
              </a:rPr>
              <a:t>Output Evaluation</a:t>
            </a:r>
            <a:endParaRPr b="1" i="0" sz="2200" u="none" cap="none" strike="noStrike">
              <a:solidFill>
                <a:srgbClr val="000000"/>
              </a:solidFill>
              <a:latin typeface="Nunito"/>
              <a:ea typeface="Nunito"/>
              <a:cs typeface="Nunito"/>
              <a:sym typeface="Nunito"/>
            </a:endParaRPr>
          </a:p>
        </p:txBody>
      </p:sp>
      <p:sp>
        <p:nvSpPr>
          <p:cNvPr id="154" name="Google Shape;154;p32"/>
          <p:cNvSpPr txBox="1"/>
          <p:nvPr/>
        </p:nvSpPr>
        <p:spPr>
          <a:xfrm>
            <a:off x="202550" y="731520"/>
            <a:ext cx="8629800" cy="914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100"/>
              </a:spcBef>
              <a:spcAft>
                <a:spcPts val="100"/>
              </a:spcAft>
              <a:buClr>
                <a:srgbClr val="000000"/>
              </a:buClr>
              <a:buSzPts val="1000"/>
              <a:buFont typeface="Arial"/>
              <a:buNone/>
            </a:pPr>
            <a:r>
              <a:rPr lang="en" b="1" sz="1000"/>
              <a:t>GitHub (public)</a:t>
            </a:r>
            <a:r>
              <a:rPr lang="en" sz="1000"/>
              <a:t>: https://github.com/DatariusAI/Deakin-AIML-Bridge-Tourism-Wellness-MLOps</a:t>
            </a:r>
            <a:endParaRPr b="0" i="0" sz="1000" u="none" cap="none" strike="noStrike">
              <a:solidFill>
                <a:schemeClr val="dk1"/>
              </a:solidFill>
              <a:latin typeface="Nunito"/>
              <a:ea typeface="Nunito"/>
              <a:cs typeface="Nunito"/>
              <a:sym typeface="Nunito"/>
            </a:endParaRPr>
          </a:p>
          <a:p>
            <a:pPr indent="0" lvl="0" marL="0" marR="0" rtl="0" algn="l">
              <a:lnSpc>
                <a:spcPct val="100000"/>
              </a:lnSpc>
              <a:spcBef>
                <a:spcPts val="100"/>
              </a:spcBef>
              <a:spcAft>
                <a:spcPts val="100"/>
              </a:spcAft>
              <a:buClr>
                <a:srgbClr val="000000"/>
              </a:buClr>
              <a:buSzPts val="1000"/>
              <a:buFont typeface="Arial"/>
              <a:buNone/>
            </a:pPr>
            <a:r>
              <a:rPr lang="en" b="1" sz="1000"/>
              <a:t>Streamlit Community Cloud</a:t>
            </a:r>
            <a:r>
              <a:rPr lang="en" sz="1000"/>
              <a:t>: https://datariusai-tourism-wellness-mlops.streamlit.app</a:t>
            </a:r>
            <a:endParaRPr b="0" i="0" sz="1000" u="none" cap="none" strike="noStrike">
              <a:solidFill>
                <a:schemeClr val="dk1"/>
              </a:solidFill>
              <a:latin typeface="Nunito"/>
              <a:ea typeface="Nunito"/>
              <a:cs typeface="Nunito"/>
              <a:sym typeface="Nunito"/>
            </a:endParaRPr>
          </a:p>
          <a:p>
            <a:pPr indent="0" lvl="0" marL="0" marR="0" rtl="0" algn="l">
              <a:lnSpc>
                <a:spcPct val="100000"/>
              </a:lnSpc>
              <a:spcBef>
                <a:spcPts val="100"/>
              </a:spcBef>
              <a:spcAft>
                <a:spcPts val="100"/>
              </a:spcAft>
              <a:buClr>
                <a:srgbClr val="000000"/>
              </a:buClr>
              <a:buSzPts val="1000"/>
              <a:buFont typeface="Arial"/>
              <a:buNone/>
            </a:pPr>
            <a:r>
              <a:rPr lang="en" b="1" sz="1000"/>
              <a:t>Hugging Face Space</a:t>
            </a:r>
            <a:r>
              <a:rPr lang="en" sz="1000"/>
              <a:t>: https://huggingface.co/spaces/DatariusAI/tourism-wellness-mlops</a:t>
            </a:r>
            <a:endParaRPr b="0" i="0" sz="1000" u="none" cap="none" strike="noStrike">
              <a:solidFill>
                <a:schemeClr val="dk1"/>
              </a:solidFill>
              <a:latin typeface="Nunito"/>
              <a:ea typeface="Nunito"/>
              <a:cs typeface="Nunito"/>
              <a:sym typeface="Nunito"/>
            </a:endParaRPr>
          </a:p>
        </p:txBody>
      </p:sp>
      <p:pic>
        <p:nvPicPr>
          <p:cNvPr id="155" name="Picture 154" descr="actions_run_crop.jpg"/>
          <p:cNvPicPr>
            <a:picLocks noChangeAspect="1"/>
          </p:cNvPicPr>
          <p:nvPr/>
        </p:nvPicPr>
        <p:blipFill>
          <a:blip r:embed="rId3"/>
          <a:stretch>
            <a:fillRect/>
          </a:stretch>
        </p:blipFill>
        <p:spPr>
          <a:xfrm>
            <a:off x="320040" y="1645920"/>
            <a:ext cx="4206240" cy="986480"/>
          </a:xfrm>
          <a:prstGeom prst="rect">
            <a:avLst/>
          </a:prstGeom>
          <a:ln>
            <a:solidFill>
              <a:srgbClr val="BFBFBF"/>
            </a:solidFill>
          </a:ln>
        </p:spPr>
      </p:pic>
      <p:pic>
        <p:nvPicPr>
          <p:cNvPr id="156" name="Picture 155" descr="repo_tree_crop.jpg"/>
          <p:cNvPicPr>
            <a:picLocks noChangeAspect="1"/>
          </p:cNvPicPr>
          <p:nvPr/>
        </p:nvPicPr>
        <p:blipFill>
          <a:blip r:embed="rId4"/>
          <a:stretch>
            <a:fillRect/>
          </a:stretch>
        </p:blipFill>
        <p:spPr>
          <a:xfrm>
            <a:off x="320040" y="3017520"/>
            <a:ext cx="2046111" cy="1325880"/>
          </a:xfrm>
          <a:prstGeom prst="rect">
            <a:avLst/>
          </a:prstGeom>
          <a:ln>
            <a:solidFill>
              <a:srgbClr val="BFBFBF"/>
            </a:solidFill>
          </a:ln>
        </p:spPr>
      </p:pic>
      <p:pic>
        <p:nvPicPr>
          <p:cNvPr id="157" name="Picture 156" descr="keepalive_crop.jpg"/>
          <p:cNvPicPr>
            <a:picLocks noChangeAspect="1"/>
          </p:cNvPicPr>
          <p:nvPr/>
        </p:nvPicPr>
        <p:blipFill>
          <a:blip r:embed="rId5"/>
          <a:stretch>
            <a:fillRect/>
          </a:stretch>
        </p:blipFill>
        <p:spPr>
          <a:xfrm>
            <a:off x="2606040" y="3017520"/>
            <a:ext cx="1920240" cy="424832"/>
          </a:xfrm>
          <a:prstGeom prst="rect">
            <a:avLst/>
          </a:prstGeom>
          <a:ln>
            <a:solidFill>
              <a:srgbClr val="BFBFBF"/>
            </a:solidFill>
          </a:ln>
        </p:spPr>
      </p:pic>
      <p:sp>
        <p:nvSpPr>
          <p:cNvPr id="158" name="TextBox 157"/>
          <p:cNvSpPr txBox="1"/>
          <p:nvPr/>
        </p:nvSpPr>
        <p:spPr>
          <a:xfrm>
            <a:off x="2606040" y="3520440"/>
            <a:ext cx="1920240" cy="914400"/>
          </a:xfrm>
          <a:prstGeom prst="rect">
            <a:avLst/>
          </a:prstGeom>
          <a:noFill/>
        </p:spPr>
        <p:txBody>
          <a:bodyPr wrap="square" anchor="t" lIns="45720" rIns="45720">
            <a:spAutoFit/>
          </a:bodyPr>
          <a:lstStyle/>
          <a:p>
            <a:pPr algn="l"/>
            <a:r>
              <a:rPr sz="800" b="0">
                <a:solidFill>
                  <a:srgbClr val="595959"/>
                </a:solidFill>
                <a:latin typeface="Nunito"/>
              </a:rPr>
              <a:t>Run #8, started by the notebook push: 3 jobs green in 3m 6s. The bot commits the model.</a:t>
            </a:r>
          </a:p>
          <a:p>
            <a:pPr algn="l"/>
            <a:r>
              <a:rPr sz="800" b="0">
                <a:solidFill>
                  <a:srgbClr val="595959"/>
                </a:solidFill>
                <a:latin typeface="Nunito"/>
              </a:rPr>
              <a:t>Keep-alive run: both apps awake.</a:t>
            </a:r>
          </a:p>
        </p:txBody>
      </p:sp>
      <p:pic>
        <p:nvPicPr>
          <p:cNvPr id="159" name="Picture 158" descr="streamlit_cloud_app_crop.jpg"/>
          <p:cNvPicPr>
            <a:picLocks noChangeAspect="1"/>
          </p:cNvPicPr>
          <p:nvPr/>
        </p:nvPicPr>
        <p:blipFill>
          <a:blip r:embed="rId6"/>
          <a:stretch>
            <a:fillRect/>
          </a:stretch>
        </p:blipFill>
        <p:spPr>
          <a:xfrm>
            <a:off x="4754880" y="1645920"/>
            <a:ext cx="2011680" cy="1355788"/>
          </a:xfrm>
          <a:prstGeom prst="rect">
            <a:avLst/>
          </a:prstGeom>
          <a:ln>
            <a:solidFill>
              <a:srgbClr val="BFBFBF"/>
            </a:solidFill>
          </a:ln>
        </p:spPr>
      </p:pic>
      <p:pic>
        <p:nvPicPr>
          <p:cNvPr id="160" name="Picture 159" descr="hf_space_app_crop.jpg"/>
          <p:cNvPicPr>
            <a:picLocks noChangeAspect="1"/>
          </p:cNvPicPr>
          <p:nvPr/>
        </p:nvPicPr>
        <p:blipFill>
          <a:blip r:embed="rId7"/>
          <a:stretch>
            <a:fillRect/>
          </a:stretch>
        </p:blipFill>
        <p:spPr>
          <a:xfrm>
            <a:off x="6903720" y="1645920"/>
            <a:ext cx="2011680" cy="1355788"/>
          </a:xfrm>
          <a:prstGeom prst="rect">
            <a:avLst/>
          </a:prstGeom>
          <a:ln>
            <a:solidFill>
              <a:srgbClr val="BFBFBF"/>
            </a:solidFill>
          </a:ln>
        </p:spPr>
      </p:pic>
      <p:sp>
        <p:nvSpPr>
          <p:cNvPr id="161" name="TextBox 160"/>
          <p:cNvSpPr txBox="1"/>
          <p:nvPr/>
        </p:nvSpPr>
        <p:spPr>
          <a:xfrm>
            <a:off x="4754880" y="3035808"/>
            <a:ext cx="2011680" cy="274320"/>
          </a:xfrm>
          <a:prstGeom prst="rect">
            <a:avLst/>
          </a:prstGeom>
          <a:noFill/>
        </p:spPr>
        <p:txBody>
          <a:bodyPr wrap="square" anchor="t" lIns="45720" rIns="45720">
            <a:spAutoFit/>
          </a:bodyPr>
          <a:lstStyle/>
          <a:p>
            <a:pPr algn="l"/>
            <a:r>
              <a:rPr sz="900" b="1">
                <a:solidFill>
                  <a:srgbClr val="000000"/>
                </a:solidFill>
                <a:latin typeface="Nunito"/>
              </a:rPr>
              <a:t>Streamlit Community Cloud</a:t>
            </a:r>
          </a:p>
        </p:txBody>
      </p:sp>
      <p:sp>
        <p:nvSpPr>
          <p:cNvPr id="162" name="TextBox 161"/>
          <p:cNvSpPr txBox="1"/>
          <p:nvPr/>
        </p:nvSpPr>
        <p:spPr>
          <a:xfrm>
            <a:off x="6903720" y="3035808"/>
            <a:ext cx="2011680" cy="274320"/>
          </a:xfrm>
          <a:prstGeom prst="rect">
            <a:avLst/>
          </a:prstGeom>
          <a:noFill/>
        </p:spPr>
        <p:txBody>
          <a:bodyPr wrap="square" anchor="t" lIns="45720" rIns="45720">
            <a:spAutoFit/>
          </a:bodyPr>
          <a:lstStyle/>
          <a:p>
            <a:pPr algn="l"/>
            <a:r>
              <a:rPr sz="900" b="1">
                <a:solidFill>
                  <a:srgbClr val="000000"/>
                </a:solidFill>
                <a:latin typeface="Nunito"/>
              </a:rPr>
              <a:t>Hugging Face Space</a:t>
            </a:r>
          </a:p>
        </p:txBody>
      </p:sp>
      <p:sp>
        <p:nvSpPr>
          <p:cNvPr id="163" name="TextBox 162"/>
          <p:cNvSpPr txBox="1"/>
          <p:nvPr/>
        </p:nvSpPr>
        <p:spPr>
          <a:xfrm>
            <a:off x="4754880" y="3337560"/>
            <a:ext cx="4160520" cy="1097280"/>
          </a:xfrm>
          <a:prstGeom prst="rect">
            <a:avLst/>
          </a:prstGeom>
          <a:noFill/>
        </p:spPr>
        <p:txBody>
          <a:bodyPr wrap="square" anchor="t" lIns="45720" rIns="45720">
            <a:spAutoFit/>
          </a:bodyPr>
          <a:lstStyle/>
          <a:p>
            <a:pPr algn="l"/>
            <a:r>
              <a:rPr sz="900" b="0">
                <a:solidFill>
                  <a:srgbClr val="595959"/>
                </a:solidFill>
                <a:latin typeface="Nunito"/>
              </a:rPr>
              <a:t>Same customer on both apps: 26, single, Executive, passport, tier-3 city, Basic package.</a:t>
            </a:r>
          </a:p>
          <a:p>
            <a:pPr algn="l"/>
            <a:r>
              <a:rPr sz="900" b="0">
                <a:solidFill>
                  <a:srgbClr val="595959"/>
                </a:solidFill>
                <a:latin typeface="Nunito"/>
              </a:rPr>
              <a:t>Both return 93.6%, a Hot lead, so both front ends serve the same pipeline-trained model.</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id="159" name="Google Shape;159;p33"/>
          <p:cNvPicPr preferRelativeResize="0"/>
          <p:nvPr/>
        </p:nvPicPr>
        <p:blipFill rotWithShape="1">
          <a:blip r:embed="rId3">
            <a:alphaModFix/>
          </a:blip>
          <a:srcRect b="0" l="0" r="0" t="0"/>
          <a:stretch/>
        </p:blipFill>
        <p:spPr>
          <a:xfrm>
            <a:off x="0" y="2692825"/>
            <a:ext cx="8893198" cy="8509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4"/>
          <p:cNvSpPr txBox="1"/>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000"/>
              </a:spcBef>
              <a:spcAft>
                <a:spcPts val="0"/>
              </a:spcAft>
              <a:buClr>
                <a:srgbClr val="000000"/>
              </a:buClr>
              <a:buSzPts val="2200"/>
              <a:buFont typeface="Arial"/>
              <a:buNone/>
            </a:pPr>
            <a:r>
              <a:rPr b="1" i="0" lang="en" sz="2200" u="none" cap="none" strike="noStrike">
                <a:solidFill>
                  <a:schemeClr val="dk1"/>
                </a:solidFill>
                <a:highlight>
                  <a:srgbClr val="FFFFFF"/>
                </a:highlight>
                <a:latin typeface="Nunito"/>
                <a:ea typeface="Nunito"/>
                <a:cs typeface="Nunito"/>
                <a:sym typeface="Nunito"/>
              </a:rPr>
              <a:t>Dataset Overview and Registration</a:t>
            </a:r>
            <a:endParaRPr b="1" i="0" sz="2200" u="none" cap="none" strike="noStrike">
              <a:solidFill>
                <a:srgbClr val="000000"/>
              </a:solidFill>
              <a:latin typeface="Nunito"/>
              <a:ea typeface="Nunito"/>
              <a:cs typeface="Nunito"/>
              <a:sym typeface="Nunito"/>
            </a:endParaRPr>
          </a:p>
        </p:txBody>
      </p:sp>
      <p:sp>
        <p:nvSpPr>
          <p:cNvPr id="165" name="Google Shape;165;p34"/>
          <p:cNvSpPr txBox="1"/>
          <p:nvPr/>
        </p:nvSpPr>
        <p:spPr>
          <a:xfrm>
            <a:off x="202550" y="861975"/>
            <a:ext cx="4572000" cy="37068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00000"/>
              </a:lnSpc>
              <a:spcBef>
                <a:spcPts val="200"/>
              </a:spcBef>
              <a:spcAft>
                <a:spcPts val="200"/>
              </a:spcAft>
              <a:buClr>
                <a:schemeClr val="dk1"/>
              </a:buClr>
              <a:buSzPts val="1100"/>
              <a:buFont typeface="Nunito"/>
              <a:buChar char="●"/>
            </a:pPr>
            <a:r>
              <a:rPr lang="en" sz="1100" b="1">
                <a:solidFill>
                  <a:schemeClr val="dk1"/>
                </a:solidFill>
                <a:latin typeface="Nunito"/>
                <a:ea typeface="Nunito"/>
                <a:cs typeface="Nunito"/>
                <a:sym typeface="Nunito"/>
              </a:rPr>
              <a:t>Source</a:t>
            </a:r>
            <a:r>
              <a:rPr lang="en" sz="1100">
                <a:solidFill>
                  <a:schemeClr val="dk1"/>
                </a:solidFill>
                <a:latin typeface="Nunito"/>
                <a:ea typeface="Nunito"/>
                <a:cs typeface="Nunito"/>
                <a:sym typeface="Nunito"/>
              </a:rPr>
              <a:t>: “Visit with Us” customer and sales-interaction records (tourism.csv, course-provided).</a:t>
            </a:r>
            <a:endParaRPr sz="1100">
              <a:solidFill>
                <a:schemeClr val="dk1"/>
              </a:solidFill>
              <a:latin typeface="Nunito"/>
              <a:ea typeface="Nunito"/>
              <a:cs typeface="Nunito"/>
              <a:sym typeface="Nunito"/>
            </a:endParaRPr>
          </a:p>
          <a:p>
            <a:pPr indent="-330200" lvl="0" marL="457200" marR="0" rtl="0" algn="l">
              <a:lnSpc>
                <a:spcPct val="100000"/>
              </a:lnSpc>
              <a:spcBef>
                <a:spcPts val="200"/>
              </a:spcBef>
              <a:spcAft>
                <a:spcPts val="200"/>
              </a:spcAft>
              <a:buClr>
                <a:schemeClr val="dk1"/>
              </a:buClr>
              <a:buSzPts val="1100"/>
              <a:buFont typeface="Nunito"/>
              <a:buChar char="●"/>
            </a:pPr>
            <a:r>
              <a:rPr lang="en" sz="1100" b="1">
                <a:solidFill>
                  <a:schemeClr val="dk1"/>
                </a:solidFill>
                <a:latin typeface="Nunito"/>
                <a:ea typeface="Nunito"/>
                <a:cs typeface="Nunito"/>
                <a:sym typeface="Nunito"/>
              </a:rPr>
              <a:t>Size</a:t>
            </a:r>
            <a:r>
              <a:rPr lang="en" sz="1100">
                <a:solidFill>
                  <a:schemeClr val="dk1"/>
                </a:solidFill>
                <a:latin typeface="Nunito"/>
                <a:ea typeface="Nunito"/>
                <a:cs typeface="Nunito"/>
                <a:sym typeface="Nunito"/>
              </a:rPr>
              <a:t>: 4,128 customers × 20 fields, no missing values. 117 exact duplicates were removed.</a:t>
            </a:r>
            <a:endParaRPr sz="1100">
              <a:solidFill>
                <a:schemeClr val="dk1"/>
              </a:solidFill>
              <a:latin typeface="Nunito"/>
              <a:ea typeface="Nunito"/>
              <a:cs typeface="Nunito"/>
              <a:sym typeface="Nunito"/>
            </a:endParaRPr>
          </a:p>
          <a:p>
            <a:pPr indent="-330200" lvl="0" marL="457200" marR="0" rtl="0" algn="l">
              <a:lnSpc>
                <a:spcPct val="100000"/>
              </a:lnSpc>
              <a:spcBef>
                <a:spcPts val="200"/>
              </a:spcBef>
              <a:spcAft>
                <a:spcPts val="200"/>
              </a:spcAft>
              <a:buClr>
                <a:schemeClr val="dk1"/>
              </a:buClr>
              <a:buSzPts val="1100"/>
              <a:buFont typeface="Nunito"/>
              <a:buChar char="●"/>
            </a:pPr>
            <a:r>
              <a:rPr lang="en" sz="1100" b="1">
                <a:solidFill>
                  <a:schemeClr val="dk1"/>
                </a:solidFill>
                <a:latin typeface="Nunito"/>
                <a:ea typeface="Nunito"/>
                <a:cs typeface="Nunito"/>
                <a:sym typeface="Nunito"/>
              </a:rPr>
              <a:t>Target</a:t>
            </a:r>
            <a:r>
              <a:rPr lang="en" sz="1100">
                <a:solidFill>
                  <a:schemeClr val="dk1"/>
                </a:solidFill>
                <a:latin typeface="Nunito"/>
                <a:ea typeface="Nunito"/>
                <a:cs typeface="Nunito"/>
                <a:sym typeface="Nunito"/>
              </a:rPr>
              <a:t>: ProdTaken (1 = bought). 797 buyers (19.3%), so the classes are imbalanced.</a:t>
            </a:r>
            <a:endParaRPr sz="1100">
              <a:solidFill>
                <a:schemeClr val="dk1"/>
              </a:solidFill>
              <a:latin typeface="Nunito"/>
              <a:ea typeface="Nunito"/>
              <a:cs typeface="Nunito"/>
              <a:sym typeface="Nunito"/>
            </a:endParaRPr>
          </a:p>
          <a:p>
            <a:pPr indent="-330200" lvl="0" marL="457200" marR="0" rtl="0" algn="l">
              <a:lnSpc>
                <a:spcPct val="100000"/>
              </a:lnSpc>
              <a:spcBef>
                <a:spcPts val="200"/>
              </a:spcBef>
              <a:spcAft>
                <a:spcPts val="200"/>
              </a:spcAft>
              <a:buClr>
                <a:schemeClr val="dk1"/>
              </a:buClr>
              <a:buSzPts val="1100"/>
              <a:buFont typeface="Nunito"/>
              <a:buChar char="●"/>
            </a:pPr>
            <a:r>
              <a:rPr lang="en" sz="1100" b="1">
                <a:solidFill>
                  <a:schemeClr val="dk1"/>
                </a:solidFill>
                <a:latin typeface="Nunito"/>
                <a:ea typeface="Nunito"/>
                <a:cs typeface="Nunito"/>
                <a:sym typeface="Nunito"/>
              </a:rPr>
              <a:t>Features</a:t>
            </a:r>
            <a:r>
              <a:rPr lang="en" sz="1100">
                <a:solidFill>
                  <a:schemeClr val="dk1"/>
                </a:solidFill>
                <a:latin typeface="Nunito"/>
                <a:ea typeface="Nunito"/>
                <a:cs typeface="Nunito"/>
                <a:sym typeface="Nunito"/>
              </a:rPr>
              <a:t>: customer profile (Age, CityTier, Occupation, Gender, MaritalStatus, Passport, OwnCar, Designation, MonthlyIncome, trips, party size) and pitch data (TypeofContact, ProductPitched, DurationOfPitch, NumberOfFollowups, PitchSatisfactionScore).</a:t>
            </a:r>
            <a:endParaRPr sz="1100">
              <a:solidFill>
                <a:schemeClr val="dk1"/>
              </a:solidFill>
              <a:latin typeface="Nunito"/>
              <a:ea typeface="Nunito"/>
              <a:cs typeface="Nunito"/>
              <a:sym typeface="Nunito"/>
            </a:endParaRPr>
          </a:p>
          <a:p>
            <a:pPr indent="-330200" lvl="0" marL="457200" marR="0" rtl="0" algn="l">
              <a:lnSpc>
                <a:spcPct val="100000"/>
              </a:lnSpc>
              <a:spcBef>
                <a:spcPts val="200"/>
              </a:spcBef>
              <a:spcAft>
                <a:spcPts val="200"/>
              </a:spcAft>
              <a:buClr>
                <a:schemeClr val="dk1"/>
              </a:buClr>
              <a:buSzPts val="1100"/>
              <a:buFont typeface="Nunito"/>
              <a:buChar char="●"/>
            </a:pPr>
            <a:r>
              <a:rPr lang="en" sz="1100" b="1">
                <a:solidFill>
                  <a:schemeClr val="dk1"/>
                </a:solidFill>
                <a:latin typeface="Nunito"/>
                <a:ea typeface="Nunito"/>
                <a:cs typeface="Nunito"/>
                <a:sym typeface="Nunito"/>
              </a:rPr>
              <a:t>Registration</a:t>
            </a:r>
            <a:r>
              <a:rPr lang="en" sz="1100">
                <a:solidFill>
                  <a:schemeClr val="dk1"/>
                </a:solidFill>
                <a:latin typeface="Nunito"/>
                <a:ea typeface="Nunito"/>
                <a:cs typeface="Nunito"/>
                <a:sym typeface="Nunito"/>
              </a:rPr>
              <a:t>: committed at tourism_project/data/tourism.csv and validated by data_register.py on each run.</a:t>
            </a:r>
            <a:endParaRPr sz="1100">
              <a:solidFill>
                <a:schemeClr val="dk1"/>
              </a:solidFill>
              <a:latin typeface="Nunito"/>
              <a:ea typeface="Nunito"/>
              <a:cs typeface="Nunito"/>
              <a:sym typeface="Nunito"/>
            </a:endParaRPr>
          </a:p>
        </p:txBody>
      </p:sp>
      <p:graphicFrame>
        <p:nvGraphicFramePr>
          <p:cNvPr id="166" name="Chart 165"/>
          <p:cNvGraphicFramePr>
            <a:graphicFrameLocks noGrp="1"/>
          </p:cNvGraphicFramePr>
          <p:nvPr/>
        </p:nvGraphicFramePr>
        <p:xfrm>
          <a:off x="4983480" y="868680"/>
          <a:ext cx="3931920" cy="3429000"/>
        </p:xfrm>
        <a:graphic>
          <a:graphicData uri="http://schemas.openxmlformats.org/drawingml/2006/chart">
            <c:chart r:id="rId3"/>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5"/>
          <p:cNvSpPr txBox="1"/>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000"/>
              </a:spcBef>
              <a:spcAft>
                <a:spcPts val="0"/>
              </a:spcAft>
              <a:buClr>
                <a:srgbClr val="000000"/>
              </a:buClr>
              <a:buSzPts val="2200"/>
              <a:buFont typeface="Arial"/>
              <a:buNone/>
            </a:pPr>
            <a:r>
              <a:rPr b="1" i="0" lang="en" sz="2200" u="none" cap="none" strike="noStrike">
                <a:solidFill>
                  <a:schemeClr val="dk1"/>
                </a:solidFill>
                <a:highlight>
                  <a:srgbClr val="FFFFFF"/>
                </a:highlight>
                <a:latin typeface="Nunito"/>
                <a:ea typeface="Nunito"/>
                <a:cs typeface="Nunito"/>
                <a:sym typeface="Nunito"/>
              </a:rPr>
              <a:t>Experimentation Tracking Details</a:t>
            </a:r>
            <a:endParaRPr b="1" i="0" sz="2200" u="none" cap="none" strike="noStrike">
              <a:solidFill>
                <a:srgbClr val="000000"/>
              </a:solidFill>
              <a:latin typeface="Nunito"/>
              <a:ea typeface="Nunito"/>
              <a:cs typeface="Nunito"/>
              <a:sym typeface="Nunito"/>
            </a:endParaRPr>
          </a:p>
        </p:txBody>
      </p:sp>
      <p:sp>
        <p:nvSpPr>
          <p:cNvPr id="171" name="Google Shape;171;p35"/>
          <p:cNvSpPr txBox="1"/>
          <p:nvPr/>
        </p:nvSpPr>
        <p:spPr>
          <a:xfrm>
            <a:off x="202550" y="861975"/>
            <a:ext cx="3931920" cy="37068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00000"/>
              </a:lnSpc>
              <a:spcBef>
                <a:spcPts val="200"/>
              </a:spcBef>
              <a:spcAft>
                <a:spcPts val="200"/>
              </a:spcAft>
              <a:buClr>
                <a:schemeClr val="dk1"/>
              </a:buClr>
              <a:buSzPts val="1100"/>
              <a:buFont typeface="Nunito"/>
              <a:buChar char="●"/>
            </a:pPr>
            <a:r>
              <a:rPr b="1" i="0" lang="en" sz="1100" u="none" cap="none" strike="noStrike">
                <a:solidFill>
                  <a:schemeClr val="dk1"/>
                </a:solidFill>
                <a:latin typeface="Nunito"/>
                <a:ea typeface="Nunito"/>
                <a:cs typeface="Nunito"/>
                <a:sym typeface="Nunito"/>
              </a:rPr>
              <a:t>Model</a:t>
            </a:r>
            <a:r>
              <a:rPr b="0" i="0" lang="en" sz="1100" u="none" cap="none" strike="noStrike">
                <a:solidFill>
                  <a:schemeClr val="dk1"/>
                </a:solidFill>
                <a:latin typeface="Nunito"/>
                <a:ea typeface="Nunito"/>
                <a:cs typeface="Nunito"/>
                <a:sym typeface="Nunito"/>
              </a:rPr>
              <a:t>: XGBoost in one sklearn pipeline. 24 combinations × 5 folds = 120 fits.</a:t>
            </a:r>
            <a:endParaRPr b="0" i="0" sz="1100" u="none" cap="none" strike="noStrike">
              <a:solidFill>
                <a:schemeClr val="dk1"/>
              </a:solidFill>
              <a:latin typeface="Nunito"/>
              <a:ea typeface="Nunito"/>
              <a:cs typeface="Nunito"/>
              <a:sym typeface="Nunito"/>
            </a:endParaRPr>
          </a:p>
          <a:p>
            <a:pPr indent="-330200" lvl="0" marL="457200" marR="0" rtl="0" algn="l">
              <a:lnSpc>
                <a:spcPct val="100000"/>
              </a:lnSpc>
              <a:spcBef>
                <a:spcPts val="200"/>
              </a:spcBef>
              <a:spcAft>
                <a:spcPts val="200"/>
              </a:spcAft>
              <a:buClr>
                <a:schemeClr val="dk1"/>
              </a:buClr>
              <a:buSzPts val="1100"/>
              <a:buFont typeface="Nunito"/>
              <a:buChar char="●"/>
            </a:pPr>
            <a:r>
              <a:rPr b="1" i="0" lang="en" sz="1100" u="none" cap="none" strike="noStrike">
                <a:solidFill>
                  <a:schemeClr val="dk1"/>
                </a:solidFill>
                <a:latin typeface="Nunito"/>
                <a:ea typeface="Nunito"/>
                <a:cs typeface="Nunito"/>
                <a:sym typeface="Nunito"/>
              </a:rPr>
              <a:t>Grid</a:t>
            </a:r>
            <a:r>
              <a:rPr b="0" i="0" lang="en" sz="1100" u="none" cap="none" strike="noStrike">
                <a:solidFill>
                  <a:schemeClr val="dk1"/>
                </a:solidFill>
                <a:latin typeface="Nunito"/>
                <a:ea typeface="Nunito"/>
                <a:cs typeface="Nunito"/>
                <a:sym typeface="Nunito"/>
              </a:rPr>
              <a:t>: n_estimators {100, 200}, max_depth {3, 5, 7}, learning_rate {0.05, 0.1}, colsample_bytree {0.7, 1.0}.</a:t>
            </a:r>
            <a:endParaRPr b="0" i="0" sz="1100" u="none" cap="none" strike="noStrike">
              <a:solidFill>
                <a:schemeClr val="dk1"/>
              </a:solidFill>
              <a:latin typeface="Nunito"/>
              <a:ea typeface="Nunito"/>
              <a:cs typeface="Nunito"/>
              <a:sym typeface="Nunito"/>
            </a:endParaRPr>
          </a:p>
          <a:p>
            <a:pPr indent="-330200" lvl="0" marL="457200" marR="0" rtl="0" algn="l">
              <a:lnSpc>
                <a:spcPct val="100000"/>
              </a:lnSpc>
              <a:spcBef>
                <a:spcPts val="200"/>
              </a:spcBef>
              <a:spcAft>
                <a:spcPts val="200"/>
              </a:spcAft>
              <a:buClr>
                <a:schemeClr val="dk1"/>
              </a:buClr>
              <a:buSzPts val="1100"/>
              <a:buFont typeface="Nunito"/>
              <a:buChar char="●"/>
            </a:pPr>
            <a:r>
              <a:rPr b="1" i="0" lang="en" sz="1100" u="none" cap="none" strike="noStrike">
                <a:solidFill>
                  <a:schemeClr val="dk1"/>
                </a:solidFill>
                <a:latin typeface="Nunito"/>
                <a:ea typeface="Nunito"/>
                <a:cs typeface="Nunito"/>
                <a:sym typeface="Nunito"/>
              </a:rPr>
              <a:t>Logged per run</a:t>
            </a:r>
            <a:r>
              <a:rPr b="0" i="0" lang="en" sz="1100" u="none" cap="none" strike="noStrike">
                <a:solidFill>
                  <a:schemeClr val="dk1"/>
                </a:solidFill>
                <a:latin typeface="Nunito"/>
                <a:ea typeface="Nunito"/>
                <a:cs typeface="Nunito"/>
                <a:sym typeface="Nunito"/>
              </a:rPr>
              <a:t>: params, mean_cv_f1, std_cv_f1 (nested). Parent run: best params, scale_pos_weight, threshold, train/test metrics and the model artifact.</a:t>
            </a:r>
            <a:endParaRPr b="0" i="0" sz="1100" u="none" cap="none" strike="noStrike">
              <a:solidFill>
                <a:schemeClr val="dk1"/>
              </a:solidFill>
              <a:latin typeface="Nunito"/>
              <a:ea typeface="Nunito"/>
              <a:cs typeface="Nunito"/>
              <a:sym typeface="Nunito"/>
            </a:endParaRPr>
          </a:p>
          <a:p>
            <a:pPr indent="-330200" lvl="0" marL="457200" marR="0" rtl="0" algn="l">
              <a:lnSpc>
                <a:spcPct val="100000"/>
              </a:lnSpc>
              <a:spcBef>
                <a:spcPts val="200"/>
              </a:spcBef>
              <a:spcAft>
                <a:spcPts val="200"/>
              </a:spcAft>
              <a:buClr>
                <a:schemeClr val="dk1"/>
              </a:buClr>
              <a:buSzPts val="1100"/>
              <a:buFont typeface="Nunito"/>
              <a:buChar char="●"/>
            </a:pPr>
            <a:r>
              <a:rPr b="1" i="0" lang="en" sz="1100" u="none" cap="none" strike="noStrike">
                <a:solidFill>
                  <a:schemeClr val="dk1"/>
                </a:solidFill>
                <a:latin typeface="Nunito"/>
                <a:ea typeface="Nunito"/>
                <a:cs typeface="Nunito"/>
                <a:sym typeface="Nunito"/>
              </a:rPr>
              <a:t>Finding</a:t>
            </a:r>
            <a:r>
              <a:rPr b="0" i="0" lang="en" sz="1100" u="none" cap="none" strike="noStrike">
                <a:solidFill>
                  <a:schemeClr val="dk1"/>
                </a:solidFill>
                <a:latin typeface="Nunito"/>
                <a:ea typeface="Nunito"/>
                <a:cs typeface="Nunito"/>
                <a:sym typeface="Nunito"/>
              </a:rPr>
              <a:t>: depth matters most. Every depth-7 run beats every depth-3 run (0.73–0.78 vs 0.60–0.64 CV F1).</a:t>
            </a:r>
            <a:endParaRPr b="0" i="0" sz="1100" u="none" cap="none" strike="noStrike">
              <a:solidFill>
                <a:schemeClr val="dk1"/>
              </a:solidFill>
              <a:latin typeface="Nunito"/>
              <a:ea typeface="Nunito"/>
              <a:cs typeface="Nunito"/>
              <a:sym typeface="Nunito"/>
            </a:endParaRPr>
          </a:p>
        </p:txBody>
      </p:sp>
      <p:graphicFrame>
        <p:nvGraphicFramePr>
          <p:cNvPr id="172" name="Chart 171"/>
          <p:cNvGraphicFramePr>
            <a:graphicFrameLocks noGrp="1"/>
          </p:cNvGraphicFramePr>
          <p:nvPr/>
        </p:nvGraphicFramePr>
        <p:xfrm>
          <a:off x="4251960" y="868680"/>
          <a:ext cx="4663440" cy="2331720"/>
        </p:xfrm>
        <a:graphic>
          <a:graphicData uri="http://schemas.openxmlformats.org/drawingml/2006/chart">
            <c:chart r:id="rId3"/>
          </a:graphicData>
        </a:graphic>
      </p:graphicFrame>
      <p:graphicFrame>
        <p:nvGraphicFramePr>
          <p:cNvPr id="173" name="Table 172"/>
          <p:cNvGraphicFramePr>
            <a:graphicFrameLocks noGrp="1"/>
          </p:cNvGraphicFramePr>
          <p:nvPr/>
        </p:nvGraphicFramePr>
        <p:xfrm>
          <a:off x="4343400" y="3246120"/>
          <a:ext cx="4526280" cy="914400"/>
        </p:xfrm>
        <a:graphic>
          <a:graphicData uri="http://schemas.openxmlformats.org/drawingml/2006/table">
            <a:tbl>
              <a:tblPr firstRow="1" bandRow="1">
                <a:tableStyleId>{5940675A-B579-460E-94D1-54222C63F5DA}</a:tableStyleId>
              </a:tblPr>
              <a:tblGrid>
                <a:gridCol w="2514600"/>
                <a:gridCol w="1097280"/>
                <a:gridCol w="914400"/>
              </a:tblGrid>
              <a:tr h="228600">
                <a:tc>
                  <a:txBody>
                    <a:bodyPr wrap="square"/>
                    <a:lstStyle/>
                    <a:p>
                      <a:r>
                        <a:rPr sz="900" b="1">
                          <a:solidFill>
                            <a:srgbClr val="FFFFFF"/>
                          </a:solidFill>
                          <a:latin typeface="Nunito"/>
                        </a:rPr>
                        <a:t>Worst runs</a:t>
                      </a:r>
                    </a:p>
                  </a:txBody>
                  <a:tcPr marL="54864" marR="54864" marT="18288" marB="18288" anchor="ctr">
                    <a:solidFill>
                      <a:srgbClr val="0B3FBF"/>
                    </a:solidFill>
                  </a:tcPr>
                </a:tc>
                <a:tc>
                  <a:txBody>
                    <a:bodyPr wrap="square"/>
                    <a:lstStyle/>
                    <a:p>
                      <a:r>
                        <a:rPr sz="900" b="1">
                          <a:solidFill>
                            <a:srgbClr val="FFFFFF"/>
                          </a:solidFill>
                          <a:latin typeface="Nunito"/>
                        </a:rPr>
                        <a:t>mean CV F1</a:t>
                      </a:r>
                    </a:p>
                  </a:txBody>
                  <a:tcPr marL="54864" marR="54864" marT="18288" marB="18288" anchor="ctr">
                    <a:solidFill>
                      <a:srgbClr val="0B3FBF"/>
                    </a:solidFill>
                  </a:tcPr>
                </a:tc>
                <a:tc>
                  <a:txBody>
                    <a:bodyPr wrap="square"/>
                    <a:lstStyle/>
                    <a:p>
                      <a:r>
                        <a:rPr sz="900" b="1">
                          <a:solidFill>
                            <a:srgbClr val="FFFFFF"/>
                          </a:solidFill>
                          <a:latin typeface="Nunito"/>
                        </a:rPr>
                        <a:t>std</a:t>
                      </a:r>
                    </a:p>
                  </a:txBody>
                  <a:tcPr marL="54864" marR="54864" marT="18288" marB="18288" anchor="ctr">
                    <a:solidFill>
                      <a:srgbClr val="0B3FBF"/>
                    </a:solidFill>
                  </a:tcPr>
                </a:tc>
              </a:tr>
              <a:tr h="228600">
                <a:tc>
                  <a:txBody>
                    <a:bodyPr wrap="square"/>
                    <a:lstStyle/>
                    <a:p>
                      <a:r>
                        <a:rPr sz="900">
                          <a:solidFill>
                            <a:srgbClr val="000000"/>
                          </a:solidFill>
                          <a:latin typeface="Nunito"/>
                        </a:rPr>
                        <a:t>d3 n100 lr0.1 cs0.7</a:t>
                      </a:r>
                    </a:p>
                  </a:txBody>
                  <a:tcPr marL="54864" marR="54864" marT="18288" marB="18288" anchor="ctr">
                    <a:solidFill>
                      <a:srgbClr val="FFFFFF"/>
                    </a:solidFill>
                  </a:tcPr>
                </a:tc>
                <a:tc>
                  <a:txBody>
                    <a:bodyPr wrap="square"/>
                    <a:lstStyle/>
                    <a:p>
                      <a:r>
                        <a:rPr sz="900">
                          <a:solidFill>
                            <a:srgbClr val="000000"/>
                          </a:solidFill>
                          <a:latin typeface="Nunito"/>
                        </a:rPr>
                        <a:t>0.611</a:t>
                      </a:r>
                    </a:p>
                  </a:txBody>
                  <a:tcPr marL="54864" marR="54864" marT="18288" marB="18288" anchor="ctr">
                    <a:solidFill>
                      <a:srgbClr val="FFFFFF"/>
                    </a:solidFill>
                  </a:tcPr>
                </a:tc>
                <a:tc>
                  <a:txBody>
                    <a:bodyPr wrap="square"/>
                    <a:lstStyle/>
                    <a:p>
                      <a:r>
                        <a:rPr sz="900">
                          <a:solidFill>
                            <a:srgbClr val="000000"/>
                          </a:solidFill>
                          <a:latin typeface="Nunito"/>
                        </a:rPr>
                        <a:t>0.017</a:t>
                      </a:r>
                    </a:p>
                  </a:txBody>
                  <a:tcPr marL="54864" marR="54864" marT="18288" marB="18288" anchor="ctr">
                    <a:solidFill>
                      <a:srgbClr val="FFFFFF"/>
                    </a:solidFill>
                  </a:tcPr>
                </a:tc>
              </a:tr>
              <a:tr h="228600">
                <a:tc>
                  <a:txBody>
                    <a:bodyPr wrap="square"/>
                    <a:lstStyle/>
                    <a:p>
                      <a:r>
                        <a:rPr sz="900">
                          <a:solidFill>
                            <a:srgbClr val="000000"/>
                          </a:solidFill>
                          <a:latin typeface="Nunito"/>
                        </a:rPr>
                        <a:t>d3 n100 lr0.05 cs0.7</a:t>
                      </a:r>
                    </a:p>
                  </a:txBody>
                  <a:tcPr marL="54864" marR="54864" marT="18288" marB="18288" anchor="ctr">
                    <a:solidFill>
                      <a:srgbClr val="E8EEFB"/>
                    </a:solidFill>
                  </a:tcPr>
                </a:tc>
                <a:tc>
                  <a:txBody>
                    <a:bodyPr wrap="square"/>
                    <a:lstStyle/>
                    <a:p>
                      <a:r>
                        <a:rPr sz="900">
                          <a:solidFill>
                            <a:srgbClr val="000000"/>
                          </a:solidFill>
                          <a:latin typeface="Nunito"/>
                        </a:rPr>
                        <a:t>0.605</a:t>
                      </a:r>
                    </a:p>
                  </a:txBody>
                  <a:tcPr marL="54864" marR="54864" marT="18288" marB="18288" anchor="ctr">
                    <a:solidFill>
                      <a:srgbClr val="E8EEFB"/>
                    </a:solidFill>
                  </a:tcPr>
                </a:tc>
                <a:tc>
                  <a:txBody>
                    <a:bodyPr wrap="square"/>
                    <a:lstStyle/>
                    <a:p>
                      <a:r>
                        <a:rPr sz="900">
                          <a:solidFill>
                            <a:srgbClr val="000000"/>
                          </a:solidFill>
                          <a:latin typeface="Nunito"/>
                        </a:rPr>
                        <a:t>0.027</a:t>
                      </a:r>
                    </a:p>
                  </a:txBody>
                  <a:tcPr marL="54864" marR="54864" marT="18288" marB="18288" anchor="ctr">
                    <a:solidFill>
                      <a:srgbClr val="E8EEFB"/>
                    </a:solidFill>
                  </a:tcPr>
                </a:tc>
              </a:tr>
              <a:tr h="228600">
                <a:tc>
                  <a:txBody>
                    <a:bodyPr wrap="square"/>
                    <a:lstStyle/>
                    <a:p>
                      <a:r>
                        <a:rPr sz="900">
                          <a:solidFill>
                            <a:srgbClr val="000000"/>
                          </a:solidFill>
                          <a:latin typeface="Nunito"/>
                        </a:rPr>
                        <a:t>d3 n100 lr0.05 cs1.0</a:t>
                      </a:r>
                    </a:p>
                  </a:txBody>
                  <a:tcPr marL="54864" marR="54864" marT="18288" marB="18288" anchor="ctr">
                    <a:solidFill>
                      <a:srgbClr val="FFFFFF"/>
                    </a:solidFill>
                  </a:tcPr>
                </a:tc>
                <a:tc>
                  <a:txBody>
                    <a:bodyPr wrap="square"/>
                    <a:lstStyle/>
                    <a:p>
                      <a:r>
                        <a:rPr sz="900">
                          <a:solidFill>
                            <a:srgbClr val="000000"/>
                          </a:solidFill>
                          <a:latin typeface="Nunito"/>
                        </a:rPr>
                        <a:t>0.596</a:t>
                      </a:r>
                    </a:p>
                  </a:txBody>
                  <a:tcPr marL="54864" marR="54864" marT="18288" marB="18288" anchor="ctr">
                    <a:solidFill>
                      <a:srgbClr val="FFFFFF"/>
                    </a:solidFill>
                  </a:tcPr>
                </a:tc>
                <a:tc>
                  <a:txBody>
                    <a:bodyPr wrap="square"/>
                    <a:lstStyle/>
                    <a:p>
                      <a:r>
                        <a:rPr sz="900">
                          <a:solidFill>
                            <a:srgbClr val="000000"/>
                          </a:solidFill>
                          <a:latin typeface="Nunito"/>
                        </a:rPr>
                        <a:t>0.027</a:t>
                      </a:r>
                    </a:p>
                  </a:txBody>
                  <a:tcPr marL="54864" marR="54864" marT="18288" marB="18288" anchor="ctr">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6"/>
          <p:cNvSpPr txBox="1"/>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000"/>
              </a:spcBef>
              <a:spcAft>
                <a:spcPts val="0"/>
              </a:spcAft>
              <a:buClr>
                <a:srgbClr val="000000"/>
              </a:buClr>
              <a:buSzPts val="2200"/>
              <a:buFont typeface="Arial"/>
              <a:buNone/>
            </a:pPr>
            <a:r>
              <a:rPr b="1" i="0" lang="en" sz="2200" u="none" cap="none" strike="noStrike">
                <a:solidFill>
                  <a:schemeClr val="dk1"/>
                </a:solidFill>
                <a:latin typeface="Nunito"/>
                <a:ea typeface="Nunito"/>
                <a:cs typeface="Nunito"/>
                <a:sym typeface="Nunito"/>
              </a:rPr>
              <a:t>GitHub Actions Workflow Details</a:t>
            </a:r>
            <a:endParaRPr b="1" i="0" sz="2200" u="none" cap="none" strike="noStrike">
              <a:solidFill>
                <a:schemeClr val="dk1"/>
              </a:solidFill>
              <a:latin typeface="Nunito"/>
              <a:ea typeface="Nunito"/>
              <a:cs typeface="Nunito"/>
              <a:sym typeface="Nunito"/>
            </a:endParaRPr>
          </a:p>
        </p:txBody>
      </p:sp>
      <p:sp>
        <p:nvSpPr>
          <p:cNvPr id="177" name="Google Shape;177;p36"/>
          <p:cNvSpPr txBox="1"/>
          <p:nvPr/>
        </p:nvSpPr>
        <p:spPr>
          <a:xfrm>
            <a:off x="202550" y="861975"/>
            <a:ext cx="4754880" cy="37068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00000"/>
              </a:lnSpc>
              <a:spcBef>
                <a:spcPts val="200"/>
              </a:spcBef>
              <a:spcAft>
                <a:spcPts val="200"/>
              </a:spcAft>
              <a:buClr>
                <a:schemeClr val="dk1"/>
              </a:buClr>
              <a:buSzPts val="1100"/>
              <a:buFont typeface="Nunito"/>
              <a:buChar char="●"/>
            </a:pPr>
            <a:r>
              <a:rPr b="1" i="0" lang="en" sz="1100" u="none" cap="none" strike="noStrike">
                <a:solidFill>
                  <a:schemeClr val="dk1"/>
                </a:solidFill>
                <a:latin typeface="Nunito"/>
                <a:ea typeface="Nunito"/>
                <a:cs typeface="Nunito"/>
                <a:sym typeface="Nunito"/>
              </a:rPr>
              <a:t>Trigger</a:t>
            </a:r>
            <a:r>
              <a:rPr b="0" i="0" lang="en" sz="1100" u="none" cap="none" strike="noStrike">
                <a:solidFill>
                  <a:schemeClr val="dk1"/>
                </a:solidFill>
                <a:latin typeface="Nunito"/>
                <a:ea typeface="Nunito"/>
                <a:cs typeface="Nunito"/>
                <a:sym typeface="Nunito"/>
              </a:rPr>
              <a:t>: on.push.branches = [main] plus workflow_dispatch.</a:t>
            </a:r>
            <a:endParaRPr b="0" i="0" sz="1100" u="none" cap="none" strike="noStrike">
              <a:solidFill>
                <a:schemeClr val="dk1"/>
              </a:solidFill>
              <a:latin typeface="Nunito"/>
              <a:ea typeface="Nunito"/>
              <a:cs typeface="Nunito"/>
              <a:sym typeface="Nunito"/>
            </a:endParaRPr>
          </a:p>
          <a:p>
            <a:pPr indent="-330200" lvl="0" marL="457200" marR="0" rtl="0" algn="l">
              <a:lnSpc>
                <a:spcPct val="100000"/>
              </a:lnSpc>
              <a:spcBef>
                <a:spcPts val="200"/>
              </a:spcBef>
              <a:spcAft>
                <a:spcPts val="200"/>
              </a:spcAft>
              <a:buClr>
                <a:schemeClr val="dk1"/>
              </a:buClr>
              <a:buSzPts val="1100"/>
              <a:buFont typeface="Nunito"/>
              <a:buChar char="●"/>
            </a:pPr>
            <a:r>
              <a:rPr b="1" i="0" lang="en" sz="1100" u="none" cap="none" strike="noStrike">
                <a:solidFill>
                  <a:schemeClr val="dk1"/>
                </a:solidFill>
                <a:latin typeface="Nunito"/>
                <a:ea typeface="Nunito"/>
                <a:cs typeface="Nunito"/>
                <a:sym typeface="Nunito"/>
              </a:rPr>
              <a:t>Each job</a:t>
            </a:r>
            <a:r>
              <a:rPr b="0" i="0" lang="en" sz="1100" u="none" cap="none" strike="noStrike">
                <a:solidFill>
                  <a:schemeClr val="dk1"/>
                </a:solidFill>
                <a:latin typeface="Nunito"/>
                <a:ea typeface="Nunito"/>
                <a:cs typeface="Nunito"/>
                <a:sym typeface="Nunito"/>
              </a:rPr>
              <a:t>: checkout@v4 → setup-python@v5 (3.11) → pip install -r tourism_project/requirements.txt.</a:t>
            </a:r>
            <a:endParaRPr b="0" i="0" sz="1100" u="none" cap="none" strike="noStrike">
              <a:solidFill>
                <a:schemeClr val="dk1"/>
              </a:solidFill>
              <a:latin typeface="Nunito"/>
              <a:ea typeface="Nunito"/>
              <a:cs typeface="Nunito"/>
              <a:sym typeface="Nunito"/>
            </a:endParaRPr>
          </a:p>
          <a:p>
            <a:pPr indent="-330200" lvl="0" marL="457200" marR="0" rtl="0" algn="l">
              <a:lnSpc>
                <a:spcPct val="100000"/>
              </a:lnSpc>
              <a:spcBef>
                <a:spcPts val="200"/>
              </a:spcBef>
              <a:spcAft>
                <a:spcPts val="200"/>
              </a:spcAft>
              <a:buClr>
                <a:schemeClr val="dk1"/>
              </a:buClr>
              <a:buSzPts val="1100"/>
              <a:buFont typeface="Nunito"/>
              <a:buChar char="●"/>
            </a:pPr>
            <a:r>
              <a:rPr b="1" i="0" lang="en" sz="1100" u="none" cap="none" strike="noStrike">
                <a:solidFill>
                  <a:schemeClr val="dk1"/>
                </a:solidFill>
                <a:latin typeface="Nunito"/>
                <a:ea typeface="Nunito"/>
                <a:cs typeface="Nunito"/>
                <a:sym typeface="Nunito"/>
              </a:rPr>
              <a:t>register-dataset</a:t>
            </a:r>
            <a:r>
              <a:rPr b="0" i="0" lang="en" sz="1100" u="none" cap="none" strike="noStrike">
                <a:solidFill>
                  <a:schemeClr val="dk1"/>
                </a:solidFill>
                <a:latin typeface="Nunito"/>
                <a:ea typeface="Nunito"/>
                <a:cs typeface="Nunito"/>
                <a:sym typeface="Nunito"/>
              </a:rPr>
              <a:t>: python data_register.py → upload-artifact registered-data.</a:t>
            </a:r>
            <a:endParaRPr b="0" i="0" sz="1100" u="none" cap="none" strike="noStrike">
              <a:solidFill>
                <a:schemeClr val="dk1"/>
              </a:solidFill>
              <a:latin typeface="Nunito"/>
              <a:ea typeface="Nunito"/>
              <a:cs typeface="Nunito"/>
              <a:sym typeface="Nunito"/>
            </a:endParaRPr>
          </a:p>
          <a:p>
            <a:pPr indent="-330200" lvl="0" marL="457200" marR="0" rtl="0" algn="l">
              <a:lnSpc>
                <a:spcPct val="100000"/>
              </a:lnSpc>
              <a:spcBef>
                <a:spcPts val="200"/>
              </a:spcBef>
              <a:spcAft>
                <a:spcPts val="200"/>
              </a:spcAft>
              <a:buClr>
                <a:schemeClr val="dk1"/>
              </a:buClr>
              <a:buSzPts val="1100"/>
              <a:buFont typeface="Nunito"/>
              <a:buChar char="●"/>
            </a:pPr>
            <a:r>
              <a:rPr b="1" i="0" lang="en" sz="1100" u="none" cap="none" strike="noStrike">
                <a:solidFill>
                  <a:schemeClr val="dk1"/>
                </a:solidFill>
                <a:latin typeface="Nunito"/>
                <a:ea typeface="Nunito"/>
                <a:cs typeface="Nunito"/>
                <a:sym typeface="Nunito"/>
              </a:rPr>
              <a:t>data-prep</a:t>
            </a:r>
            <a:r>
              <a:rPr b="0" i="0" lang="en" sz="1100" u="none" cap="none" strike="noStrike">
                <a:solidFill>
                  <a:schemeClr val="dk1"/>
                </a:solidFill>
                <a:latin typeface="Nunito"/>
                <a:ea typeface="Nunito"/>
                <a:cs typeface="Nunito"/>
                <a:sym typeface="Nunito"/>
              </a:rPr>
              <a:t>: python prep.py → upload-artifact data-splits (4 CSVs).</a:t>
            </a:r>
            <a:endParaRPr b="0" i="0" sz="1100" u="none" cap="none" strike="noStrike">
              <a:solidFill>
                <a:schemeClr val="dk1"/>
              </a:solidFill>
              <a:latin typeface="Nunito"/>
              <a:ea typeface="Nunito"/>
              <a:cs typeface="Nunito"/>
              <a:sym typeface="Nunito"/>
            </a:endParaRPr>
          </a:p>
          <a:p>
            <a:pPr indent="-330200" lvl="0" marL="457200" marR="0" rtl="0" algn="l">
              <a:lnSpc>
                <a:spcPct val="100000"/>
              </a:lnSpc>
              <a:spcBef>
                <a:spcPts val="200"/>
              </a:spcBef>
              <a:spcAft>
                <a:spcPts val="200"/>
              </a:spcAft>
              <a:buClr>
                <a:schemeClr val="dk1"/>
              </a:buClr>
              <a:buSzPts val="1100"/>
              <a:buFont typeface="Nunito"/>
              <a:buChar char="●"/>
            </a:pPr>
            <a:r>
              <a:rPr b="1" i="0" lang="en" sz="1100" u="none" cap="none" strike="noStrike">
                <a:solidFill>
                  <a:schemeClr val="dk1"/>
                </a:solidFill>
                <a:latin typeface="Nunito"/>
                <a:ea typeface="Nunito"/>
                <a:cs typeface="Nunito"/>
                <a:sym typeface="Nunito"/>
              </a:rPr>
              <a:t>model-traning</a:t>
            </a:r>
            <a:r>
              <a:rPr b="0" i="0" lang="en" sz="1100" u="none" cap="none" strike="noStrike">
                <a:solidFill>
                  <a:schemeClr val="dk1"/>
                </a:solidFill>
                <a:latin typeface="Nunito"/>
                <a:ea typeface="Nunito"/>
                <a:cs typeface="Nunito"/>
                <a:sym typeface="Nunito"/>
              </a:rPr>
              <a:t>: download data-splits → nohup mlflow ui --port 5000 → python train.py → git add / commit “[skip ci]” / push.</a:t>
            </a:r>
            <a:endParaRPr b="0" i="0" sz="1100" u="none" cap="none" strike="noStrike">
              <a:solidFill>
                <a:schemeClr val="dk1"/>
              </a:solidFill>
              <a:latin typeface="Nunito"/>
              <a:ea typeface="Nunito"/>
              <a:cs typeface="Nunito"/>
              <a:sym typeface="Nunito"/>
            </a:endParaRPr>
          </a:p>
          <a:p>
            <a:pPr indent="-330200" lvl="0" marL="457200" marR="0" rtl="0" algn="l">
              <a:lnSpc>
                <a:spcPct val="100000"/>
              </a:lnSpc>
              <a:spcBef>
                <a:spcPts val="200"/>
              </a:spcBef>
              <a:spcAft>
                <a:spcPts val="200"/>
              </a:spcAft>
              <a:buClr>
                <a:schemeClr val="dk1"/>
              </a:buClr>
              <a:buSzPts val="1100"/>
              <a:buFont typeface="Nunito"/>
              <a:buChar char="●"/>
            </a:pPr>
            <a:r>
              <a:rPr b="1" i="0" lang="en" sz="1100" u="none" cap="none" strike="noStrike">
                <a:solidFill>
                  <a:schemeClr val="dk1"/>
                </a:solidFill>
                <a:latin typeface="Nunito"/>
                <a:ea typeface="Nunito"/>
                <a:cs typeface="Nunito"/>
                <a:sym typeface="Nunito"/>
              </a:rPr>
              <a:t>Code updates</a:t>
            </a:r>
            <a:r>
              <a:rPr b="0" i="0" lang="en" sz="1100" u="none" cap="none" strike="noStrike">
                <a:solidFill>
                  <a:schemeClr val="dk1"/>
                </a:solidFill>
                <a:latin typeface="Nunito"/>
                <a:ea typeface="Nunito"/>
                <a:cs typeface="Nunito"/>
                <a:sym typeface="Nunito"/>
              </a:rPr>
              <a:t>: the notebook push cell commits tourism_project/, .github/ and .streamlit/ to main in one git push. That push starts the pipeline, so code and model stay in step.</a:t>
            </a:r>
            <a:endParaRPr b="0" i="0" sz="1100" u="none" cap="none" strike="noStrike">
              <a:solidFill>
                <a:schemeClr val="dk1"/>
              </a:solidFill>
              <a:latin typeface="Nunito"/>
              <a:ea typeface="Nunito"/>
              <a:cs typeface="Nunito"/>
              <a:sym typeface="Nunito"/>
            </a:endParaRPr>
          </a:p>
          <a:p>
            <a:pPr indent="-330200" lvl="0" marL="457200" marR="0" rtl="0" algn="l">
              <a:lnSpc>
                <a:spcPct val="100000"/>
              </a:lnSpc>
              <a:spcBef>
                <a:spcPts val="200"/>
              </a:spcBef>
              <a:spcAft>
                <a:spcPts val="200"/>
              </a:spcAft>
              <a:buClr>
                <a:schemeClr val="dk1"/>
              </a:buClr>
              <a:buSzPts val="1100"/>
              <a:buFont typeface="Nunito"/>
              <a:buChar char="●"/>
            </a:pPr>
            <a:r>
              <a:rPr b="1" i="0" lang="en" sz="1100" u="none" cap="none" strike="noStrike">
                <a:solidFill>
                  <a:schemeClr val="dk1"/>
                </a:solidFill>
                <a:latin typeface="Nunito"/>
                <a:ea typeface="Nunito"/>
                <a:cs typeface="Nunito"/>
                <a:sym typeface="Nunito"/>
              </a:rPr>
              <a:t>keepalive.yml</a:t>
            </a:r>
            <a:r>
              <a:rPr b="0" i="0" lang="en" sz="1100" u="none" cap="none" strike="noStrike">
                <a:solidFill>
                  <a:schemeClr val="dk1"/>
                </a:solidFill>
                <a:latin typeface="Nunito"/>
                <a:ea typeface="Nunito"/>
                <a:cs typeface="Nunito"/>
                <a:sym typeface="Nunito"/>
              </a:rPr>
              <a:t>: cron every 6 h opens both apps in headless Chromium and re-enables itself past GitHub's 60-day limit.</a:t>
            </a:r>
            <a:endParaRPr b="0" i="0" sz="1100" u="none" cap="none" strike="noStrike">
              <a:solidFill>
                <a:schemeClr val="dk1"/>
              </a:solidFill>
              <a:latin typeface="Nunito"/>
              <a:ea typeface="Nunito"/>
              <a:cs typeface="Nunito"/>
              <a:sym typeface="Nunito"/>
            </a:endParaRPr>
          </a:p>
        </p:txBody>
      </p:sp>
      <p:graphicFrame>
        <p:nvGraphicFramePr>
          <p:cNvPr id="178" name="Table 177"/>
          <p:cNvGraphicFramePr>
            <a:graphicFrameLocks noGrp="1"/>
          </p:cNvGraphicFramePr>
          <p:nvPr/>
        </p:nvGraphicFramePr>
        <p:xfrm>
          <a:off x="5120640" y="868680"/>
          <a:ext cx="3794760" cy="3223260"/>
        </p:xfrm>
        <a:graphic>
          <a:graphicData uri="http://schemas.openxmlformats.org/drawingml/2006/table">
            <a:tbl>
              <a:tblPr firstRow="1" bandRow="1">
                <a:tableStyleId>{5940675A-B579-460E-94D1-54222C63F5DA}</a:tableStyleId>
              </a:tblPr>
              <a:tblGrid>
                <a:gridCol w="2971800"/>
                <a:gridCol w="822960"/>
              </a:tblGrid>
              <a:tr h="214884">
                <a:tc>
                  <a:txBody>
                    <a:bodyPr wrap="square"/>
                    <a:lstStyle/>
                    <a:p>
                      <a:r>
                        <a:rPr sz="800" b="1">
                          <a:solidFill>
                            <a:srgbClr val="FFFFFF"/>
                          </a:solidFill>
                          <a:latin typeface="Nunito"/>
                        </a:rPr>
                        <a:t>Job · step</a:t>
                      </a:r>
                    </a:p>
                  </a:txBody>
                  <a:tcPr marL="54864" marR="54864" marT="18288" marB="18288" anchor="ctr">
                    <a:solidFill>
                      <a:srgbClr val="0B3FBF"/>
                    </a:solidFill>
                  </a:tcPr>
                </a:tc>
                <a:tc>
                  <a:txBody>
                    <a:bodyPr wrap="square"/>
                    <a:lstStyle/>
                    <a:p>
                      <a:r>
                        <a:rPr sz="800" b="1">
                          <a:solidFill>
                            <a:srgbClr val="FFFFFF"/>
                          </a:solidFill>
                          <a:latin typeface="Nunito"/>
                        </a:rPr>
                        <a:t>Result</a:t>
                      </a:r>
                    </a:p>
                  </a:txBody>
                  <a:tcPr marL="54864" marR="54864" marT="18288" marB="18288" anchor="ctr">
                    <a:solidFill>
                      <a:srgbClr val="0B3FBF"/>
                    </a:solidFill>
                  </a:tcPr>
                </a:tc>
              </a:tr>
              <a:tr h="214884">
                <a:tc>
                  <a:txBody>
                    <a:bodyPr wrap="square"/>
                    <a:lstStyle/>
                    <a:p>
                      <a:r>
                        <a:rPr sz="800">
                          <a:solidFill>
                            <a:srgbClr val="000000"/>
                          </a:solidFill>
                          <a:latin typeface="Nunito"/>
                        </a:rPr>
                        <a:t>register-dataset (0m 48s)</a:t>
                      </a:r>
                    </a:p>
                  </a:txBody>
                  <a:tcPr marL="54864" marR="54864" marT="18288" marB="18288" anchor="ctr">
                    <a:solidFill>
                      <a:srgbClr val="FFFFFF"/>
                    </a:solidFill>
                  </a:tcPr>
                </a:tc>
                <a:tc>
                  <a:txBody>
                    <a:bodyPr wrap="square"/>
                    <a:lstStyle/>
                    <a:p>
                      <a:r>
                        <a:rPr sz="800">
                          <a:solidFill>
                            <a:srgbClr val="000000"/>
                          </a:solidFill>
                          <a:latin typeface="Nunito"/>
                        </a:rPr>
                        <a:t>✔ success</a:t>
                      </a:r>
                    </a:p>
                  </a:txBody>
                  <a:tcPr marL="54864" marR="54864" marT="18288" marB="18288" anchor="ctr">
                    <a:solidFill>
                      <a:srgbClr val="FFFFFF"/>
                    </a:solidFill>
                  </a:tcPr>
                </a:tc>
              </a:tr>
              <a:tr h="214884">
                <a:tc>
                  <a:txBody>
                    <a:bodyPr wrap="square"/>
                    <a:lstStyle/>
                    <a:p>
                      <a:r>
                        <a:rPr sz="800">
                          <a:solidFill>
                            <a:srgbClr val="000000"/>
                          </a:solidFill>
                          <a:latin typeface="Nunito"/>
                        </a:rPr>
                        <a:t>   Install Dependencies</a:t>
                      </a:r>
                    </a:p>
                  </a:txBody>
                  <a:tcPr marL="54864" marR="54864" marT="18288" marB="18288" anchor="ctr">
                    <a:solidFill>
                      <a:srgbClr val="E8EEFB"/>
                    </a:solidFill>
                  </a:tcPr>
                </a:tc>
                <a:tc>
                  <a:txBody>
                    <a:bodyPr wrap="square"/>
                    <a:lstStyle/>
                    <a:p>
                      <a:r>
                        <a:rPr sz="800">
                          <a:solidFill>
                            <a:srgbClr val="000000"/>
                          </a:solidFill>
                          <a:latin typeface="Nunito"/>
                        </a:rPr>
                        <a:t>✔</a:t>
                      </a:r>
                    </a:p>
                  </a:txBody>
                  <a:tcPr marL="54864" marR="54864" marT="18288" marB="18288" anchor="ctr">
                    <a:solidFill>
                      <a:srgbClr val="E8EEFB"/>
                    </a:solidFill>
                  </a:tcPr>
                </a:tc>
              </a:tr>
              <a:tr h="214884">
                <a:tc>
                  <a:txBody>
                    <a:bodyPr wrap="square"/>
                    <a:lstStyle/>
                    <a:p>
                      <a:r>
                        <a:rPr sz="800">
                          <a:solidFill>
                            <a:srgbClr val="000000"/>
                          </a:solidFill>
                          <a:latin typeface="Nunito"/>
                        </a:rPr>
                        <a:t>   Register Dataset</a:t>
                      </a:r>
                    </a:p>
                  </a:txBody>
                  <a:tcPr marL="54864" marR="54864" marT="18288" marB="18288" anchor="ctr">
                    <a:solidFill>
                      <a:srgbClr val="FFFFFF"/>
                    </a:solidFill>
                  </a:tcPr>
                </a:tc>
                <a:tc>
                  <a:txBody>
                    <a:bodyPr wrap="square"/>
                    <a:lstStyle/>
                    <a:p>
                      <a:r>
                        <a:rPr sz="800">
                          <a:solidFill>
                            <a:srgbClr val="000000"/>
                          </a:solidFill>
                          <a:latin typeface="Nunito"/>
                        </a:rPr>
                        <a:t>✔</a:t>
                      </a:r>
                    </a:p>
                  </a:txBody>
                  <a:tcPr marL="54864" marR="54864" marT="18288" marB="18288" anchor="ctr">
                    <a:solidFill>
                      <a:srgbClr val="FFFFFF"/>
                    </a:solidFill>
                  </a:tcPr>
                </a:tc>
              </a:tr>
              <a:tr h="214884">
                <a:tc>
                  <a:txBody>
                    <a:bodyPr wrap="square"/>
                    <a:lstStyle/>
                    <a:p>
                      <a:r>
                        <a:rPr sz="800">
                          <a:solidFill>
                            <a:srgbClr val="000000"/>
                          </a:solidFill>
                          <a:latin typeface="Nunito"/>
                        </a:rPr>
                        <a:t>   Upload Registered Dataset</a:t>
                      </a:r>
                    </a:p>
                  </a:txBody>
                  <a:tcPr marL="54864" marR="54864" marT="18288" marB="18288" anchor="ctr">
                    <a:solidFill>
                      <a:srgbClr val="E8EEFB"/>
                    </a:solidFill>
                  </a:tcPr>
                </a:tc>
                <a:tc>
                  <a:txBody>
                    <a:bodyPr wrap="square"/>
                    <a:lstStyle/>
                    <a:p>
                      <a:r>
                        <a:rPr sz="800">
                          <a:solidFill>
                            <a:srgbClr val="000000"/>
                          </a:solidFill>
                          <a:latin typeface="Nunito"/>
                        </a:rPr>
                        <a:t>✔</a:t>
                      </a:r>
                    </a:p>
                  </a:txBody>
                  <a:tcPr marL="54864" marR="54864" marT="18288" marB="18288" anchor="ctr">
                    <a:solidFill>
                      <a:srgbClr val="E8EEFB"/>
                    </a:solidFill>
                  </a:tcPr>
                </a:tc>
              </a:tr>
              <a:tr h="214884">
                <a:tc>
                  <a:txBody>
                    <a:bodyPr wrap="square"/>
                    <a:lstStyle/>
                    <a:p>
                      <a:r>
                        <a:rPr sz="800">
                          <a:solidFill>
                            <a:srgbClr val="000000"/>
                          </a:solidFill>
                          <a:latin typeface="Nunito"/>
                        </a:rPr>
                        <a:t>data-prep (0m 51s)</a:t>
                      </a:r>
                    </a:p>
                  </a:txBody>
                  <a:tcPr marL="54864" marR="54864" marT="18288" marB="18288" anchor="ctr">
                    <a:solidFill>
                      <a:srgbClr val="FFFFFF"/>
                    </a:solidFill>
                  </a:tcPr>
                </a:tc>
                <a:tc>
                  <a:txBody>
                    <a:bodyPr wrap="square"/>
                    <a:lstStyle/>
                    <a:p>
                      <a:r>
                        <a:rPr sz="800">
                          <a:solidFill>
                            <a:srgbClr val="000000"/>
                          </a:solidFill>
                          <a:latin typeface="Nunito"/>
                        </a:rPr>
                        <a:t>✔ success</a:t>
                      </a:r>
                    </a:p>
                  </a:txBody>
                  <a:tcPr marL="54864" marR="54864" marT="18288" marB="18288" anchor="ctr">
                    <a:solidFill>
                      <a:srgbClr val="FFFFFF"/>
                    </a:solidFill>
                  </a:tcPr>
                </a:tc>
              </a:tr>
              <a:tr h="214884">
                <a:tc>
                  <a:txBody>
                    <a:bodyPr wrap="square"/>
                    <a:lstStyle/>
                    <a:p>
                      <a:r>
                        <a:rPr sz="800">
                          <a:solidFill>
                            <a:srgbClr val="000000"/>
                          </a:solidFill>
                          <a:latin typeface="Nunito"/>
                        </a:rPr>
                        <a:t>   Install Dependencies</a:t>
                      </a:r>
                    </a:p>
                  </a:txBody>
                  <a:tcPr marL="54864" marR="54864" marT="18288" marB="18288" anchor="ctr">
                    <a:solidFill>
                      <a:srgbClr val="E8EEFB"/>
                    </a:solidFill>
                  </a:tcPr>
                </a:tc>
                <a:tc>
                  <a:txBody>
                    <a:bodyPr wrap="square"/>
                    <a:lstStyle/>
                    <a:p>
                      <a:r>
                        <a:rPr sz="800">
                          <a:solidFill>
                            <a:srgbClr val="000000"/>
                          </a:solidFill>
                          <a:latin typeface="Nunito"/>
                        </a:rPr>
                        <a:t>✔</a:t>
                      </a:r>
                    </a:p>
                  </a:txBody>
                  <a:tcPr marL="54864" marR="54864" marT="18288" marB="18288" anchor="ctr">
                    <a:solidFill>
                      <a:srgbClr val="E8EEFB"/>
                    </a:solidFill>
                  </a:tcPr>
                </a:tc>
              </a:tr>
              <a:tr h="214884">
                <a:tc>
                  <a:txBody>
                    <a:bodyPr wrap="square"/>
                    <a:lstStyle/>
                    <a:p>
                      <a:r>
                        <a:rPr sz="800">
                          <a:solidFill>
                            <a:srgbClr val="000000"/>
                          </a:solidFill>
                          <a:latin typeface="Nunito"/>
                        </a:rPr>
                        <a:t>   Run Data Preparation</a:t>
                      </a:r>
                    </a:p>
                  </a:txBody>
                  <a:tcPr marL="54864" marR="54864" marT="18288" marB="18288" anchor="ctr">
                    <a:solidFill>
                      <a:srgbClr val="FFFFFF"/>
                    </a:solidFill>
                  </a:tcPr>
                </a:tc>
                <a:tc>
                  <a:txBody>
                    <a:bodyPr wrap="square"/>
                    <a:lstStyle/>
                    <a:p>
                      <a:r>
                        <a:rPr sz="800">
                          <a:solidFill>
                            <a:srgbClr val="000000"/>
                          </a:solidFill>
                          <a:latin typeface="Nunito"/>
                        </a:rPr>
                        <a:t>✔</a:t>
                      </a:r>
                    </a:p>
                  </a:txBody>
                  <a:tcPr marL="54864" marR="54864" marT="18288" marB="18288" anchor="ctr">
                    <a:solidFill>
                      <a:srgbClr val="FFFFFF"/>
                    </a:solidFill>
                  </a:tcPr>
                </a:tc>
              </a:tr>
              <a:tr h="214884">
                <a:tc>
                  <a:txBody>
                    <a:bodyPr wrap="square"/>
                    <a:lstStyle/>
                    <a:p>
                      <a:r>
                        <a:rPr sz="800">
                          <a:solidFill>
                            <a:srgbClr val="000000"/>
                          </a:solidFill>
                          <a:latin typeface="Nunito"/>
                        </a:rPr>
                        <a:t>   Upload Train Test Splits</a:t>
                      </a:r>
                    </a:p>
                  </a:txBody>
                  <a:tcPr marL="54864" marR="54864" marT="18288" marB="18288" anchor="ctr">
                    <a:solidFill>
                      <a:srgbClr val="E8EEFB"/>
                    </a:solidFill>
                  </a:tcPr>
                </a:tc>
                <a:tc>
                  <a:txBody>
                    <a:bodyPr wrap="square"/>
                    <a:lstStyle/>
                    <a:p>
                      <a:r>
                        <a:rPr sz="800">
                          <a:solidFill>
                            <a:srgbClr val="000000"/>
                          </a:solidFill>
                          <a:latin typeface="Nunito"/>
                        </a:rPr>
                        <a:t>✔</a:t>
                      </a:r>
                    </a:p>
                  </a:txBody>
                  <a:tcPr marL="54864" marR="54864" marT="18288" marB="18288" anchor="ctr">
                    <a:solidFill>
                      <a:srgbClr val="E8EEFB"/>
                    </a:solidFill>
                  </a:tcPr>
                </a:tc>
              </a:tr>
              <a:tr h="214884">
                <a:tc>
                  <a:txBody>
                    <a:bodyPr wrap="square"/>
                    <a:lstStyle/>
                    <a:p>
                      <a:r>
                        <a:rPr sz="800">
                          <a:solidFill>
                            <a:srgbClr val="000000"/>
                          </a:solidFill>
                          <a:latin typeface="Nunito"/>
                        </a:rPr>
                        <a:t>model-traning (1m 17s)</a:t>
                      </a:r>
                    </a:p>
                  </a:txBody>
                  <a:tcPr marL="54864" marR="54864" marT="18288" marB="18288" anchor="ctr">
                    <a:solidFill>
                      <a:srgbClr val="FFFFFF"/>
                    </a:solidFill>
                  </a:tcPr>
                </a:tc>
                <a:tc>
                  <a:txBody>
                    <a:bodyPr wrap="square"/>
                    <a:lstStyle/>
                    <a:p>
                      <a:r>
                        <a:rPr sz="800">
                          <a:solidFill>
                            <a:srgbClr val="000000"/>
                          </a:solidFill>
                          <a:latin typeface="Nunito"/>
                        </a:rPr>
                        <a:t>✔ success</a:t>
                      </a:r>
                    </a:p>
                  </a:txBody>
                  <a:tcPr marL="54864" marR="54864" marT="18288" marB="18288" anchor="ctr">
                    <a:solidFill>
                      <a:srgbClr val="FFFFFF"/>
                    </a:solidFill>
                  </a:tcPr>
                </a:tc>
              </a:tr>
              <a:tr h="214884">
                <a:tc>
                  <a:txBody>
                    <a:bodyPr wrap="square"/>
                    <a:lstStyle/>
                    <a:p>
                      <a:r>
                        <a:rPr sz="800">
                          <a:solidFill>
                            <a:srgbClr val="000000"/>
                          </a:solidFill>
                          <a:latin typeface="Nunito"/>
                        </a:rPr>
                        <a:t>   Install Dependencies</a:t>
                      </a:r>
                    </a:p>
                  </a:txBody>
                  <a:tcPr marL="54864" marR="54864" marT="18288" marB="18288" anchor="ctr">
                    <a:solidFill>
                      <a:srgbClr val="E8EEFB"/>
                    </a:solidFill>
                  </a:tcPr>
                </a:tc>
                <a:tc>
                  <a:txBody>
                    <a:bodyPr wrap="square"/>
                    <a:lstStyle/>
                    <a:p>
                      <a:r>
                        <a:rPr sz="800">
                          <a:solidFill>
                            <a:srgbClr val="000000"/>
                          </a:solidFill>
                          <a:latin typeface="Nunito"/>
                        </a:rPr>
                        <a:t>✔</a:t>
                      </a:r>
                    </a:p>
                  </a:txBody>
                  <a:tcPr marL="54864" marR="54864" marT="18288" marB="18288" anchor="ctr">
                    <a:solidFill>
                      <a:srgbClr val="E8EEFB"/>
                    </a:solidFill>
                  </a:tcPr>
                </a:tc>
              </a:tr>
              <a:tr h="214884">
                <a:tc>
                  <a:txBody>
                    <a:bodyPr wrap="square"/>
                    <a:lstStyle/>
                    <a:p>
                      <a:r>
                        <a:rPr sz="800">
                          <a:solidFill>
                            <a:srgbClr val="000000"/>
                          </a:solidFill>
                          <a:latin typeface="Nunito"/>
                        </a:rPr>
                        <a:t>   Download Train Test Splits</a:t>
                      </a:r>
                    </a:p>
                  </a:txBody>
                  <a:tcPr marL="54864" marR="54864" marT="18288" marB="18288" anchor="ctr">
                    <a:solidFill>
                      <a:srgbClr val="FFFFFF"/>
                    </a:solidFill>
                  </a:tcPr>
                </a:tc>
                <a:tc>
                  <a:txBody>
                    <a:bodyPr wrap="square"/>
                    <a:lstStyle/>
                    <a:p>
                      <a:r>
                        <a:rPr sz="800">
                          <a:solidFill>
                            <a:srgbClr val="000000"/>
                          </a:solidFill>
                          <a:latin typeface="Nunito"/>
                        </a:rPr>
                        <a:t>✔</a:t>
                      </a:r>
                    </a:p>
                  </a:txBody>
                  <a:tcPr marL="54864" marR="54864" marT="18288" marB="18288" anchor="ctr">
                    <a:solidFill>
                      <a:srgbClr val="FFFFFF"/>
                    </a:solidFill>
                  </a:tcPr>
                </a:tc>
              </a:tr>
              <a:tr h="214884">
                <a:tc>
                  <a:txBody>
                    <a:bodyPr wrap="square"/>
                    <a:lstStyle/>
                    <a:p>
                      <a:r>
                        <a:rPr sz="800">
                          <a:solidFill>
                            <a:srgbClr val="000000"/>
                          </a:solidFill>
                          <a:latin typeface="Nunito"/>
                        </a:rPr>
                        <a:t>   Start MLflow Server</a:t>
                      </a:r>
                    </a:p>
                  </a:txBody>
                  <a:tcPr marL="54864" marR="54864" marT="18288" marB="18288" anchor="ctr">
                    <a:solidFill>
                      <a:srgbClr val="E8EEFB"/>
                    </a:solidFill>
                  </a:tcPr>
                </a:tc>
                <a:tc>
                  <a:txBody>
                    <a:bodyPr wrap="square"/>
                    <a:lstStyle/>
                    <a:p>
                      <a:r>
                        <a:rPr sz="800">
                          <a:solidFill>
                            <a:srgbClr val="000000"/>
                          </a:solidFill>
                          <a:latin typeface="Nunito"/>
                        </a:rPr>
                        <a:t>✔</a:t>
                      </a:r>
                    </a:p>
                  </a:txBody>
                  <a:tcPr marL="54864" marR="54864" marT="18288" marB="18288" anchor="ctr">
                    <a:solidFill>
                      <a:srgbClr val="E8EEFB"/>
                    </a:solidFill>
                  </a:tcPr>
                </a:tc>
              </a:tr>
              <a:tr h="214884">
                <a:tc>
                  <a:txBody>
                    <a:bodyPr wrap="square"/>
                    <a:lstStyle/>
                    <a:p>
                      <a:r>
                        <a:rPr sz="800">
                          <a:solidFill>
                            <a:srgbClr val="000000"/>
                          </a:solidFill>
                          <a:latin typeface="Nunito"/>
                        </a:rPr>
                        <a:t>   Model Building</a:t>
                      </a:r>
                    </a:p>
                  </a:txBody>
                  <a:tcPr marL="54864" marR="54864" marT="18288" marB="18288" anchor="ctr">
                    <a:solidFill>
                      <a:srgbClr val="FFFFFF"/>
                    </a:solidFill>
                  </a:tcPr>
                </a:tc>
                <a:tc>
                  <a:txBody>
                    <a:bodyPr wrap="square"/>
                    <a:lstStyle/>
                    <a:p>
                      <a:r>
                        <a:rPr sz="800">
                          <a:solidFill>
                            <a:srgbClr val="000000"/>
                          </a:solidFill>
                          <a:latin typeface="Nunito"/>
                        </a:rPr>
                        <a:t>✔</a:t>
                      </a:r>
                    </a:p>
                  </a:txBody>
                  <a:tcPr marL="54864" marR="54864" marT="18288" marB="18288" anchor="ctr">
                    <a:solidFill>
                      <a:srgbClr val="FFFFFF"/>
                    </a:solidFill>
                  </a:tcPr>
                </a:tc>
              </a:tr>
              <a:tr h="214884">
                <a:tc>
                  <a:txBody>
                    <a:bodyPr wrap="square"/>
                    <a:lstStyle/>
                    <a:p>
                      <a:r>
                        <a:rPr sz="800">
                          <a:solidFill>
                            <a:srgbClr val="000000"/>
                          </a:solidFill>
                          <a:latin typeface="Nunito"/>
                        </a:rPr>
                        <a:t>   Commit Trained Model</a:t>
                      </a:r>
                    </a:p>
                  </a:txBody>
                  <a:tcPr marL="54864" marR="54864" marT="18288" marB="18288" anchor="ctr">
                    <a:solidFill>
                      <a:srgbClr val="E8EEFB"/>
                    </a:solidFill>
                  </a:tcPr>
                </a:tc>
                <a:tc>
                  <a:txBody>
                    <a:bodyPr wrap="square"/>
                    <a:lstStyle/>
                    <a:p>
                      <a:r>
                        <a:rPr sz="800">
                          <a:solidFill>
                            <a:srgbClr val="000000"/>
                          </a:solidFill>
                          <a:latin typeface="Nunito"/>
                        </a:rPr>
                        <a:t>✔</a:t>
                      </a:r>
                    </a:p>
                  </a:txBody>
                  <a:tcPr marL="54864" marR="54864" marT="18288" marB="18288" anchor="ctr">
                    <a:solidFill>
                      <a:srgbClr val="E8EEFB"/>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7"/>
          <p:cNvSpPr txBox="1"/>
          <p:nvPr>
            <p:ph type="title"/>
          </p:nvPr>
        </p:nvSpPr>
        <p:spPr>
          <a:xfrm>
            <a:off x="70129" y="6703219"/>
            <a:ext cx="15008700" cy="697800"/>
          </a:xfrm>
          <a:prstGeom prst="rect">
            <a:avLst/>
          </a:prstGeom>
          <a:noFill/>
          <a:ln>
            <a:noFill/>
          </a:ln>
        </p:spPr>
        <p:txBody>
          <a:bodyPr anchorCtr="0" anchor="t" bIns="0" lIns="0" spcFirstLastPara="1" rIns="0" wrap="square" tIns="12850">
            <a:noAutofit/>
          </a:bodyPr>
          <a:lstStyle/>
          <a:p>
            <a:pPr indent="0" lvl="0" marL="0" rtl="0" algn="l">
              <a:lnSpc>
                <a:spcPct val="100000"/>
              </a:lnSpc>
              <a:spcBef>
                <a:spcPts val="0"/>
              </a:spcBef>
              <a:spcAft>
                <a:spcPts val="0"/>
              </a:spcAft>
              <a:buSzPts val="2200"/>
              <a:buNone/>
            </a:pPr>
            <a:r>
              <a:t/>
            </a:r>
            <a:endParaRPr/>
          </a:p>
        </p:txBody>
      </p:sp>
      <p:sp>
        <p:nvSpPr>
          <p:cNvPr id="185" name="Google Shape;185;p37"/>
          <p:cNvSpPr txBox="1"/>
          <p:nvPr>
            <p:ph idx="4294967295"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800"/>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Just Lo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